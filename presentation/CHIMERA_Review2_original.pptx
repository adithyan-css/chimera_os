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naming the OS connection: this is resource scheduling and allocation under actuation delay. Kubernetes decides how many pods and how much CPU each gets — a classic OS resource-management problem, just at cluster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Twelve sections. The core contribution is in sections 2 and 3; the evidence is in 6 and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200× number is the whole motivation. Vertical is fast but capped by node size; horizontal is unbounded but slow. Neither alone is enough, and running both naively is worse than either.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stages running in a loop every fifteen seconds: we predict the load, decide how much CPU and how many pods, and act. The important arrow is the amber one. Pods take twenty seconds to start; this arrow feeds pending orders back into the controller so it knows capacity is on the way and doesn't order more. That's the part that's new.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why LQR and not MPC: MPC solves a quadratic program every tick. We solve the Riccati equation once and get a fixed gain matrix, which is orders of magnitude cheaper per control step. In the demo, all eigenvalues of P are positive — that is what makes the Lyapunov stability argument valid.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the five real traces are 100-minute excerpts. Say it before the examiner finds it — converting the full 10,000-workload dataset is our next step; the script is written, we just haven't run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exists because the first thing a good examiner asks is whether the comparison is rigged. Answer it before they 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 by subsystem rather than listing twelve items flat. If asked which module was hardest: module 6, the delay augmentation, because getting the state-space wiring to match the simulated plant took several iterations.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straight about module 12 — the operator is written and containerised but has never touched a live cluster. That is the honest state and it is the next milestone.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claim a clean win. AAPA beats us on violations by 1.1 points only because it buys 272 pod-minutes against our 147. The dashed points show what a 1.5-core head-start is worth — about 9 points for free.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two results are paired t-test significant at p = 0.0001 and below, with very large effect sizes. This is the strongest claim in the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Volunteering the two negative results is the right move — it shows the ablation is a real experiment and not a formality. Both are scheduled for rework.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three rows are systems we measured; the rest are related work we did not run. Their purpose is to show we know the field and exactly how we differ. The patents rows keep our contribution clear of prior art: neither drives both axes from a control law.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separates a project that ran experiments from one that verified them. If asked how we found the headroom confound: CHIMERA was losing to HPA by a suspiciously large margin, so we read the baseline config rather than accepting the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explicit that the operator has not run against a live cluster yet. The CRD and RBAC are real and reviewable; the telemetry is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real outputs from the project source. Do not say we use half the resources: pod-minutes count pods, not CPU, and our pods are bigger. In CPU we use about 12% more. The correct claim: about the same CPU, less than half the pods, 4.8 points better — and every pod avoided is a 20-second cold start avoided.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examiner spots identical HPA and HPA+VPA rows: we found that ourselves — the vertical loop never fires in that configuration because per-pod CPU stays below the minimum we allow, so that row is currently plain HPA. It is on our fix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why the demo and not the whole project: the demo runs the same code as our full evaluation — it's one workload out of the 720 runs. It finishes in three seconds so you can watch it; the full sweep takes several minutes, only prints a progress log, and would overwrite the saved results our report is built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Naming your own limitations before the panel does is the difference between a defensive review and a confident one. Every item on the left has a matching item on the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the full citations for AAPA and KOSMOS here as they appear in the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Likely questions: why LQR over MPC (cost per tick); why 12.9% still fail on the demo trace (70% utilisation target puts mean latency right at the 500 ms limit — same target as HPA, where we are 4.8 points better); has it run on a real cluster (no — the reader of live traffic still returns test numbers; that is the next milestone).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23A"/>
        </a:solidFill>
      </p:bgPr>
    </p:bg>
    <p:spTree>
      <p:nvGrpSpPr>
        <p:cNvPr id="1" name=""/>
        <p:cNvGrpSpPr/>
        <p:nvPr/>
      </p:nvGrpSpPr>
      <p:grpSpPr>
        <a:xfrm>
          <a:off x="0" y="0"/>
          <a:ext cx="0" cy="0"/>
          <a:chOff x="0" y="0"/>
          <a:chExt cx="0" cy="0"/>
        </a:xfrm>
      </p:grpSpPr>
      <p:sp>
        <p:nvSpPr>
          <p:cNvPr id="2" name="Text 0"/>
          <p:cNvSpPr txBox="1"/>
          <p:nvPr/>
        </p:nvSpPr>
        <p:spPr>
          <a:xfrm>
            <a:off x="731520" y="548640"/>
            <a:ext cx="8229600" cy="320040"/>
          </a:xfrm>
          <a:prstGeom prst="rect">
            <a:avLst/>
          </a:prstGeom>
          <a:noFill/>
          <a:ln/>
        </p:spPr>
        <p:txBody>
          <a:bodyPr wrap="square" lIns="0" tIns="0" rIns="0" bIns="0" rtlCol="0" anchor="t"/>
          <a:lstStyle/>
          <a:p>
            <a:pPr indent="0" marL="0">
              <a:buNone/>
            </a:pPr>
            <a:r>
              <a:rPr lang="en-US" sz="1300" b="1" spc="300" kern="0" dirty="0">
                <a:solidFill>
                  <a:srgbClr val="E3A646"/>
                </a:solidFill>
                <a:latin typeface="Calibri" pitchFamily="34" charset="0"/>
                <a:ea typeface="Calibri" pitchFamily="34" charset="-122"/>
                <a:cs typeface="Calibri" pitchFamily="34" charset="-120"/>
              </a:rPr>
              <a:t>VELLORE INSTITUTE OF TECHNOLOGY, VELLORE</a:t>
            </a:r>
            <a:endParaRPr lang="en-US" sz="1300" dirty="0"/>
          </a:p>
        </p:txBody>
      </p:sp>
      <p:sp>
        <p:nvSpPr>
          <p:cNvPr id="3" name="Text 1"/>
          <p:cNvSpPr txBox="1"/>
          <p:nvPr/>
        </p:nvSpPr>
        <p:spPr>
          <a:xfrm>
            <a:off x="731520" y="896112"/>
            <a:ext cx="8229600" cy="274320"/>
          </a:xfrm>
          <a:prstGeom prst="rect">
            <a:avLst/>
          </a:prstGeom>
          <a:noFill/>
          <a:ln/>
        </p:spPr>
        <p:txBody>
          <a:bodyPr wrap="square" lIns="0" tIns="0" rIns="0" bIns="0" rtlCol="0" anchor="t"/>
          <a:lstStyle/>
          <a:p>
            <a:pPr indent="0" marL="0">
              <a:buNone/>
            </a:pPr>
            <a:r>
              <a:rPr lang="en-US" sz="1300" dirty="0">
                <a:solidFill>
                  <a:srgbClr val="CADCFC"/>
                </a:solidFill>
                <a:latin typeface="Calibri" pitchFamily="34" charset="0"/>
                <a:ea typeface="Calibri" pitchFamily="34" charset="-122"/>
                <a:cs typeface="Calibri" pitchFamily="34" charset="-120"/>
              </a:rPr>
              <a:t>School of Computer Science and Engineering (SCOPE)</a:t>
            </a:r>
            <a:endParaRPr lang="en-US" sz="1300" dirty="0"/>
          </a:p>
        </p:txBody>
      </p:sp>
      <p:sp>
        <p:nvSpPr>
          <p:cNvPr id="4" name="Text 2"/>
          <p:cNvSpPr txBox="1"/>
          <p:nvPr/>
        </p:nvSpPr>
        <p:spPr>
          <a:xfrm>
            <a:off x="731520" y="1874520"/>
            <a:ext cx="10058400" cy="320040"/>
          </a:xfrm>
          <a:prstGeom prst="rect">
            <a:avLst/>
          </a:prstGeom>
          <a:noFill/>
          <a:ln/>
        </p:spPr>
        <p:txBody>
          <a:bodyPr wrap="square" lIns="0" tIns="0" rIns="0" bIns="0" rtlCol="0" anchor="t"/>
          <a:lstStyle/>
          <a:p>
            <a:pPr indent="0" marL="0">
              <a:buNone/>
            </a:pPr>
            <a:r>
              <a:rPr lang="en-US" sz="1500" dirty="0">
                <a:solidFill>
                  <a:srgbClr val="AFC0D8"/>
                </a:solidFill>
                <a:latin typeface="Calibri" pitchFamily="34" charset="0"/>
                <a:ea typeface="Calibri" pitchFamily="34" charset="-122"/>
                <a:cs typeface="Calibri" pitchFamily="34" charset="-120"/>
              </a:rPr>
              <a:t>BCSE303P  ·  Operating Systems Laboratory  ·  Project Review 2</a:t>
            </a:r>
            <a:endParaRPr lang="en-US" sz="1500" dirty="0"/>
          </a:p>
        </p:txBody>
      </p:sp>
      <p:sp>
        <p:nvSpPr>
          <p:cNvPr id="5" name="Text 3"/>
          <p:cNvSpPr txBox="1"/>
          <p:nvPr/>
        </p:nvSpPr>
        <p:spPr>
          <a:xfrm>
            <a:off x="731520" y="2240280"/>
            <a:ext cx="10058400" cy="1005840"/>
          </a:xfrm>
          <a:prstGeom prst="rect">
            <a:avLst/>
          </a:prstGeom>
          <a:noFill/>
          <a:ln/>
        </p:spPr>
        <p:txBody>
          <a:bodyPr wrap="square" lIns="0" tIns="0" rIns="0" bIns="0" rtlCol="0" anchor="t"/>
          <a:lstStyle/>
          <a:p>
            <a:pPr indent="0" marL="0">
              <a:buNone/>
            </a:pPr>
            <a:r>
              <a:rPr lang="en-US" sz="6000" b="1" spc="400" kern="0" dirty="0">
                <a:solidFill>
                  <a:srgbClr val="FFFFFF"/>
                </a:solidFill>
                <a:latin typeface="Cambria" pitchFamily="34" charset="0"/>
                <a:ea typeface="Cambria" pitchFamily="34" charset="-122"/>
                <a:cs typeface="Cambria" pitchFamily="34" charset="-120"/>
              </a:rPr>
              <a:t>CHIMERA</a:t>
            </a:r>
            <a:endParaRPr lang="en-US" sz="6000" dirty="0"/>
          </a:p>
        </p:txBody>
      </p:sp>
      <p:sp>
        <p:nvSpPr>
          <p:cNvPr id="6" name="Text 4"/>
          <p:cNvSpPr txBox="1"/>
          <p:nvPr/>
        </p:nvSpPr>
        <p:spPr>
          <a:xfrm>
            <a:off x="731520" y="3246120"/>
            <a:ext cx="10515600" cy="457200"/>
          </a:xfrm>
          <a:prstGeom prst="rect">
            <a:avLst/>
          </a:prstGeom>
          <a:noFill/>
          <a:ln/>
        </p:spPr>
        <p:txBody>
          <a:bodyPr wrap="square" lIns="0" tIns="0" rIns="0" bIns="0" rtlCol="0" anchor="t"/>
          <a:lstStyle/>
          <a:p>
            <a:pPr indent="0" marL="0">
              <a:buNone/>
            </a:pPr>
            <a:r>
              <a:rPr lang="en-US" sz="2400" dirty="0">
                <a:solidFill>
                  <a:srgbClr val="CADCFC"/>
                </a:solidFill>
                <a:latin typeface="Cambria" pitchFamily="34" charset="0"/>
                <a:ea typeface="Cambria" pitchFamily="34" charset="-122"/>
                <a:cs typeface="Cambria" pitchFamily="34" charset="-120"/>
              </a:rPr>
              <a:t>Delay-Aware Predictive Coupled Autoscaling for Kubernetes</a:t>
            </a:r>
            <a:endParaRPr lang="en-US" sz="2400" dirty="0"/>
          </a:p>
        </p:txBody>
      </p:sp>
      <p:sp>
        <p:nvSpPr>
          <p:cNvPr id="7" name="Text 5"/>
          <p:cNvSpPr txBox="1"/>
          <p:nvPr/>
        </p:nvSpPr>
        <p:spPr>
          <a:xfrm>
            <a:off x="731520" y="3794760"/>
            <a:ext cx="9601200" cy="365760"/>
          </a:xfrm>
          <a:prstGeom prst="rect">
            <a:avLst/>
          </a:prstGeom>
          <a:noFill/>
          <a:ln/>
        </p:spPr>
        <p:txBody>
          <a:bodyPr wrap="square" lIns="0" tIns="0" rIns="0" bIns="0" rtlCol="0" anchor="t"/>
          <a:lstStyle/>
          <a:p>
            <a:pPr indent="0" marL="0">
              <a:buNone/>
            </a:pPr>
            <a:r>
              <a:rPr lang="en-US" sz="1500" dirty="0">
                <a:solidFill>
                  <a:srgbClr val="AFC0D8"/>
                </a:solidFill>
                <a:latin typeface="Calibri" pitchFamily="34" charset="0"/>
                <a:ea typeface="Calibri" pitchFamily="34" charset="-122"/>
                <a:cs typeface="Calibri" pitchFamily="34" charset="-120"/>
              </a:rPr>
              <a:t>A joint horizontal + vertical pod autoscaler that treats resource scaling as a delay-aware optimal control problem.</a:t>
            </a:r>
            <a:endParaRPr lang="en-US" sz="1500" dirty="0"/>
          </a:p>
        </p:txBody>
      </p:sp>
      <p:sp>
        <p:nvSpPr>
          <p:cNvPr id="8" name="Shape 6"/>
          <p:cNvSpPr/>
          <p:nvPr/>
        </p:nvSpPr>
        <p:spPr>
          <a:xfrm>
            <a:off x="731520" y="4754880"/>
            <a:ext cx="10725912" cy="0"/>
          </a:xfrm>
          <a:prstGeom prst="line">
            <a:avLst/>
          </a:prstGeom>
          <a:noFill/>
          <a:ln w="12700">
            <a:solidFill>
              <a:srgbClr val="2E4263"/>
            </a:solidFill>
            <a:prstDash val="solid"/>
          </a:ln>
        </p:spPr>
      </p:sp>
      <p:sp>
        <p:nvSpPr>
          <p:cNvPr id="9" name="Text 7"/>
          <p:cNvSpPr txBox="1"/>
          <p:nvPr/>
        </p:nvSpPr>
        <p:spPr>
          <a:xfrm>
            <a:off x="731520" y="4983480"/>
            <a:ext cx="3657600" cy="228600"/>
          </a:xfrm>
          <a:prstGeom prst="rect">
            <a:avLst/>
          </a:prstGeom>
          <a:noFill/>
          <a:ln/>
        </p:spPr>
        <p:txBody>
          <a:bodyPr wrap="square" lIns="0" tIns="0" rIns="0" bIns="0" rtlCol="0" anchor="t"/>
          <a:lstStyle/>
          <a:p>
            <a:pPr indent="0" marL="0">
              <a:buNone/>
            </a:pPr>
            <a:r>
              <a:rPr lang="en-US" sz="1000" b="1" spc="200" kern="0" dirty="0">
                <a:solidFill>
                  <a:srgbClr val="E3A646"/>
                </a:solidFill>
                <a:latin typeface="Calibri" pitchFamily="34" charset="0"/>
                <a:ea typeface="Calibri" pitchFamily="34" charset="-122"/>
                <a:cs typeface="Calibri" pitchFamily="34" charset="-120"/>
              </a:rPr>
              <a:t>SUBMITTED BY</a:t>
            </a:r>
            <a:endParaRPr lang="en-US" sz="1000" dirty="0"/>
          </a:p>
        </p:txBody>
      </p:sp>
      <p:sp>
        <p:nvSpPr>
          <p:cNvPr id="10" name="Text 8"/>
          <p:cNvSpPr txBox="1"/>
          <p:nvPr/>
        </p:nvSpPr>
        <p:spPr>
          <a:xfrm>
            <a:off x="731520" y="5303520"/>
            <a:ext cx="2834640" cy="32004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Adithyan C S S</a:t>
            </a:r>
            <a:endParaRPr lang="en-US" sz="1700" dirty="0"/>
          </a:p>
        </p:txBody>
      </p:sp>
      <p:sp>
        <p:nvSpPr>
          <p:cNvPr id="11" name="Text 9"/>
          <p:cNvSpPr txBox="1"/>
          <p:nvPr/>
        </p:nvSpPr>
        <p:spPr>
          <a:xfrm>
            <a:off x="731520" y="5641848"/>
            <a:ext cx="2834640" cy="274320"/>
          </a:xfrm>
          <a:prstGeom prst="rect">
            <a:avLst/>
          </a:prstGeom>
          <a:noFill/>
          <a:ln/>
        </p:spPr>
        <p:txBody>
          <a:bodyPr wrap="square" lIns="0" tIns="0" rIns="0" bIns="0" rtlCol="0" anchor="t"/>
          <a:lstStyle/>
          <a:p>
            <a:pPr indent="0" marL="0">
              <a:buNone/>
            </a:pPr>
            <a:r>
              <a:rPr lang="en-US" sz="1300" dirty="0">
                <a:solidFill>
                  <a:srgbClr val="AFC0D8"/>
                </a:solidFill>
                <a:latin typeface="Calibri" pitchFamily="34" charset="0"/>
                <a:ea typeface="Calibri" pitchFamily="34" charset="-122"/>
                <a:cs typeface="Calibri" pitchFamily="34" charset="-120"/>
              </a:rPr>
              <a:t>24BCE2820</a:t>
            </a:r>
            <a:endParaRPr lang="en-US" sz="1300" dirty="0"/>
          </a:p>
        </p:txBody>
      </p:sp>
      <p:sp>
        <p:nvSpPr>
          <p:cNvPr id="12" name="Text 10"/>
          <p:cNvSpPr txBox="1"/>
          <p:nvPr/>
        </p:nvSpPr>
        <p:spPr>
          <a:xfrm>
            <a:off x="3749040" y="5303520"/>
            <a:ext cx="2834640" cy="32004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Vishal B S</a:t>
            </a:r>
            <a:endParaRPr lang="en-US" sz="1700" dirty="0"/>
          </a:p>
        </p:txBody>
      </p:sp>
      <p:sp>
        <p:nvSpPr>
          <p:cNvPr id="13" name="Text 11"/>
          <p:cNvSpPr txBox="1"/>
          <p:nvPr/>
        </p:nvSpPr>
        <p:spPr>
          <a:xfrm>
            <a:off x="3749040" y="5641848"/>
            <a:ext cx="2834640" cy="274320"/>
          </a:xfrm>
          <a:prstGeom prst="rect">
            <a:avLst/>
          </a:prstGeom>
          <a:noFill/>
          <a:ln/>
        </p:spPr>
        <p:txBody>
          <a:bodyPr wrap="square" lIns="0" tIns="0" rIns="0" bIns="0" rtlCol="0" anchor="t"/>
          <a:lstStyle/>
          <a:p>
            <a:pPr indent="0" marL="0">
              <a:buNone/>
            </a:pPr>
            <a:r>
              <a:rPr lang="en-US" sz="1300" dirty="0">
                <a:solidFill>
                  <a:srgbClr val="AFC0D8"/>
                </a:solidFill>
                <a:latin typeface="Calibri" pitchFamily="34" charset="0"/>
                <a:ea typeface="Calibri" pitchFamily="34" charset="-122"/>
                <a:cs typeface="Calibri" pitchFamily="34" charset="-120"/>
              </a:rPr>
              <a:t>24BCE2475</a:t>
            </a:r>
            <a:endParaRPr lang="en-US" sz="1300" dirty="0"/>
          </a:p>
        </p:txBody>
      </p:sp>
      <p:sp>
        <p:nvSpPr>
          <p:cNvPr id="14" name="Text 12"/>
          <p:cNvSpPr txBox="1"/>
          <p:nvPr/>
        </p:nvSpPr>
        <p:spPr>
          <a:xfrm>
            <a:off x="6766560" y="5303520"/>
            <a:ext cx="2834640" cy="32004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Madhan A</a:t>
            </a:r>
            <a:endParaRPr lang="en-US" sz="1700" dirty="0"/>
          </a:p>
        </p:txBody>
      </p:sp>
      <p:sp>
        <p:nvSpPr>
          <p:cNvPr id="15" name="Text 13"/>
          <p:cNvSpPr txBox="1"/>
          <p:nvPr/>
        </p:nvSpPr>
        <p:spPr>
          <a:xfrm>
            <a:off x="6766560" y="5641848"/>
            <a:ext cx="2834640" cy="274320"/>
          </a:xfrm>
          <a:prstGeom prst="rect">
            <a:avLst/>
          </a:prstGeom>
          <a:noFill/>
          <a:ln/>
        </p:spPr>
        <p:txBody>
          <a:bodyPr wrap="square" lIns="0" tIns="0" rIns="0" bIns="0" rtlCol="0" anchor="t"/>
          <a:lstStyle/>
          <a:p>
            <a:pPr indent="0" marL="0">
              <a:buNone/>
            </a:pPr>
            <a:r>
              <a:rPr lang="en-US" sz="1300" dirty="0">
                <a:solidFill>
                  <a:srgbClr val="AFC0D8"/>
                </a:solidFill>
                <a:latin typeface="Calibri" pitchFamily="34" charset="0"/>
                <a:ea typeface="Calibri" pitchFamily="34" charset="-122"/>
                <a:cs typeface="Calibri" pitchFamily="34" charset="-120"/>
              </a:rPr>
              <a:t>24BCE0159</a:t>
            </a:r>
            <a:endParaRPr lang="en-US" sz="1300" dirty="0"/>
          </a:p>
        </p:txBody>
      </p:sp>
      <p:sp>
        <p:nvSpPr>
          <p:cNvPr id="16" name="Text 14"/>
          <p:cNvSpPr txBox="1"/>
          <p:nvPr/>
        </p:nvSpPr>
        <p:spPr>
          <a:xfrm>
            <a:off x="9628632" y="5303520"/>
            <a:ext cx="1828800" cy="320040"/>
          </a:xfrm>
          <a:prstGeom prst="rect">
            <a:avLst/>
          </a:prstGeom>
          <a:noFill/>
          <a:ln/>
        </p:spPr>
        <p:txBody>
          <a:bodyPr wrap="square" lIns="0" tIns="0" rIns="0" bIns="0" rtlCol="0" anchor="t"/>
          <a:lstStyle/>
          <a:p>
            <a:pPr algn="r" indent="0" marL="0">
              <a:buNone/>
            </a:pPr>
            <a:r>
              <a:rPr lang="en-US" sz="1300" dirty="0">
                <a:solidFill>
                  <a:srgbClr val="AFC0D8"/>
                </a:solidFill>
                <a:latin typeface="Calibri" pitchFamily="34" charset="0"/>
                <a:ea typeface="Calibri" pitchFamily="34" charset="-122"/>
                <a:cs typeface="Calibri" pitchFamily="34" charset="-120"/>
              </a:rPr>
              <a:t>September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300" kern="0" dirty="0">
                <a:solidFill>
                  <a:srgbClr val="C7811A"/>
                </a:solidFill>
                <a:latin typeface="Calibri" pitchFamily="34" charset="0"/>
                <a:ea typeface="Calibri" pitchFamily="34" charset="-122"/>
                <a:cs typeface="Calibri" pitchFamily="34" charset="-120"/>
              </a:rPr>
              <a:t>OVERVIEW</a:t>
            </a:r>
            <a:endParaRPr lang="en-US" sz="11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rgbClr val="13223A"/>
                </a:solidFill>
                <a:latin typeface="Cambria" pitchFamily="34" charset="0"/>
                <a:ea typeface="Cambria" pitchFamily="34" charset="-122"/>
                <a:cs typeface="Cambria" pitchFamily="34" charset="-120"/>
              </a:rPr>
              <a:t>Presentation outline</a:t>
            </a:r>
            <a:endParaRPr lang="en-US" sz="3000" dirty="0"/>
          </a:p>
        </p:txBody>
      </p:sp>
      <p:sp>
        <p:nvSpPr>
          <p:cNvPr id="4" name="Shape 2"/>
          <p:cNvSpPr/>
          <p:nvPr/>
        </p:nvSpPr>
        <p:spPr>
          <a:xfrm>
            <a:off x="731520" y="1691640"/>
            <a:ext cx="457200" cy="457200"/>
          </a:xfrm>
          <a:prstGeom prst="ellipse">
            <a:avLst/>
          </a:prstGeom>
          <a:solidFill>
            <a:srgbClr val="13223A"/>
          </a:solidFill>
          <a:ln w="12700">
            <a:solidFill>
              <a:srgbClr val="13223A"/>
            </a:solidFill>
            <a:prstDash val="solid"/>
          </a:ln>
        </p:spPr>
      </p:sp>
      <p:sp>
        <p:nvSpPr>
          <p:cNvPr id="5" name="Text 3"/>
          <p:cNvSpPr txBox="1"/>
          <p:nvPr/>
        </p:nvSpPr>
        <p:spPr>
          <a:xfrm>
            <a:off x="731520" y="169164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01</a:t>
            </a:r>
            <a:endParaRPr lang="en-US" sz="1200" dirty="0"/>
          </a:p>
        </p:txBody>
      </p:sp>
      <p:sp>
        <p:nvSpPr>
          <p:cNvPr id="6" name="Text 4"/>
          <p:cNvSpPr txBox="1"/>
          <p:nvPr/>
        </p:nvSpPr>
        <p:spPr>
          <a:xfrm>
            <a:off x="1417320" y="1691640"/>
            <a:ext cx="4572000" cy="457200"/>
          </a:xfrm>
          <a:prstGeom prst="rect">
            <a:avLst/>
          </a:prstGeom>
          <a:noFill/>
          <a:ln/>
        </p:spPr>
        <p:txBody>
          <a:bodyPr wrap="square" lIns="0" tIns="0" rIns="0" bIns="0" rtlCol="0" anchor="ctr"/>
          <a:lstStyle/>
          <a:p>
            <a:pPr indent="0" marL="0">
              <a:buNone/>
            </a:pPr>
            <a:r>
              <a:rPr lang="en-US" sz="1800" dirty="0">
                <a:solidFill>
                  <a:srgbClr val="1F2937"/>
                </a:solidFill>
                <a:latin typeface="Calibri" pitchFamily="34" charset="0"/>
                <a:ea typeface="Calibri" pitchFamily="34" charset="-122"/>
                <a:cs typeface="Calibri" pitchFamily="34" charset="-120"/>
              </a:rPr>
              <a:t>Problem statement</a:t>
            </a:r>
            <a:endParaRPr lang="en-US" sz="1800" dirty="0"/>
          </a:p>
        </p:txBody>
      </p:sp>
      <p:sp>
        <p:nvSpPr>
          <p:cNvPr id="7" name="Shape 5"/>
          <p:cNvSpPr/>
          <p:nvPr/>
        </p:nvSpPr>
        <p:spPr>
          <a:xfrm>
            <a:off x="731520" y="2423160"/>
            <a:ext cx="457200" cy="457200"/>
          </a:xfrm>
          <a:prstGeom prst="ellipse">
            <a:avLst/>
          </a:prstGeom>
          <a:solidFill>
            <a:srgbClr val="13223A"/>
          </a:solidFill>
          <a:ln w="12700">
            <a:solidFill>
              <a:srgbClr val="13223A"/>
            </a:solidFill>
            <a:prstDash val="solid"/>
          </a:ln>
        </p:spPr>
      </p:sp>
      <p:sp>
        <p:nvSpPr>
          <p:cNvPr id="8" name="Text 6"/>
          <p:cNvSpPr txBox="1"/>
          <p:nvPr/>
        </p:nvSpPr>
        <p:spPr>
          <a:xfrm>
            <a:off x="731520" y="242316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02</a:t>
            </a:r>
            <a:endParaRPr lang="en-US" sz="1200" dirty="0"/>
          </a:p>
        </p:txBody>
      </p:sp>
      <p:sp>
        <p:nvSpPr>
          <p:cNvPr id="9" name="Text 7"/>
          <p:cNvSpPr txBox="1"/>
          <p:nvPr/>
        </p:nvSpPr>
        <p:spPr>
          <a:xfrm>
            <a:off x="1417320" y="2423160"/>
            <a:ext cx="4572000" cy="457200"/>
          </a:xfrm>
          <a:prstGeom prst="rect">
            <a:avLst/>
          </a:prstGeom>
          <a:noFill/>
          <a:ln/>
        </p:spPr>
        <p:txBody>
          <a:bodyPr wrap="square" lIns="0" tIns="0" rIns="0" bIns="0" rtlCol="0" anchor="ctr"/>
          <a:lstStyle/>
          <a:p>
            <a:pPr indent="0" marL="0">
              <a:buNone/>
            </a:pPr>
            <a:r>
              <a:rPr lang="en-US" sz="1800" dirty="0">
                <a:solidFill>
                  <a:srgbClr val="1F2937"/>
                </a:solidFill>
                <a:latin typeface="Calibri" pitchFamily="34" charset="0"/>
                <a:ea typeface="Calibri" pitchFamily="34" charset="-122"/>
                <a:cs typeface="Calibri" pitchFamily="34" charset="-120"/>
              </a:rPr>
              <a:t>System design &amp; architecture</a:t>
            </a:r>
            <a:endParaRPr lang="en-US" sz="1800" dirty="0"/>
          </a:p>
        </p:txBody>
      </p:sp>
      <p:sp>
        <p:nvSpPr>
          <p:cNvPr id="10" name="Shape 8"/>
          <p:cNvSpPr/>
          <p:nvPr/>
        </p:nvSpPr>
        <p:spPr>
          <a:xfrm>
            <a:off x="731520" y="3154680"/>
            <a:ext cx="457200" cy="457200"/>
          </a:xfrm>
          <a:prstGeom prst="ellipse">
            <a:avLst/>
          </a:prstGeom>
          <a:solidFill>
            <a:srgbClr val="13223A"/>
          </a:solidFill>
          <a:ln w="12700">
            <a:solidFill>
              <a:srgbClr val="13223A"/>
            </a:solidFill>
            <a:prstDash val="solid"/>
          </a:ln>
        </p:spPr>
      </p:sp>
      <p:sp>
        <p:nvSpPr>
          <p:cNvPr id="11" name="Text 9"/>
          <p:cNvSpPr txBox="1"/>
          <p:nvPr/>
        </p:nvSpPr>
        <p:spPr>
          <a:xfrm>
            <a:off x="731520" y="315468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03</a:t>
            </a:r>
            <a:endParaRPr lang="en-US" sz="1200" dirty="0"/>
          </a:p>
        </p:txBody>
      </p:sp>
      <p:sp>
        <p:nvSpPr>
          <p:cNvPr id="12" name="Text 10"/>
          <p:cNvSpPr txBox="1"/>
          <p:nvPr/>
        </p:nvSpPr>
        <p:spPr>
          <a:xfrm>
            <a:off x="1417320" y="3154680"/>
            <a:ext cx="4572000" cy="457200"/>
          </a:xfrm>
          <a:prstGeom prst="rect">
            <a:avLst/>
          </a:prstGeom>
          <a:noFill/>
          <a:ln/>
        </p:spPr>
        <p:txBody>
          <a:bodyPr wrap="square" lIns="0" tIns="0" rIns="0" bIns="0" rtlCol="0" anchor="ctr"/>
          <a:lstStyle/>
          <a:p>
            <a:pPr indent="0" marL="0">
              <a:buNone/>
            </a:pPr>
            <a:r>
              <a:rPr lang="en-US" sz="1800" dirty="0">
                <a:solidFill>
                  <a:srgbClr val="1F2937"/>
                </a:solidFill>
                <a:latin typeface="Calibri" pitchFamily="34" charset="0"/>
                <a:ea typeface="Calibri" pitchFamily="34" charset="-122"/>
                <a:cs typeface="Calibri" pitchFamily="34" charset="-120"/>
              </a:rPr>
              <a:t>Core algorithm — the control law</a:t>
            </a:r>
            <a:endParaRPr lang="en-US" sz="1800" dirty="0"/>
          </a:p>
        </p:txBody>
      </p:sp>
      <p:sp>
        <p:nvSpPr>
          <p:cNvPr id="13" name="Shape 11"/>
          <p:cNvSpPr/>
          <p:nvPr/>
        </p:nvSpPr>
        <p:spPr>
          <a:xfrm>
            <a:off x="731520" y="3886200"/>
            <a:ext cx="457200" cy="457200"/>
          </a:xfrm>
          <a:prstGeom prst="ellipse">
            <a:avLst/>
          </a:prstGeom>
          <a:solidFill>
            <a:srgbClr val="13223A"/>
          </a:solidFill>
          <a:ln w="12700">
            <a:solidFill>
              <a:srgbClr val="13223A"/>
            </a:solidFill>
            <a:prstDash val="solid"/>
          </a:ln>
        </p:spPr>
      </p:sp>
      <p:sp>
        <p:nvSpPr>
          <p:cNvPr id="14" name="Text 12"/>
          <p:cNvSpPr txBox="1"/>
          <p:nvPr/>
        </p:nvSpPr>
        <p:spPr>
          <a:xfrm>
            <a:off x="731520" y="388620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04</a:t>
            </a:r>
            <a:endParaRPr lang="en-US" sz="1200" dirty="0"/>
          </a:p>
        </p:txBody>
      </p:sp>
      <p:sp>
        <p:nvSpPr>
          <p:cNvPr id="15" name="Text 13"/>
          <p:cNvSpPr txBox="1"/>
          <p:nvPr/>
        </p:nvSpPr>
        <p:spPr>
          <a:xfrm>
            <a:off x="1417320" y="3886200"/>
            <a:ext cx="4572000" cy="457200"/>
          </a:xfrm>
          <a:prstGeom prst="rect">
            <a:avLst/>
          </a:prstGeom>
          <a:noFill/>
          <a:ln/>
        </p:spPr>
        <p:txBody>
          <a:bodyPr wrap="square" lIns="0" tIns="0" rIns="0" bIns="0" rtlCol="0" anchor="ctr"/>
          <a:lstStyle/>
          <a:p>
            <a:pPr indent="0" marL="0">
              <a:buNone/>
            </a:pPr>
            <a:r>
              <a:rPr lang="en-US" sz="1800" dirty="0">
                <a:solidFill>
                  <a:srgbClr val="1F2937"/>
                </a:solidFill>
                <a:latin typeface="Calibri" pitchFamily="34" charset="0"/>
                <a:ea typeface="Calibri" pitchFamily="34" charset="-122"/>
                <a:cs typeface="Calibri" pitchFamily="34" charset="-120"/>
              </a:rPr>
              <a:t>Datasets &amp; experimental setup</a:t>
            </a:r>
            <a:endParaRPr lang="en-US" sz="1800" dirty="0"/>
          </a:p>
        </p:txBody>
      </p:sp>
      <p:sp>
        <p:nvSpPr>
          <p:cNvPr id="16" name="Shape 14"/>
          <p:cNvSpPr/>
          <p:nvPr/>
        </p:nvSpPr>
        <p:spPr>
          <a:xfrm>
            <a:off x="731520" y="4617720"/>
            <a:ext cx="457200" cy="457200"/>
          </a:xfrm>
          <a:prstGeom prst="ellipse">
            <a:avLst/>
          </a:prstGeom>
          <a:solidFill>
            <a:srgbClr val="13223A"/>
          </a:solidFill>
          <a:ln w="12700">
            <a:solidFill>
              <a:srgbClr val="13223A"/>
            </a:solidFill>
            <a:prstDash val="solid"/>
          </a:ln>
        </p:spPr>
      </p:sp>
      <p:sp>
        <p:nvSpPr>
          <p:cNvPr id="17" name="Text 15"/>
          <p:cNvSpPr txBox="1"/>
          <p:nvPr/>
        </p:nvSpPr>
        <p:spPr>
          <a:xfrm>
            <a:off x="731520" y="461772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05</a:t>
            </a:r>
            <a:endParaRPr lang="en-US" sz="1200" dirty="0"/>
          </a:p>
        </p:txBody>
      </p:sp>
      <p:sp>
        <p:nvSpPr>
          <p:cNvPr id="18" name="Text 16"/>
          <p:cNvSpPr txBox="1"/>
          <p:nvPr/>
        </p:nvSpPr>
        <p:spPr>
          <a:xfrm>
            <a:off x="1417320" y="4617720"/>
            <a:ext cx="4572000" cy="457200"/>
          </a:xfrm>
          <a:prstGeom prst="rect">
            <a:avLst/>
          </a:prstGeom>
          <a:noFill/>
          <a:ln/>
        </p:spPr>
        <p:txBody>
          <a:bodyPr wrap="square" lIns="0" tIns="0" rIns="0" bIns="0" rtlCol="0" anchor="ctr"/>
          <a:lstStyle/>
          <a:p>
            <a:pPr indent="0" marL="0">
              <a:buNone/>
            </a:pPr>
            <a:r>
              <a:rPr lang="en-US" sz="1800" dirty="0">
                <a:solidFill>
                  <a:srgbClr val="1F2937"/>
                </a:solidFill>
                <a:latin typeface="Calibri" pitchFamily="34" charset="0"/>
                <a:ea typeface="Calibri" pitchFamily="34" charset="-122"/>
                <a:cs typeface="Calibri" pitchFamily="34" charset="-120"/>
              </a:rPr>
              <a:t>Module identification &amp; completion</a:t>
            </a:r>
            <a:endParaRPr lang="en-US" sz="1800" dirty="0"/>
          </a:p>
        </p:txBody>
      </p:sp>
      <p:sp>
        <p:nvSpPr>
          <p:cNvPr id="19" name="Shape 17"/>
          <p:cNvSpPr/>
          <p:nvPr/>
        </p:nvSpPr>
        <p:spPr>
          <a:xfrm>
            <a:off x="731520" y="5349240"/>
            <a:ext cx="457200" cy="457200"/>
          </a:xfrm>
          <a:prstGeom prst="ellipse">
            <a:avLst/>
          </a:prstGeom>
          <a:solidFill>
            <a:srgbClr val="13223A"/>
          </a:solidFill>
          <a:ln w="12700">
            <a:solidFill>
              <a:srgbClr val="13223A"/>
            </a:solidFill>
            <a:prstDash val="solid"/>
          </a:ln>
        </p:spPr>
      </p:sp>
      <p:sp>
        <p:nvSpPr>
          <p:cNvPr id="20" name="Text 18"/>
          <p:cNvSpPr txBox="1"/>
          <p:nvPr/>
        </p:nvSpPr>
        <p:spPr>
          <a:xfrm>
            <a:off x="731520" y="534924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06</a:t>
            </a:r>
            <a:endParaRPr lang="en-US" sz="1200" dirty="0"/>
          </a:p>
        </p:txBody>
      </p:sp>
      <p:sp>
        <p:nvSpPr>
          <p:cNvPr id="21" name="Text 19"/>
          <p:cNvSpPr txBox="1"/>
          <p:nvPr/>
        </p:nvSpPr>
        <p:spPr>
          <a:xfrm>
            <a:off x="1417320" y="5349240"/>
            <a:ext cx="4572000" cy="457200"/>
          </a:xfrm>
          <a:prstGeom prst="rect">
            <a:avLst/>
          </a:prstGeom>
          <a:noFill/>
          <a:ln/>
        </p:spPr>
        <p:txBody>
          <a:bodyPr wrap="square" lIns="0" tIns="0" rIns="0" bIns="0" rtlCol="0" anchor="ctr"/>
          <a:lstStyle/>
          <a:p>
            <a:pPr indent="0" marL="0">
              <a:buNone/>
            </a:pPr>
            <a:r>
              <a:rPr lang="en-US" sz="1800" dirty="0">
                <a:solidFill>
                  <a:srgbClr val="1F2937"/>
                </a:solidFill>
                <a:latin typeface="Calibri" pitchFamily="34" charset="0"/>
                <a:ea typeface="Calibri" pitchFamily="34" charset="-122"/>
                <a:cs typeface="Calibri" pitchFamily="34" charset="-120"/>
              </a:rPr>
              <a:t>Results &amp; analysis</a:t>
            </a:r>
            <a:endParaRPr lang="en-US" sz="1800" dirty="0"/>
          </a:p>
        </p:txBody>
      </p:sp>
      <p:sp>
        <p:nvSpPr>
          <p:cNvPr id="22" name="Shape 20"/>
          <p:cNvSpPr/>
          <p:nvPr/>
        </p:nvSpPr>
        <p:spPr>
          <a:xfrm>
            <a:off x="6400800" y="1691640"/>
            <a:ext cx="457200" cy="457200"/>
          </a:xfrm>
          <a:prstGeom prst="ellipse">
            <a:avLst/>
          </a:prstGeom>
          <a:solidFill>
            <a:srgbClr val="C7811A"/>
          </a:solidFill>
          <a:ln w="12700">
            <a:solidFill>
              <a:srgbClr val="C7811A"/>
            </a:solidFill>
            <a:prstDash val="solid"/>
          </a:ln>
        </p:spPr>
      </p:sp>
      <p:sp>
        <p:nvSpPr>
          <p:cNvPr id="23" name="Text 21"/>
          <p:cNvSpPr txBox="1"/>
          <p:nvPr/>
        </p:nvSpPr>
        <p:spPr>
          <a:xfrm>
            <a:off x="6400800" y="169164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07</a:t>
            </a:r>
            <a:endParaRPr lang="en-US" sz="1200" dirty="0"/>
          </a:p>
        </p:txBody>
      </p:sp>
      <p:sp>
        <p:nvSpPr>
          <p:cNvPr id="24" name="Text 22"/>
          <p:cNvSpPr txBox="1"/>
          <p:nvPr/>
        </p:nvSpPr>
        <p:spPr>
          <a:xfrm>
            <a:off x="7086600" y="1691640"/>
            <a:ext cx="4572000" cy="457200"/>
          </a:xfrm>
          <a:prstGeom prst="rect">
            <a:avLst/>
          </a:prstGeom>
          <a:noFill/>
          <a:ln/>
        </p:spPr>
        <p:txBody>
          <a:bodyPr wrap="square" lIns="0" tIns="0" rIns="0" bIns="0" rtlCol="0" anchor="ctr"/>
          <a:lstStyle/>
          <a:p>
            <a:pPr indent="0" marL="0">
              <a:buNone/>
            </a:pPr>
            <a:r>
              <a:rPr lang="en-US" sz="1800" dirty="0">
                <a:solidFill>
                  <a:srgbClr val="1F2937"/>
                </a:solidFill>
                <a:latin typeface="Calibri" pitchFamily="34" charset="0"/>
                <a:ea typeface="Calibri" pitchFamily="34" charset="-122"/>
                <a:cs typeface="Calibri" pitchFamily="34" charset="-120"/>
              </a:rPr>
              <a:t>Positioning against related work</a:t>
            </a:r>
            <a:endParaRPr lang="en-US" sz="1800" dirty="0"/>
          </a:p>
        </p:txBody>
      </p:sp>
      <p:sp>
        <p:nvSpPr>
          <p:cNvPr id="25" name="Shape 23"/>
          <p:cNvSpPr/>
          <p:nvPr/>
        </p:nvSpPr>
        <p:spPr>
          <a:xfrm>
            <a:off x="6400800" y="2423160"/>
            <a:ext cx="457200" cy="457200"/>
          </a:xfrm>
          <a:prstGeom prst="ellipse">
            <a:avLst/>
          </a:prstGeom>
          <a:solidFill>
            <a:srgbClr val="C7811A"/>
          </a:solidFill>
          <a:ln w="12700">
            <a:solidFill>
              <a:srgbClr val="C7811A"/>
            </a:solidFill>
            <a:prstDash val="solid"/>
          </a:ln>
        </p:spPr>
      </p:sp>
      <p:sp>
        <p:nvSpPr>
          <p:cNvPr id="26" name="Text 24"/>
          <p:cNvSpPr txBox="1"/>
          <p:nvPr/>
        </p:nvSpPr>
        <p:spPr>
          <a:xfrm>
            <a:off x="6400800" y="242316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08</a:t>
            </a:r>
            <a:endParaRPr lang="en-US" sz="1200" dirty="0"/>
          </a:p>
        </p:txBody>
      </p:sp>
      <p:sp>
        <p:nvSpPr>
          <p:cNvPr id="27" name="Text 25"/>
          <p:cNvSpPr txBox="1"/>
          <p:nvPr/>
        </p:nvSpPr>
        <p:spPr>
          <a:xfrm>
            <a:off x="7086600" y="2423160"/>
            <a:ext cx="4572000" cy="457200"/>
          </a:xfrm>
          <a:prstGeom prst="rect">
            <a:avLst/>
          </a:prstGeom>
          <a:noFill/>
          <a:ln/>
        </p:spPr>
        <p:txBody>
          <a:bodyPr wrap="square" lIns="0" tIns="0" rIns="0" bIns="0" rtlCol="0" anchor="ctr"/>
          <a:lstStyle/>
          <a:p>
            <a:pPr indent="0" marL="0">
              <a:buNone/>
            </a:pPr>
            <a:r>
              <a:rPr lang="en-US" sz="1800" dirty="0">
                <a:solidFill>
                  <a:srgbClr val="1F2937"/>
                </a:solidFill>
                <a:latin typeface="Calibri" pitchFamily="34" charset="0"/>
                <a:ea typeface="Calibri" pitchFamily="34" charset="-122"/>
                <a:cs typeface="Calibri" pitchFamily="34" charset="-120"/>
              </a:rPr>
              <a:t>Engineering verification</a:t>
            </a:r>
            <a:endParaRPr lang="en-US" sz="1800" dirty="0"/>
          </a:p>
        </p:txBody>
      </p:sp>
      <p:sp>
        <p:nvSpPr>
          <p:cNvPr id="28" name="Shape 26"/>
          <p:cNvSpPr/>
          <p:nvPr/>
        </p:nvSpPr>
        <p:spPr>
          <a:xfrm>
            <a:off x="6400800" y="3154680"/>
            <a:ext cx="457200" cy="457200"/>
          </a:xfrm>
          <a:prstGeom prst="ellipse">
            <a:avLst/>
          </a:prstGeom>
          <a:solidFill>
            <a:srgbClr val="C7811A"/>
          </a:solidFill>
          <a:ln w="12700">
            <a:solidFill>
              <a:srgbClr val="C7811A"/>
            </a:solidFill>
            <a:prstDash val="solid"/>
          </a:ln>
        </p:spPr>
      </p:sp>
      <p:sp>
        <p:nvSpPr>
          <p:cNvPr id="29" name="Text 27"/>
          <p:cNvSpPr txBox="1"/>
          <p:nvPr/>
        </p:nvSpPr>
        <p:spPr>
          <a:xfrm>
            <a:off x="6400800" y="315468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09</a:t>
            </a:r>
            <a:endParaRPr lang="en-US" sz="1200" dirty="0"/>
          </a:p>
        </p:txBody>
      </p:sp>
      <p:sp>
        <p:nvSpPr>
          <p:cNvPr id="30" name="Text 28"/>
          <p:cNvSpPr txBox="1"/>
          <p:nvPr/>
        </p:nvSpPr>
        <p:spPr>
          <a:xfrm>
            <a:off x="7086600" y="3154680"/>
            <a:ext cx="4572000" cy="457200"/>
          </a:xfrm>
          <a:prstGeom prst="rect">
            <a:avLst/>
          </a:prstGeom>
          <a:noFill/>
          <a:ln/>
        </p:spPr>
        <p:txBody>
          <a:bodyPr wrap="square" lIns="0" tIns="0" rIns="0" bIns="0" rtlCol="0" anchor="ctr"/>
          <a:lstStyle/>
          <a:p>
            <a:pPr indent="0" marL="0">
              <a:buNone/>
            </a:pPr>
            <a:r>
              <a:rPr lang="en-US" sz="1800" dirty="0">
                <a:solidFill>
                  <a:srgbClr val="1F2937"/>
                </a:solidFill>
                <a:latin typeface="Calibri" pitchFamily="34" charset="0"/>
                <a:ea typeface="Calibri" pitchFamily="34" charset="-122"/>
                <a:cs typeface="Calibri" pitchFamily="34" charset="-120"/>
              </a:rPr>
              <a:t>Kubernetes integration</a:t>
            </a:r>
            <a:endParaRPr lang="en-US" sz="1800" dirty="0"/>
          </a:p>
        </p:txBody>
      </p:sp>
      <p:sp>
        <p:nvSpPr>
          <p:cNvPr id="31" name="Shape 29"/>
          <p:cNvSpPr/>
          <p:nvPr/>
        </p:nvSpPr>
        <p:spPr>
          <a:xfrm>
            <a:off x="6400800" y="3886200"/>
            <a:ext cx="457200" cy="457200"/>
          </a:xfrm>
          <a:prstGeom prst="ellipse">
            <a:avLst/>
          </a:prstGeom>
          <a:solidFill>
            <a:srgbClr val="C7811A"/>
          </a:solidFill>
          <a:ln w="12700">
            <a:solidFill>
              <a:srgbClr val="C7811A"/>
            </a:solidFill>
            <a:prstDash val="solid"/>
          </a:ln>
        </p:spPr>
      </p:sp>
      <p:sp>
        <p:nvSpPr>
          <p:cNvPr id="32" name="Text 30"/>
          <p:cNvSpPr txBox="1"/>
          <p:nvPr/>
        </p:nvSpPr>
        <p:spPr>
          <a:xfrm>
            <a:off x="6400800" y="388620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a:t>
            </a:r>
            <a:endParaRPr lang="en-US" sz="1200" dirty="0"/>
          </a:p>
        </p:txBody>
      </p:sp>
      <p:sp>
        <p:nvSpPr>
          <p:cNvPr id="33" name="Text 31"/>
          <p:cNvSpPr txBox="1"/>
          <p:nvPr/>
        </p:nvSpPr>
        <p:spPr>
          <a:xfrm>
            <a:off x="7086600" y="3886200"/>
            <a:ext cx="4572000" cy="457200"/>
          </a:xfrm>
          <a:prstGeom prst="rect">
            <a:avLst/>
          </a:prstGeom>
          <a:noFill/>
          <a:ln/>
        </p:spPr>
        <p:txBody>
          <a:bodyPr wrap="square" lIns="0" tIns="0" rIns="0" bIns="0" rtlCol="0" anchor="ctr"/>
          <a:lstStyle/>
          <a:p>
            <a:pPr indent="0" marL="0">
              <a:buNone/>
            </a:pPr>
            <a:r>
              <a:rPr lang="en-US" sz="1800" dirty="0">
                <a:solidFill>
                  <a:srgbClr val="1F2937"/>
                </a:solidFill>
                <a:latin typeface="Calibri" pitchFamily="34" charset="0"/>
                <a:ea typeface="Calibri" pitchFamily="34" charset="-122"/>
                <a:cs typeface="Calibri" pitchFamily="34" charset="-120"/>
              </a:rPr>
              <a:t>Outputs &amp; live demonstration</a:t>
            </a:r>
            <a:endParaRPr lang="en-US" sz="1800" dirty="0"/>
          </a:p>
        </p:txBody>
      </p:sp>
      <p:sp>
        <p:nvSpPr>
          <p:cNvPr id="34" name="Shape 32"/>
          <p:cNvSpPr/>
          <p:nvPr/>
        </p:nvSpPr>
        <p:spPr>
          <a:xfrm>
            <a:off x="6400800" y="4617720"/>
            <a:ext cx="457200" cy="457200"/>
          </a:xfrm>
          <a:prstGeom prst="ellipse">
            <a:avLst/>
          </a:prstGeom>
          <a:solidFill>
            <a:srgbClr val="C7811A"/>
          </a:solidFill>
          <a:ln w="12700">
            <a:solidFill>
              <a:srgbClr val="C7811A"/>
            </a:solidFill>
            <a:prstDash val="solid"/>
          </a:ln>
        </p:spPr>
      </p:sp>
      <p:sp>
        <p:nvSpPr>
          <p:cNvPr id="35" name="Text 33"/>
          <p:cNvSpPr txBox="1"/>
          <p:nvPr/>
        </p:nvSpPr>
        <p:spPr>
          <a:xfrm>
            <a:off x="6400800" y="461772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11</a:t>
            </a:r>
            <a:endParaRPr lang="en-US" sz="1200" dirty="0"/>
          </a:p>
        </p:txBody>
      </p:sp>
      <p:sp>
        <p:nvSpPr>
          <p:cNvPr id="36" name="Text 34"/>
          <p:cNvSpPr txBox="1"/>
          <p:nvPr/>
        </p:nvSpPr>
        <p:spPr>
          <a:xfrm>
            <a:off x="7086600" y="4617720"/>
            <a:ext cx="4572000" cy="457200"/>
          </a:xfrm>
          <a:prstGeom prst="rect">
            <a:avLst/>
          </a:prstGeom>
          <a:noFill/>
          <a:ln/>
        </p:spPr>
        <p:txBody>
          <a:bodyPr wrap="square" lIns="0" tIns="0" rIns="0" bIns="0" rtlCol="0" anchor="ctr"/>
          <a:lstStyle/>
          <a:p>
            <a:pPr indent="0" marL="0">
              <a:buNone/>
            </a:pPr>
            <a:r>
              <a:rPr lang="en-US" sz="1800" dirty="0">
                <a:solidFill>
                  <a:srgbClr val="1F2937"/>
                </a:solidFill>
                <a:latin typeface="Calibri" pitchFamily="34" charset="0"/>
                <a:ea typeface="Calibri" pitchFamily="34" charset="-122"/>
                <a:cs typeface="Calibri" pitchFamily="34" charset="-120"/>
              </a:rPr>
              <a:t>Limitations &amp; future work</a:t>
            </a:r>
            <a:endParaRPr lang="en-US" sz="1800" dirty="0"/>
          </a:p>
        </p:txBody>
      </p:sp>
      <p:sp>
        <p:nvSpPr>
          <p:cNvPr id="37" name="Shape 35"/>
          <p:cNvSpPr/>
          <p:nvPr/>
        </p:nvSpPr>
        <p:spPr>
          <a:xfrm>
            <a:off x="6400800" y="5349240"/>
            <a:ext cx="457200" cy="457200"/>
          </a:xfrm>
          <a:prstGeom prst="ellipse">
            <a:avLst/>
          </a:prstGeom>
          <a:solidFill>
            <a:srgbClr val="C7811A"/>
          </a:solidFill>
          <a:ln w="12700">
            <a:solidFill>
              <a:srgbClr val="C7811A"/>
            </a:solidFill>
            <a:prstDash val="solid"/>
          </a:ln>
        </p:spPr>
      </p:sp>
      <p:sp>
        <p:nvSpPr>
          <p:cNvPr id="38" name="Text 36"/>
          <p:cNvSpPr txBox="1"/>
          <p:nvPr/>
        </p:nvSpPr>
        <p:spPr>
          <a:xfrm>
            <a:off x="6400800" y="534924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12</a:t>
            </a:r>
            <a:endParaRPr lang="en-US" sz="1200" dirty="0"/>
          </a:p>
        </p:txBody>
      </p:sp>
      <p:sp>
        <p:nvSpPr>
          <p:cNvPr id="39" name="Text 37"/>
          <p:cNvSpPr txBox="1"/>
          <p:nvPr/>
        </p:nvSpPr>
        <p:spPr>
          <a:xfrm>
            <a:off x="7086600" y="5349240"/>
            <a:ext cx="4572000" cy="457200"/>
          </a:xfrm>
          <a:prstGeom prst="rect">
            <a:avLst/>
          </a:prstGeom>
          <a:noFill/>
          <a:ln/>
        </p:spPr>
        <p:txBody>
          <a:bodyPr wrap="square" lIns="0" tIns="0" rIns="0" bIns="0" rtlCol="0" anchor="ctr"/>
          <a:lstStyle/>
          <a:p>
            <a:pPr indent="0" marL="0">
              <a:buNone/>
            </a:pPr>
            <a:r>
              <a:rPr lang="en-US" sz="1800" dirty="0">
                <a:solidFill>
                  <a:srgbClr val="1F2937"/>
                </a:solidFill>
                <a:latin typeface="Calibri" pitchFamily="34" charset="0"/>
                <a:ea typeface="Calibri" pitchFamily="34" charset="-122"/>
                <a:cs typeface="Calibri" pitchFamily="34" charset="-120"/>
              </a:rPr>
              <a:t>Conclusion</a:t>
            </a:r>
            <a:endParaRPr lang="en-US" sz="1800" dirty="0"/>
          </a:p>
        </p:txBody>
      </p:sp>
      <p:sp>
        <p:nvSpPr>
          <p:cNvPr id="40" name="Text 38"/>
          <p:cNvSpPr txBox="1"/>
          <p:nvPr/>
        </p:nvSpPr>
        <p:spPr>
          <a:xfrm>
            <a:off x="548640" y="6419088"/>
            <a:ext cx="8229600" cy="228600"/>
          </a:xfrm>
          <a:prstGeom prst="rect">
            <a:avLst/>
          </a:prstGeom>
          <a:noFill/>
          <a:ln/>
        </p:spPr>
        <p:txBody>
          <a:bodyPr wrap="square" lIns="0" tIns="0" rIns="0" bIns="0" rtlCol="0" anchor="t"/>
          <a:lstStyle/>
          <a:p>
            <a:pPr indent="0" marL="0">
              <a:buNone/>
            </a:pPr>
            <a:r>
              <a:rPr lang="en-US" sz="900" dirty="0">
                <a:solidFill>
                  <a:srgbClr val="8A94A3"/>
                </a:solidFill>
                <a:latin typeface="Calibri" pitchFamily="34" charset="0"/>
                <a:ea typeface="Calibri" pitchFamily="34" charset="-122"/>
                <a:cs typeface="Calibri" pitchFamily="34" charset="-120"/>
              </a:rPr>
              <a:t>VIT Vellore  ·  BCSE303P Operating Systems Laboratory  ·  CHIMERA  ·  Review 2</a:t>
            </a:r>
            <a:endParaRPr lang="en-US" sz="900" dirty="0"/>
          </a:p>
        </p:txBody>
      </p:sp>
      <p:sp>
        <p:nvSpPr>
          <p:cNvPr id="41" name="Text 39"/>
          <p:cNvSpPr txBox="1"/>
          <p:nvPr/>
        </p:nvSpPr>
        <p:spPr>
          <a:xfrm>
            <a:off x="10725912" y="6419088"/>
            <a:ext cx="914400" cy="228600"/>
          </a:xfrm>
          <a:prstGeom prst="rect">
            <a:avLst/>
          </a:prstGeom>
          <a:noFill/>
          <a:ln/>
        </p:spPr>
        <p:txBody>
          <a:bodyPr wrap="square" lIns="0" tIns="0" rIns="0" bIns="0" rtlCol="0" anchor="t"/>
          <a:lstStyle/>
          <a:p>
            <a:pPr algn="r" indent="0" marL="0">
              <a:buNone/>
            </a:pPr>
            <a:r>
              <a:rPr lang="en-US" sz="900" dirty="0">
                <a:solidFill>
                  <a:srgbClr val="8A94A3"/>
                </a:solidFill>
                <a:latin typeface="Calibri" pitchFamily="34" charset="0"/>
                <a:ea typeface="Calibri" pitchFamily="34" charset="-122"/>
                <a:cs typeface="Calibri" pitchFamily="34" charset="-120"/>
              </a:rPr>
              <a:t>2 / 21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300" kern="0" dirty="0">
                <a:solidFill>
                  <a:srgbClr val="C7811A"/>
                </a:solidFill>
                <a:latin typeface="Calibri" pitchFamily="34" charset="0"/>
                <a:ea typeface="Calibri" pitchFamily="34" charset="-122"/>
                <a:cs typeface="Calibri" pitchFamily="34" charset="-120"/>
              </a:rPr>
              <a:t>PROBLEM STATEMENT</a:t>
            </a:r>
            <a:endParaRPr lang="en-US" sz="11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rgbClr val="13223A"/>
                </a:solidFill>
                <a:latin typeface="Cambria" pitchFamily="34" charset="0"/>
                <a:ea typeface="Cambria" pitchFamily="34" charset="-122"/>
                <a:cs typeface="Cambria" pitchFamily="34" charset="-120"/>
              </a:rPr>
              <a:t>Two actuators, two very different delays</a:t>
            </a:r>
            <a:endParaRPr lang="en-US" sz="3000" dirty="0"/>
          </a:p>
        </p:txBody>
      </p:sp>
      <p:sp>
        <p:nvSpPr>
          <p:cNvPr id="4" name="Text 2"/>
          <p:cNvSpPr txBox="1"/>
          <p:nvPr/>
        </p:nvSpPr>
        <p:spPr>
          <a:xfrm>
            <a:off x="548640" y="1554480"/>
            <a:ext cx="6583680" cy="914400"/>
          </a:xfrm>
          <a:prstGeom prst="rect">
            <a:avLst/>
          </a:prstGeom>
          <a:noFill/>
          <a:ln/>
        </p:spPr>
        <p:txBody>
          <a:bodyPr wrap="square" lIns="0" tIns="0" rIns="0" bIns="0" rtlCol="0" anchor="t"/>
          <a:lstStyle/>
          <a:p>
            <a:pPr indent="0" marL="0">
              <a:buNone/>
            </a:pPr>
            <a:r>
              <a:rPr lang="en-US" sz="1600" dirty="0">
                <a:solidFill>
                  <a:srgbClr val="1F2937"/>
                </a:solidFill>
                <a:latin typeface="Calibri" pitchFamily="34" charset="0"/>
                <a:ea typeface="Calibri" pitchFamily="34" charset="-122"/>
                <a:cs typeface="Calibri" pitchFamily="34" charset="-120"/>
              </a:rPr>
              <a:t>Kubernetes can add replicas (horizontal) or resize a running container's CPU (vertical). Production systems run both loops independently, so they fight: each sees the other's correction as new error and over-reacts.</a:t>
            </a:r>
            <a:endParaRPr lang="en-US" sz="1600" dirty="0"/>
          </a:p>
        </p:txBody>
      </p:sp>
      <p:sp>
        <p:nvSpPr>
          <p:cNvPr id="5" name="Shape 3"/>
          <p:cNvSpPr/>
          <p:nvPr/>
        </p:nvSpPr>
        <p:spPr>
          <a:xfrm>
            <a:off x="548640" y="2697480"/>
            <a:ext cx="3154680" cy="1645920"/>
          </a:xfrm>
          <a:prstGeom prst="roundRect">
            <a:avLst>
              <a:gd name="adj" fmla="val 4444"/>
            </a:avLst>
          </a:prstGeom>
          <a:solidFill>
            <a:srgbClr val="F3F5F8"/>
          </a:solidFill>
          <a:ln w="12700">
            <a:solidFill>
              <a:srgbClr val="F3F5F8"/>
            </a:solidFill>
            <a:prstDash val="solid"/>
          </a:ln>
        </p:spPr>
      </p:sp>
      <p:sp>
        <p:nvSpPr>
          <p:cNvPr id="6" name="Text 4"/>
          <p:cNvSpPr txBox="1"/>
          <p:nvPr/>
        </p:nvSpPr>
        <p:spPr>
          <a:xfrm>
            <a:off x="777240" y="2834640"/>
            <a:ext cx="2743200" cy="731520"/>
          </a:xfrm>
          <a:prstGeom prst="rect">
            <a:avLst/>
          </a:prstGeom>
          <a:noFill/>
          <a:ln/>
        </p:spPr>
        <p:txBody>
          <a:bodyPr wrap="square" lIns="0" tIns="0" rIns="0" bIns="0" rtlCol="0" anchor="t"/>
          <a:lstStyle/>
          <a:p>
            <a:pPr indent="0" marL="0">
              <a:buNone/>
            </a:pPr>
            <a:r>
              <a:rPr lang="en-US" sz="4000" b="1" dirty="0">
                <a:solidFill>
                  <a:srgbClr val="C7811A"/>
                </a:solidFill>
                <a:latin typeface="Cambria" pitchFamily="34" charset="0"/>
                <a:ea typeface="Cambria" pitchFamily="34" charset="-122"/>
                <a:cs typeface="Cambria" pitchFamily="34" charset="-120"/>
              </a:rPr>
              <a:t>20.0 s</a:t>
            </a:r>
            <a:endParaRPr lang="en-US" sz="4000" dirty="0"/>
          </a:p>
        </p:txBody>
      </p:sp>
      <p:sp>
        <p:nvSpPr>
          <p:cNvPr id="7" name="Text 5"/>
          <p:cNvSpPr txBox="1"/>
          <p:nvPr/>
        </p:nvSpPr>
        <p:spPr>
          <a:xfrm>
            <a:off x="777240" y="3611880"/>
            <a:ext cx="2743200" cy="548640"/>
          </a:xfrm>
          <a:prstGeom prst="rect">
            <a:avLst/>
          </a:prstGeom>
          <a:noFill/>
          <a:ln/>
        </p:spPr>
        <p:txBody>
          <a:bodyPr wrap="square" lIns="0" tIns="0" rIns="0" bIns="0" rtlCol="0" anchor="t"/>
          <a:lstStyle/>
          <a:p>
            <a:pPr indent="0" marL="0">
              <a:buNone/>
            </a:pPr>
            <a:r>
              <a:rPr lang="en-US" sz="1300" dirty="0">
                <a:solidFill>
                  <a:srgbClr val="5B6675"/>
                </a:solidFill>
                <a:latin typeface="Calibri" pitchFamily="34" charset="0"/>
                <a:ea typeface="Calibri" pitchFamily="34" charset="-122"/>
                <a:cs typeface="Calibri" pitchFamily="34" charset="-120"/>
              </a:rPr>
              <a:t>Horizontal delay — schedule and boot a new pod</a:t>
            </a:r>
            <a:endParaRPr lang="en-US" sz="1300" dirty="0"/>
          </a:p>
        </p:txBody>
      </p:sp>
      <p:sp>
        <p:nvSpPr>
          <p:cNvPr id="8" name="Shape 6"/>
          <p:cNvSpPr/>
          <p:nvPr/>
        </p:nvSpPr>
        <p:spPr>
          <a:xfrm>
            <a:off x="3977640" y="2697480"/>
            <a:ext cx="3154680" cy="1645920"/>
          </a:xfrm>
          <a:prstGeom prst="roundRect">
            <a:avLst>
              <a:gd name="adj" fmla="val 4444"/>
            </a:avLst>
          </a:prstGeom>
          <a:solidFill>
            <a:srgbClr val="F3F5F8"/>
          </a:solidFill>
          <a:ln w="12700">
            <a:solidFill>
              <a:srgbClr val="F3F5F8"/>
            </a:solidFill>
            <a:prstDash val="solid"/>
          </a:ln>
        </p:spPr>
      </p:sp>
      <p:sp>
        <p:nvSpPr>
          <p:cNvPr id="9" name="Text 7"/>
          <p:cNvSpPr txBox="1"/>
          <p:nvPr/>
        </p:nvSpPr>
        <p:spPr>
          <a:xfrm>
            <a:off x="4206240" y="2834640"/>
            <a:ext cx="2743200" cy="731520"/>
          </a:xfrm>
          <a:prstGeom prst="rect">
            <a:avLst/>
          </a:prstGeom>
          <a:noFill/>
          <a:ln/>
        </p:spPr>
        <p:txBody>
          <a:bodyPr wrap="square" lIns="0" tIns="0" rIns="0" bIns="0" rtlCol="0" anchor="t"/>
          <a:lstStyle/>
          <a:p>
            <a:pPr indent="0" marL="0">
              <a:buNone/>
            </a:pPr>
            <a:r>
              <a:rPr lang="en-US" sz="4000" b="1" dirty="0">
                <a:solidFill>
                  <a:srgbClr val="0F766E"/>
                </a:solidFill>
                <a:latin typeface="Cambria" pitchFamily="34" charset="0"/>
                <a:ea typeface="Cambria" pitchFamily="34" charset="-122"/>
                <a:cs typeface="Cambria" pitchFamily="34" charset="-120"/>
              </a:rPr>
              <a:t>0.1 s</a:t>
            </a:r>
            <a:endParaRPr lang="en-US" sz="4000" dirty="0"/>
          </a:p>
        </p:txBody>
      </p:sp>
      <p:sp>
        <p:nvSpPr>
          <p:cNvPr id="10" name="Text 8"/>
          <p:cNvSpPr txBox="1"/>
          <p:nvPr/>
        </p:nvSpPr>
        <p:spPr>
          <a:xfrm>
            <a:off x="4206240" y="3611880"/>
            <a:ext cx="2743200" cy="548640"/>
          </a:xfrm>
          <a:prstGeom prst="rect">
            <a:avLst/>
          </a:prstGeom>
          <a:noFill/>
          <a:ln/>
        </p:spPr>
        <p:txBody>
          <a:bodyPr wrap="square" lIns="0" tIns="0" rIns="0" bIns="0" rtlCol="0" anchor="t"/>
          <a:lstStyle/>
          <a:p>
            <a:pPr indent="0" marL="0">
              <a:buNone/>
            </a:pPr>
            <a:r>
              <a:rPr lang="en-US" sz="1300" dirty="0">
                <a:solidFill>
                  <a:srgbClr val="5B6675"/>
                </a:solidFill>
                <a:latin typeface="Calibri" pitchFamily="34" charset="0"/>
                <a:ea typeface="Calibri" pitchFamily="34" charset="-122"/>
                <a:cs typeface="Calibri" pitchFamily="34" charset="-120"/>
              </a:rPr>
              <a:t>Vertical delay — in-place CPU resize (KEP-1287)</a:t>
            </a:r>
            <a:endParaRPr lang="en-US" sz="1300" dirty="0"/>
          </a:p>
        </p:txBody>
      </p:sp>
      <p:sp>
        <p:nvSpPr>
          <p:cNvPr id="11" name="Text 9"/>
          <p:cNvSpPr txBox="1"/>
          <p:nvPr/>
        </p:nvSpPr>
        <p:spPr>
          <a:xfrm>
            <a:off x="548640" y="4617720"/>
            <a:ext cx="6583680" cy="822960"/>
          </a:xfrm>
          <a:prstGeom prst="rect">
            <a:avLst/>
          </a:prstGeom>
          <a:noFill/>
          <a:ln/>
        </p:spPr>
        <p:txBody>
          <a:bodyPr wrap="square" lIns="0" tIns="0" rIns="0" bIns="0" rtlCol="0" anchor="t"/>
          <a:lstStyle/>
          <a:p>
            <a:pPr indent="0" marL="0">
              <a:buNone/>
            </a:pPr>
            <a:r>
              <a:rPr lang="en-US" sz="1500" b="1" dirty="0">
                <a:solidFill>
                  <a:srgbClr val="13223A"/>
                </a:solidFill>
                <a:latin typeface="Calibri" pitchFamily="34" charset="0"/>
                <a:ea typeface="Calibri" pitchFamily="34" charset="-122"/>
                <a:cs typeface="Calibri" pitchFamily="34" charset="-120"/>
              </a:rPr>
              <a:t>A 200× delay asymmetry. </a:t>
            </a:r>
            <a:pPr indent="0" marL="0">
              <a:buNone/>
            </a:pPr>
            <a:r>
              <a:rPr lang="en-US" sz="1500" dirty="0">
                <a:solidFill>
                  <a:srgbClr val="1F2937"/>
                </a:solidFill>
                <a:latin typeface="Calibri" pitchFamily="34" charset="0"/>
                <a:ea typeface="Calibri" pitchFamily="34" charset="-122"/>
                <a:cs typeface="Calibri" pitchFamily="34" charset="-120"/>
              </a:rPr>
              <a:t>A controller blind to it either over-shoots while waiting for pods to boot, or oscillates when they all arrive at once.</a:t>
            </a:r>
            <a:endParaRPr lang="en-US" sz="1500" dirty="0"/>
          </a:p>
        </p:txBody>
      </p:sp>
      <p:sp>
        <p:nvSpPr>
          <p:cNvPr id="12" name="Shape 10"/>
          <p:cNvSpPr/>
          <p:nvPr/>
        </p:nvSpPr>
        <p:spPr>
          <a:xfrm>
            <a:off x="7589520" y="1554480"/>
            <a:ext cx="4050792" cy="4480560"/>
          </a:xfrm>
          <a:prstGeom prst="roundRect">
            <a:avLst>
              <a:gd name="adj" fmla="val 1806"/>
            </a:avLst>
          </a:prstGeom>
          <a:solidFill>
            <a:srgbClr val="13223A"/>
          </a:solidFill>
          <a:ln w="12700">
            <a:solidFill>
              <a:srgbClr val="13223A"/>
            </a:solidFill>
            <a:prstDash val="solid"/>
          </a:ln>
        </p:spPr>
      </p:sp>
      <p:sp>
        <p:nvSpPr>
          <p:cNvPr id="13" name="Text 11"/>
          <p:cNvSpPr txBox="1"/>
          <p:nvPr/>
        </p:nvSpPr>
        <p:spPr>
          <a:xfrm>
            <a:off x="7909560" y="1828800"/>
            <a:ext cx="3474720" cy="274320"/>
          </a:xfrm>
          <a:prstGeom prst="rect">
            <a:avLst/>
          </a:prstGeom>
          <a:noFill/>
          <a:ln/>
        </p:spPr>
        <p:txBody>
          <a:bodyPr wrap="square" lIns="0" tIns="0" rIns="0" bIns="0" rtlCol="0" anchor="t"/>
          <a:lstStyle/>
          <a:p>
            <a:pPr indent="0" marL="0">
              <a:buNone/>
            </a:pPr>
            <a:r>
              <a:rPr lang="en-US" sz="1100" b="1" spc="200" kern="0" dirty="0">
                <a:solidFill>
                  <a:srgbClr val="E3A646"/>
                </a:solidFill>
                <a:latin typeface="Calibri" pitchFamily="34" charset="0"/>
                <a:ea typeface="Calibri" pitchFamily="34" charset="-122"/>
                <a:cs typeface="Calibri" pitchFamily="34" charset="-120"/>
              </a:rPr>
              <a:t>RESEARCH QUESTION</a:t>
            </a:r>
            <a:endParaRPr lang="en-US" sz="1100" dirty="0"/>
          </a:p>
        </p:txBody>
      </p:sp>
      <p:sp>
        <p:nvSpPr>
          <p:cNvPr id="14" name="Text 12"/>
          <p:cNvSpPr txBox="1"/>
          <p:nvPr/>
        </p:nvSpPr>
        <p:spPr>
          <a:xfrm>
            <a:off x="7909560" y="2194560"/>
            <a:ext cx="3474720" cy="1828800"/>
          </a:xfrm>
          <a:prstGeom prst="rect">
            <a:avLst/>
          </a:prstGeom>
          <a:noFill/>
          <a:ln/>
        </p:spPr>
        <p:txBody>
          <a:bodyPr wrap="square" lIns="0" tIns="0" rIns="0" bIns="0" rtlCol="0" anchor="t"/>
          <a:lstStyle/>
          <a:p>
            <a:pPr indent="0" marL="0">
              <a:buNone/>
            </a:pPr>
            <a:r>
              <a:rPr lang="en-US" sz="1800" dirty="0">
                <a:solidFill>
                  <a:srgbClr val="FFFFFF"/>
                </a:solidFill>
                <a:latin typeface="Cambria" pitchFamily="34" charset="0"/>
                <a:ea typeface="Cambria" pitchFamily="34" charset="-122"/>
                <a:cs typeface="Cambria" pitchFamily="34" charset="-120"/>
              </a:rPr>
              <a:t>Can both actuators be driven by a single optimal control law that explicitly models the delay mismatch — instead of two heuristic loops that fight?</a:t>
            </a:r>
            <a:endParaRPr lang="en-US" sz="1800" dirty="0"/>
          </a:p>
        </p:txBody>
      </p:sp>
      <p:sp>
        <p:nvSpPr>
          <p:cNvPr id="15" name="Text 13"/>
          <p:cNvSpPr txBox="1"/>
          <p:nvPr/>
        </p:nvSpPr>
        <p:spPr>
          <a:xfrm>
            <a:off x="7909560" y="4160520"/>
            <a:ext cx="3474720" cy="1645920"/>
          </a:xfrm>
          <a:prstGeom prst="rect">
            <a:avLst/>
          </a:prstGeom>
          <a:noFill/>
          <a:ln/>
        </p:spPr>
        <p:txBody>
          <a:bodyPr wrap="square" lIns="0" tIns="0" rIns="0" bIns="0" rtlCol="0" anchor="t"/>
          <a:lstStyle/>
          <a:p>
            <a:pPr indent="0" marL="0">
              <a:buNone/>
            </a:pPr>
            <a:r>
              <a:rPr lang="en-US" sz="1300" b="1" dirty="0">
                <a:solidFill>
                  <a:srgbClr val="E3A646"/>
                </a:solidFill>
                <a:latin typeface="Calibri" pitchFamily="34" charset="0"/>
                <a:ea typeface="Calibri" pitchFamily="34" charset="-122"/>
                <a:cs typeface="Calibri" pitchFamily="34" charset="-120"/>
              </a:rPr>
              <a:t>Target</a:t>
            </a:r>
            <a:endParaRPr lang="en-US" sz="1300" dirty="0"/>
          </a:p>
          <a:p>
            <a:pPr indent="0" marL="0">
              <a:buNone/>
            </a:pPr>
            <a:r>
              <a:rPr lang="en-US" sz="1300" dirty="0">
                <a:solidFill>
                  <a:srgbClr val="CADCFC"/>
                </a:solidFill>
                <a:latin typeface="Calibri" pitchFamily="34" charset="0"/>
                <a:ea typeface="Calibri" pitchFamily="34" charset="-122"/>
                <a:cs typeface="Calibri" pitchFamily="34" charset="-120"/>
              </a:rPr>
              <a:t>Coordinate v (CPU per pod) and h (replica count)</a:t>
            </a:r>
            <a:endParaRPr lang="en-US" sz="1300" dirty="0"/>
          </a:p>
          <a:p>
            <a:pPr indent="0" marL="0">
              <a:buNone/>
            </a:pPr>
            <a:r>
              <a:rPr lang="en-US" sz="600" dirty="0">
                <a:solidFill>
                  <a:srgbClr val="CADCFC"/>
                </a:solidFill>
                <a:latin typeface="Calibri" pitchFamily="34" charset="0"/>
                <a:ea typeface="Calibri" pitchFamily="34" charset="-122"/>
                <a:cs typeface="Calibri" pitchFamily="34" charset="-120"/>
              </a:rPr>
              <a:t> </a:t>
            </a:r>
            <a:endParaRPr lang="en-US" sz="1300" dirty="0"/>
          </a:p>
          <a:p>
            <a:pPr indent="0" marL="0">
              <a:buNone/>
            </a:pPr>
            <a:r>
              <a:rPr lang="en-US" sz="1300" b="1" dirty="0">
                <a:solidFill>
                  <a:srgbClr val="E3A646"/>
                </a:solidFill>
                <a:latin typeface="Calibri" pitchFamily="34" charset="0"/>
                <a:ea typeface="Calibri" pitchFamily="34" charset="-122"/>
                <a:cs typeface="Calibri" pitchFamily="34" charset="-120"/>
              </a:rPr>
              <a:t>Constraint</a:t>
            </a:r>
            <a:endParaRPr lang="en-US" sz="1300" dirty="0"/>
          </a:p>
          <a:p>
            <a:pPr indent="0" marL="0">
              <a:buNone/>
            </a:pPr>
            <a:r>
              <a:rPr lang="en-US" sz="1300" dirty="0">
                <a:solidFill>
                  <a:srgbClr val="CADCFC"/>
                </a:solidFill>
                <a:latin typeface="Calibri" pitchFamily="34" charset="0"/>
                <a:ea typeface="Calibri" pitchFamily="34" charset="-122"/>
                <a:cs typeface="Calibri" pitchFamily="34" charset="-120"/>
              </a:rPr>
              <a:t>Meet a 500 ms latency SLO at minimum resource cost</a:t>
            </a:r>
            <a:endParaRPr lang="en-US" sz="1300" dirty="0"/>
          </a:p>
        </p:txBody>
      </p:sp>
      <p:sp>
        <p:nvSpPr>
          <p:cNvPr id="16" name="Text 14"/>
          <p:cNvSpPr txBox="1"/>
          <p:nvPr/>
        </p:nvSpPr>
        <p:spPr>
          <a:xfrm>
            <a:off x="548640" y="6419088"/>
            <a:ext cx="8229600" cy="228600"/>
          </a:xfrm>
          <a:prstGeom prst="rect">
            <a:avLst/>
          </a:prstGeom>
          <a:noFill/>
          <a:ln/>
        </p:spPr>
        <p:txBody>
          <a:bodyPr wrap="square" lIns="0" tIns="0" rIns="0" bIns="0" rtlCol="0" anchor="t"/>
          <a:lstStyle/>
          <a:p>
            <a:pPr indent="0" marL="0">
              <a:buNone/>
            </a:pPr>
            <a:r>
              <a:rPr lang="en-US" sz="900" dirty="0">
                <a:solidFill>
                  <a:srgbClr val="8A94A3"/>
                </a:solidFill>
                <a:latin typeface="Calibri" pitchFamily="34" charset="0"/>
                <a:ea typeface="Calibri" pitchFamily="34" charset="-122"/>
                <a:cs typeface="Calibri" pitchFamily="34" charset="-120"/>
              </a:rPr>
              <a:t>VIT Vellore  ·  BCSE303P Operating Systems Laboratory  ·  CHIMERA  ·  Review 2</a:t>
            </a:r>
            <a:endParaRPr lang="en-US" sz="900" dirty="0"/>
          </a:p>
        </p:txBody>
      </p:sp>
      <p:sp>
        <p:nvSpPr>
          <p:cNvPr id="17" name="Text 15"/>
          <p:cNvSpPr txBox="1"/>
          <p:nvPr/>
        </p:nvSpPr>
        <p:spPr>
          <a:xfrm>
            <a:off x="10725912" y="6419088"/>
            <a:ext cx="914400" cy="228600"/>
          </a:xfrm>
          <a:prstGeom prst="rect">
            <a:avLst/>
          </a:prstGeom>
          <a:noFill/>
          <a:ln/>
        </p:spPr>
        <p:txBody>
          <a:bodyPr wrap="square" lIns="0" tIns="0" rIns="0" bIns="0" rtlCol="0" anchor="t"/>
          <a:lstStyle/>
          <a:p>
            <a:pPr algn="r" indent="0" marL="0">
              <a:buNone/>
            </a:pPr>
            <a:r>
              <a:rPr lang="en-US" sz="900" dirty="0">
                <a:solidFill>
                  <a:srgbClr val="8A94A3"/>
                </a:solidFill>
                <a:latin typeface="Calibri" pitchFamily="34" charset="0"/>
                <a:ea typeface="Calibri" pitchFamily="34" charset="-122"/>
                <a:cs typeface="Calibri" pitchFamily="34" charset="-120"/>
              </a:rPr>
              <a:t>3 / 21</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300" kern="0" dirty="0">
                <a:solidFill>
                  <a:srgbClr val="C7811A"/>
                </a:solidFill>
                <a:latin typeface="Calibri" pitchFamily="34" charset="0"/>
                <a:ea typeface="Calibri" pitchFamily="34" charset="-122"/>
                <a:cs typeface="Calibri" pitchFamily="34" charset="-120"/>
              </a:rPr>
              <a:t>SYSTEM DESIGN &amp; ARCHITECTURE</a:t>
            </a:r>
            <a:endParaRPr lang="en-US" sz="11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rgbClr val="13223A"/>
                </a:solidFill>
                <a:latin typeface="Cambria" pitchFamily="34" charset="0"/>
                <a:ea typeface="Cambria" pitchFamily="34" charset="-122"/>
                <a:cs typeface="Cambria" pitchFamily="34" charset="-120"/>
              </a:rPr>
              <a:t>Three pipelines, one control loop every 15 seconds</a:t>
            </a:r>
            <a:endParaRPr lang="en-US" sz="3000" dirty="0"/>
          </a:p>
        </p:txBody>
      </p:sp>
      <p:sp>
        <p:nvSpPr>
          <p:cNvPr id="4" name="Shape 2"/>
          <p:cNvSpPr/>
          <p:nvPr/>
        </p:nvSpPr>
        <p:spPr>
          <a:xfrm>
            <a:off x="548640" y="1554480"/>
            <a:ext cx="11091672" cy="1005840"/>
          </a:xfrm>
          <a:prstGeom prst="roundRect">
            <a:avLst>
              <a:gd name="adj" fmla="val 7273"/>
            </a:avLst>
          </a:prstGeom>
          <a:solidFill>
            <a:srgbClr val="EEF3FD"/>
          </a:solidFill>
          <a:ln w="12700">
            <a:solidFill>
              <a:srgbClr val="EEF3FD"/>
            </a:solidFill>
            <a:prstDash val="solid"/>
          </a:ln>
        </p:spPr>
      </p:sp>
      <p:sp>
        <p:nvSpPr>
          <p:cNvPr id="5" name="Text 3"/>
          <p:cNvSpPr txBox="1"/>
          <p:nvPr/>
        </p:nvSpPr>
        <p:spPr>
          <a:xfrm>
            <a:off x="731520" y="1554480"/>
            <a:ext cx="1371600" cy="1005840"/>
          </a:xfrm>
          <a:prstGeom prst="rect">
            <a:avLst/>
          </a:prstGeom>
          <a:noFill/>
          <a:ln/>
        </p:spPr>
        <p:txBody>
          <a:bodyPr wrap="square" lIns="0" tIns="0" rIns="0" bIns="0" rtlCol="0" anchor="ctr"/>
          <a:lstStyle/>
          <a:p>
            <a:pPr indent="0" marL="0">
              <a:buNone/>
            </a:pPr>
            <a:r>
              <a:rPr lang="en-US" sz="1100" b="1" spc="100" kern="0" dirty="0">
                <a:solidFill>
                  <a:srgbClr val="2563EB"/>
                </a:solidFill>
                <a:latin typeface="Calibri" pitchFamily="34" charset="0"/>
                <a:ea typeface="Calibri" pitchFamily="34" charset="-122"/>
                <a:cs typeface="Calibri" pitchFamily="34" charset="-120"/>
              </a:rPr>
              <a:t>1 · PREDICTION</a:t>
            </a:r>
            <a:endParaRPr lang="en-US" sz="1100" dirty="0"/>
          </a:p>
        </p:txBody>
      </p:sp>
      <p:sp>
        <p:nvSpPr>
          <p:cNvPr id="6" name="Shape 4"/>
          <p:cNvSpPr/>
          <p:nvPr/>
        </p:nvSpPr>
        <p:spPr>
          <a:xfrm>
            <a:off x="2148840" y="1728216"/>
            <a:ext cx="1600200" cy="658368"/>
          </a:xfrm>
          <a:prstGeom prst="roundRect">
            <a:avLst>
              <a:gd name="adj" fmla="val 8333"/>
            </a:avLst>
          </a:prstGeom>
          <a:solidFill>
            <a:srgbClr val="FFFFFF"/>
          </a:solidFill>
          <a:ln w="12700">
            <a:solidFill>
              <a:srgbClr val="D9DEE5"/>
            </a:solidFill>
            <a:prstDash val="solid"/>
          </a:ln>
        </p:spPr>
      </p:sp>
      <p:sp>
        <p:nvSpPr>
          <p:cNvPr id="7" name="Text 5"/>
          <p:cNvSpPr txBox="1"/>
          <p:nvPr/>
        </p:nvSpPr>
        <p:spPr>
          <a:xfrm>
            <a:off x="2194560" y="1728216"/>
            <a:ext cx="1508760" cy="658368"/>
          </a:xfrm>
          <a:prstGeom prst="rect">
            <a:avLst/>
          </a:prstGeom>
          <a:noFill/>
          <a:ln/>
        </p:spPr>
        <p:txBody>
          <a:bodyPr wrap="square" lIns="0" tIns="0" rIns="0" bIns="0" rtlCol="0" anchor="ctr"/>
          <a:lstStyle/>
          <a:p>
            <a:pPr algn="ctr" indent="0" marL="0">
              <a:buNone/>
            </a:pPr>
            <a:r>
              <a:rPr lang="en-US" sz="1150" b="1" dirty="0">
                <a:solidFill>
                  <a:srgbClr val="1F2937"/>
                </a:solidFill>
                <a:latin typeface="Calibri" pitchFamily="34" charset="0"/>
                <a:ea typeface="Calibri" pitchFamily="34" charset="-122"/>
                <a:cs typeface="Calibri" pitchFamily="34" charset="-120"/>
              </a:rPr>
              <a:t>Workload trace</a:t>
            </a:r>
            <a:endParaRPr lang="en-US" sz="1150" dirty="0"/>
          </a:p>
          <a:p>
            <a:pPr algn="ctr" indent="0" marL="0">
              <a:buNone/>
            </a:pPr>
            <a:r>
              <a:rPr lang="en-US" sz="900" dirty="0">
                <a:solidFill>
                  <a:srgbClr val="5B6675"/>
                </a:solidFill>
                <a:latin typeface="Calibri" pitchFamily="34" charset="0"/>
                <a:ea typeface="Calibri" pitchFamily="34" charset="-122"/>
                <a:cs typeface="Calibri" pitchFamily="34" charset="-120"/>
              </a:rPr>
              <a:t>Azure Functions</a:t>
            </a:r>
            <a:endParaRPr lang="en-US" sz="1150" dirty="0"/>
          </a:p>
        </p:txBody>
      </p:sp>
      <p:sp>
        <p:nvSpPr>
          <p:cNvPr id="8" name="Shape 6"/>
          <p:cNvSpPr/>
          <p:nvPr/>
        </p:nvSpPr>
        <p:spPr>
          <a:xfrm>
            <a:off x="3776472" y="2057400"/>
            <a:ext cx="274320" cy="0"/>
          </a:xfrm>
          <a:prstGeom prst="line">
            <a:avLst/>
          </a:prstGeom>
          <a:noFill/>
          <a:ln w="22225">
            <a:solidFill>
              <a:srgbClr val="8A94A3"/>
            </a:solidFill>
            <a:prstDash val="solid"/>
            <a:tailEnd type="triangle"/>
          </a:ln>
        </p:spPr>
      </p:sp>
      <p:sp>
        <p:nvSpPr>
          <p:cNvPr id="9" name="Shape 7"/>
          <p:cNvSpPr/>
          <p:nvPr/>
        </p:nvSpPr>
        <p:spPr>
          <a:xfrm>
            <a:off x="4078224" y="1728216"/>
            <a:ext cx="1600200" cy="658368"/>
          </a:xfrm>
          <a:prstGeom prst="roundRect">
            <a:avLst>
              <a:gd name="adj" fmla="val 8333"/>
            </a:avLst>
          </a:prstGeom>
          <a:solidFill>
            <a:srgbClr val="FFFFFF"/>
          </a:solidFill>
          <a:ln w="12700">
            <a:solidFill>
              <a:srgbClr val="D9DEE5"/>
            </a:solidFill>
            <a:prstDash val="solid"/>
          </a:ln>
        </p:spPr>
      </p:sp>
      <p:sp>
        <p:nvSpPr>
          <p:cNvPr id="10" name="Text 8"/>
          <p:cNvSpPr txBox="1"/>
          <p:nvPr/>
        </p:nvSpPr>
        <p:spPr>
          <a:xfrm>
            <a:off x="4123944" y="1728216"/>
            <a:ext cx="1508760" cy="658368"/>
          </a:xfrm>
          <a:prstGeom prst="rect">
            <a:avLst/>
          </a:prstGeom>
          <a:noFill/>
          <a:ln/>
        </p:spPr>
        <p:txBody>
          <a:bodyPr wrap="square" lIns="0" tIns="0" rIns="0" bIns="0" rtlCol="0" anchor="ctr"/>
          <a:lstStyle/>
          <a:p>
            <a:pPr algn="ctr" indent="0" marL="0">
              <a:buNone/>
            </a:pPr>
            <a:r>
              <a:rPr lang="en-US" sz="1150" b="1" dirty="0">
                <a:solidFill>
                  <a:srgbClr val="1F2937"/>
                </a:solidFill>
                <a:latin typeface="Calibri" pitchFamily="34" charset="0"/>
                <a:ea typeface="Calibri" pitchFamily="34" charset="-122"/>
                <a:cs typeface="Calibri" pitchFamily="34" charset="-120"/>
              </a:rPr>
              <a:t>Feature extractor</a:t>
            </a:r>
            <a:endParaRPr lang="en-US" sz="1150" dirty="0"/>
          </a:p>
          <a:p>
            <a:pPr algn="ctr" indent="0" marL="0">
              <a:buNone/>
            </a:pPr>
            <a:r>
              <a:rPr lang="en-US" sz="900" dirty="0">
                <a:solidFill>
                  <a:srgbClr val="5B6675"/>
                </a:solidFill>
                <a:latin typeface="Calibri" pitchFamily="34" charset="0"/>
                <a:ea typeface="Calibri" pitchFamily="34" charset="-122"/>
                <a:cs typeface="Calibri" pitchFamily="34" charset="-120"/>
              </a:rPr>
              <a:t>11 rolling stats</a:t>
            </a:r>
            <a:endParaRPr lang="en-US" sz="1150" dirty="0"/>
          </a:p>
        </p:txBody>
      </p:sp>
      <p:sp>
        <p:nvSpPr>
          <p:cNvPr id="11" name="Shape 9"/>
          <p:cNvSpPr/>
          <p:nvPr/>
        </p:nvSpPr>
        <p:spPr>
          <a:xfrm>
            <a:off x="5705856" y="2057400"/>
            <a:ext cx="274320" cy="0"/>
          </a:xfrm>
          <a:prstGeom prst="line">
            <a:avLst/>
          </a:prstGeom>
          <a:noFill/>
          <a:ln w="22225">
            <a:solidFill>
              <a:srgbClr val="8A94A3"/>
            </a:solidFill>
            <a:prstDash val="solid"/>
            <a:tailEnd type="triangle"/>
          </a:ln>
        </p:spPr>
      </p:sp>
      <p:sp>
        <p:nvSpPr>
          <p:cNvPr id="12" name="Shape 10"/>
          <p:cNvSpPr/>
          <p:nvPr/>
        </p:nvSpPr>
        <p:spPr>
          <a:xfrm>
            <a:off x="6007608" y="1728216"/>
            <a:ext cx="1600200" cy="658368"/>
          </a:xfrm>
          <a:prstGeom prst="roundRect">
            <a:avLst>
              <a:gd name="adj" fmla="val 8333"/>
            </a:avLst>
          </a:prstGeom>
          <a:solidFill>
            <a:srgbClr val="FFFFFF"/>
          </a:solidFill>
          <a:ln w="12700">
            <a:solidFill>
              <a:srgbClr val="D9DEE5"/>
            </a:solidFill>
            <a:prstDash val="solid"/>
          </a:ln>
        </p:spPr>
      </p:sp>
      <p:sp>
        <p:nvSpPr>
          <p:cNvPr id="13" name="Text 11"/>
          <p:cNvSpPr txBox="1"/>
          <p:nvPr/>
        </p:nvSpPr>
        <p:spPr>
          <a:xfrm>
            <a:off x="6053328" y="1728216"/>
            <a:ext cx="1508760" cy="658368"/>
          </a:xfrm>
          <a:prstGeom prst="rect">
            <a:avLst/>
          </a:prstGeom>
          <a:noFill/>
          <a:ln/>
        </p:spPr>
        <p:txBody>
          <a:bodyPr wrap="square" lIns="0" tIns="0" rIns="0" bIns="0" rtlCol="0" anchor="ctr"/>
          <a:lstStyle/>
          <a:p>
            <a:pPr algn="ctr" indent="0" marL="0">
              <a:buNone/>
            </a:pPr>
            <a:r>
              <a:rPr lang="en-US" sz="1150" b="1" dirty="0">
                <a:solidFill>
                  <a:srgbClr val="1F2937"/>
                </a:solidFill>
                <a:latin typeface="Calibri" pitchFamily="34" charset="0"/>
                <a:ea typeface="Calibri" pitchFamily="34" charset="-122"/>
                <a:cs typeface="Calibri" pitchFamily="34" charset="-120"/>
              </a:rPr>
              <a:t>CQR forecast</a:t>
            </a:r>
            <a:endParaRPr lang="en-US" sz="1150" dirty="0"/>
          </a:p>
          <a:p>
            <a:pPr algn="ctr" indent="0" marL="0">
              <a:buNone/>
            </a:pPr>
            <a:r>
              <a:rPr lang="en-US" sz="900" dirty="0">
                <a:solidFill>
                  <a:srgbClr val="5B6675"/>
                </a:solidFill>
                <a:latin typeface="Calibri" pitchFamily="34" charset="0"/>
                <a:ea typeface="Calibri" pitchFamily="34" charset="-122"/>
                <a:cs typeface="Calibri" pitchFamily="34" charset="-120"/>
              </a:rPr>
              <a:t>load + interval</a:t>
            </a:r>
            <a:endParaRPr lang="en-US" sz="1150" dirty="0"/>
          </a:p>
        </p:txBody>
      </p:sp>
      <p:sp>
        <p:nvSpPr>
          <p:cNvPr id="14" name="Shape 12"/>
          <p:cNvSpPr/>
          <p:nvPr/>
        </p:nvSpPr>
        <p:spPr>
          <a:xfrm>
            <a:off x="7635240" y="2057400"/>
            <a:ext cx="274320" cy="0"/>
          </a:xfrm>
          <a:prstGeom prst="line">
            <a:avLst/>
          </a:prstGeom>
          <a:noFill/>
          <a:ln w="22225">
            <a:solidFill>
              <a:srgbClr val="8A94A3"/>
            </a:solidFill>
            <a:prstDash val="solid"/>
            <a:tailEnd type="triangle"/>
          </a:ln>
        </p:spPr>
      </p:sp>
      <p:sp>
        <p:nvSpPr>
          <p:cNvPr id="15" name="Shape 13"/>
          <p:cNvSpPr/>
          <p:nvPr/>
        </p:nvSpPr>
        <p:spPr>
          <a:xfrm>
            <a:off x="7936992" y="1728216"/>
            <a:ext cx="1600200" cy="658368"/>
          </a:xfrm>
          <a:prstGeom prst="roundRect">
            <a:avLst>
              <a:gd name="adj" fmla="val 8333"/>
            </a:avLst>
          </a:prstGeom>
          <a:solidFill>
            <a:srgbClr val="FFFFFF"/>
          </a:solidFill>
          <a:ln w="12700">
            <a:solidFill>
              <a:srgbClr val="D9DEE5"/>
            </a:solidFill>
            <a:prstDash val="solid"/>
          </a:ln>
        </p:spPr>
      </p:sp>
      <p:sp>
        <p:nvSpPr>
          <p:cNvPr id="16" name="Text 14"/>
          <p:cNvSpPr txBox="1"/>
          <p:nvPr/>
        </p:nvSpPr>
        <p:spPr>
          <a:xfrm>
            <a:off x="7982712" y="1728216"/>
            <a:ext cx="1508760" cy="658368"/>
          </a:xfrm>
          <a:prstGeom prst="rect">
            <a:avLst/>
          </a:prstGeom>
          <a:noFill/>
          <a:ln/>
        </p:spPr>
        <p:txBody>
          <a:bodyPr wrap="square" lIns="0" tIns="0" rIns="0" bIns="0" rtlCol="0" anchor="ctr"/>
          <a:lstStyle/>
          <a:p>
            <a:pPr algn="ctr" indent="0" marL="0">
              <a:buNone/>
            </a:pPr>
            <a:r>
              <a:rPr lang="en-US" sz="1150" b="1" dirty="0">
                <a:solidFill>
                  <a:srgbClr val="1F2937"/>
                </a:solidFill>
                <a:latin typeface="Calibri" pitchFamily="34" charset="0"/>
                <a:ea typeface="Calibri" pitchFamily="34" charset="-122"/>
                <a:cs typeface="Calibri" pitchFamily="34" charset="-120"/>
              </a:rPr>
              <a:t>ADWIN</a:t>
            </a:r>
            <a:endParaRPr lang="en-US" sz="1150" dirty="0"/>
          </a:p>
          <a:p>
            <a:pPr algn="ctr" indent="0" marL="0">
              <a:buNone/>
            </a:pPr>
            <a:r>
              <a:rPr lang="en-US" sz="900" dirty="0">
                <a:solidFill>
                  <a:srgbClr val="5B6675"/>
                </a:solidFill>
                <a:latin typeface="Calibri" pitchFamily="34" charset="0"/>
                <a:ea typeface="Calibri" pitchFamily="34" charset="-122"/>
                <a:cs typeface="Calibri" pitchFamily="34" charset="-120"/>
              </a:rPr>
              <a:t>drift monitor</a:t>
            </a:r>
            <a:endParaRPr lang="en-US" sz="1150" dirty="0"/>
          </a:p>
        </p:txBody>
      </p:sp>
      <p:sp>
        <p:nvSpPr>
          <p:cNvPr id="17" name="Shape 15"/>
          <p:cNvSpPr/>
          <p:nvPr/>
        </p:nvSpPr>
        <p:spPr>
          <a:xfrm>
            <a:off x="548640" y="2971800"/>
            <a:ext cx="11091672" cy="1005840"/>
          </a:xfrm>
          <a:prstGeom prst="roundRect">
            <a:avLst>
              <a:gd name="adj" fmla="val 7273"/>
            </a:avLst>
          </a:prstGeom>
          <a:solidFill>
            <a:srgbClr val="FDF5E8"/>
          </a:solidFill>
          <a:ln w="12700">
            <a:solidFill>
              <a:srgbClr val="FDF5E8"/>
            </a:solidFill>
            <a:prstDash val="solid"/>
          </a:ln>
        </p:spPr>
      </p:sp>
      <p:sp>
        <p:nvSpPr>
          <p:cNvPr id="18" name="Text 16"/>
          <p:cNvSpPr txBox="1"/>
          <p:nvPr/>
        </p:nvSpPr>
        <p:spPr>
          <a:xfrm>
            <a:off x="731520" y="2971800"/>
            <a:ext cx="1371600" cy="1005840"/>
          </a:xfrm>
          <a:prstGeom prst="rect">
            <a:avLst/>
          </a:prstGeom>
          <a:noFill/>
          <a:ln/>
        </p:spPr>
        <p:txBody>
          <a:bodyPr wrap="square" lIns="0" tIns="0" rIns="0" bIns="0" rtlCol="0" anchor="ctr"/>
          <a:lstStyle/>
          <a:p>
            <a:pPr indent="0" marL="0">
              <a:buNone/>
            </a:pPr>
            <a:r>
              <a:rPr lang="en-US" sz="1100" b="1" spc="100" kern="0" dirty="0">
                <a:solidFill>
                  <a:srgbClr val="C7811A"/>
                </a:solidFill>
                <a:latin typeface="Calibri" pitchFamily="34" charset="0"/>
                <a:ea typeface="Calibri" pitchFamily="34" charset="-122"/>
                <a:cs typeface="Calibri" pitchFamily="34" charset="-120"/>
              </a:rPr>
              <a:t>2 · CONTROL</a:t>
            </a:r>
            <a:endParaRPr lang="en-US" sz="1100" dirty="0"/>
          </a:p>
        </p:txBody>
      </p:sp>
      <p:sp>
        <p:nvSpPr>
          <p:cNvPr id="19" name="Shape 17"/>
          <p:cNvSpPr/>
          <p:nvPr/>
        </p:nvSpPr>
        <p:spPr>
          <a:xfrm>
            <a:off x="2148840" y="3145536"/>
            <a:ext cx="1600200" cy="658368"/>
          </a:xfrm>
          <a:prstGeom prst="roundRect">
            <a:avLst>
              <a:gd name="adj" fmla="val 8333"/>
            </a:avLst>
          </a:prstGeom>
          <a:solidFill>
            <a:srgbClr val="FFFFFF"/>
          </a:solidFill>
          <a:ln w="12700">
            <a:solidFill>
              <a:srgbClr val="D9DEE5"/>
            </a:solidFill>
            <a:prstDash val="solid"/>
          </a:ln>
        </p:spPr>
      </p:sp>
      <p:sp>
        <p:nvSpPr>
          <p:cNvPr id="20" name="Text 18"/>
          <p:cNvSpPr txBox="1"/>
          <p:nvPr/>
        </p:nvSpPr>
        <p:spPr>
          <a:xfrm>
            <a:off x="2194560" y="3145536"/>
            <a:ext cx="1508760" cy="658368"/>
          </a:xfrm>
          <a:prstGeom prst="rect">
            <a:avLst/>
          </a:prstGeom>
          <a:noFill/>
          <a:ln/>
        </p:spPr>
        <p:txBody>
          <a:bodyPr wrap="square" lIns="0" tIns="0" rIns="0" bIns="0" rtlCol="0" anchor="ctr"/>
          <a:lstStyle/>
          <a:p>
            <a:pPr algn="ctr" indent="0" marL="0">
              <a:buNone/>
            </a:pPr>
            <a:r>
              <a:rPr lang="en-US" sz="1150" b="1" dirty="0">
                <a:solidFill>
                  <a:srgbClr val="1F2937"/>
                </a:solidFill>
                <a:latin typeface="Calibri" pitchFamily="34" charset="0"/>
                <a:ea typeface="Calibri" pitchFamily="34" charset="-122"/>
                <a:cs typeface="Calibri" pitchFamily="34" charset="-120"/>
              </a:rPr>
              <a:t>Target split</a:t>
            </a:r>
            <a:endParaRPr lang="en-US" sz="1150" dirty="0"/>
          </a:p>
          <a:p>
            <a:pPr algn="ctr" indent="0" marL="0">
              <a:buNone/>
            </a:pPr>
            <a:r>
              <a:rPr lang="en-US" sz="900" dirty="0">
                <a:solidFill>
                  <a:srgbClr val="5B6675"/>
                </a:solidFill>
                <a:latin typeface="Calibri" pitchFamily="34" charset="0"/>
                <a:ea typeface="Calibri" pitchFamily="34" charset="-122"/>
                <a:cs typeface="Calibri" pitchFamily="34" charset="-120"/>
              </a:rPr>
              <a:t>x* = [v*, h*]</a:t>
            </a:r>
            <a:endParaRPr lang="en-US" sz="1150" dirty="0"/>
          </a:p>
        </p:txBody>
      </p:sp>
      <p:sp>
        <p:nvSpPr>
          <p:cNvPr id="21" name="Shape 19"/>
          <p:cNvSpPr/>
          <p:nvPr/>
        </p:nvSpPr>
        <p:spPr>
          <a:xfrm>
            <a:off x="3776472" y="3474720"/>
            <a:ext cx="274320" cy="0"/>
          </a:xfrm>
          <a:prstGeom prst="line">
            <a:avLst/>
          </a:prstGeom>
          <a:noFill/>
          <a:ln w="22225">
            <a:solidFill>
              <a:srgbClr val="8A94A3"/>
            </a:solidFill>
            <a:prstDash val="solid"/>
            <a:tailEnd type="triangle"/>
          </a:ln>
        </p:spPr>
      </p:sp>
      <p:sp>
        <p:nvSpPr>
          <p:cNvPr id="22" name="Shape 20"/>
          <p:cNvSpPr/>
          <p:nvPr/>
        </p:nvSpPr>
        <p:spPr>
          <a:xfrm>
            <a:off x="4078224" y="3145536"/>
            <a:ext cx="1600200" cy="658368"/>
          </a:xfrm>
          <a:prstGeom prst="roundRect">
            <a:avLst>
              <a:gd name="adj" fmla="val 8333"/>
            </a:avLst>
          </a:prstGeom>
          <a:solidFill>
            <a:srgbClr val="FFFFFF"/>
          </a:solidFill>
          <a:ln w="12700">
            <a:solidFill>
              <a:srgbClr val="D9DEE5"/>
            </a:solidFill>
            <a:prstDash val="solid"/>
          </a:ln>
        </p:spPr>
      </p:sp>
      <p:sp>
        <p:nvSpPr>
          <p:cNvPr id="23" name="Text 21"/>
          <p:cNvSpPr txBox="1"/>
          <p:nvPr/>
        </p:nvSpPr>
        <p:spPr>
          <a:xfrm>
            <a:off x="4123944" y="3145536"/>
            <a:ext cx="1508760" cy="658368"/>
          </a:xfrm>
          <a:prstGeom prst="rect">
            <a:avLst/>
          </a:prstGeom>
          <a:noFill/>
          <a:ln/>
        </p:spPr>
        <p:txBody>
          <a:bodyPr wrap="square" lIns="0" tIns="0" rIns="0" bIns="0" rtlCol="0" anchor="ctr"/>
          <a:lstStyle/>
          <a:p>
            <a:pPr algn="ctr" indent="0" marL="0">
              <a:buNone/>
            </a:pPr>
            <a:r>
              <a:rPr lang="en-US" sz="1150" b="1" dirty="0">
                <a:solidFill>
                  <a:srgbClr val="1F2937"/>
                </a:solidFill>
                <a:latin typeface="Calibri" pitchFamily="34" charset="0"/>
                <a:ea typeface="Calibri" pitchFamily="34" charset="-122"/>
                <a:cs typeface="Calibri" pitchFamily="34" charset="-120"/>
              </a:rPr>
              <a:t>EMA smoothing</a:t>
            </a:r>
            <a:endParaRPr lang="en-US" sz="1150" dirty="0"/>
          </a:p>
          <a:p>
            <a:pPr algn="ctr" indent="0" marL="0">
              <a:buNone/>
            </a:pPr>
            <a:r>
              <a:rPr lang="en-US" sz="900" dirty="0">
                <a:solidFill>
                  <a:srgbClr val="5B6675"/>
                </a:solidFill>
                <a:latin typeface="Calibri" pitchFamily="34" charset="0"/>
                <a:ea typeface="Calibri" pitchFamily="34" charset="-122"/>
                <a:cs typeface="Calibri" pitchFamily="34" charset="-120"/>
              </a:rPr>
              <a:t>anti-chatter</a:t>
            </a:r>
            <a:endParaRPr lang="en-US" sz="1150" dirty="0"/>
          </a:p>
        </p:txBody>
      </p:sp>
      <p:sp>
        <p:nvSpPr>
          <p:cNvPr id="24" name="Shape 22"/>
          <p:cNvSpPr/>
          <p:nvPr/>
        </p:nvSpPr>
        <p:spPr>
          <a:xfrm>
            <a:off x="5705856" y="3474720"/>
            <a:ext cx="274320" cy="0"/>
          </a:xfrm>
          <a:prstGeom prst="line">
            <a:avLst/>
          </a:prstGeom>
          <a:noFill/>
          <a:ln w="22225">
            <a:solidFill>
              <a:srgbClr val="8A94A3"/>
            </a:solidFill>
            <a:prstDash val="solid"/>
            <a:tailEnd type="triangle"/>
          </a:ln>
        </p:spPr>
      </p:sp>
      <p:sp>
        <p:nvSpPr>
          <p:cNvPr id="25" name="Shape 23"/>
          <p:cNvSpPr/>
          <p:nvPr/>
        </p:nvSpPr>
        <p:spPr>
          <a:xfrm>
            <a:off x="6007608" y="3145536"/>
            <a:ext cx="1600200" cy="658368"/>
          </a:xfrm>
          <a:prstGeom prst="roundRect">
            <a:avLst>
              <a:gd name="adj" fmla="val 8333"/>
            </a:avLst>
          </a:prstGeom>
          <a:solidFill>
            <a:srgbClr val="FFF1DA"/>
          </a:solidFill>
          <a:ln w="25400">
            <a:solidFill>
              <a:srgbClr val="C7811A"/>
            </a:solidFill>
            <a:prstDash val="solid"/>
          </a:ln>
        </p:spPr>
      </p:sp>
      <p:sp>
        <p:nvSpPr>
          <p:cNvPr id="26" name="Text 24"/>
          <p:cNvSpPr txBox="1"/>
          <p:nvPr/>
        </p:nvSpPr>
        <p:spPr>
          <a:xfrm>
            <a:off x="6053328" y="3145536"/>
            <a:ext cx="1508760" cy="658368"/>
          </a:xfrm>
          <a:prstGeom prst="rect">
            <a:avLst/>
          </a:prstGeom>
          <a:noFill/>
          <a:ln/>
        </p:spPr>
        <p:txBody>
          <a:bodyPr wrap="square" lIns="0" tIns="0" rIns="0" bIns="0" rtlCol="0" anchor="ctr"/>
          <a:lstStyle/>
          <a:p>
            <a:pPr algn="ctr" indent="0" marL="0">
              <a:buNone/>
            </a:pPr>
            <a:r>
              <a:rPr lang="en-US" sz="1150" b="1" dirty="0">
                <a:solidFill>
                  <a:srgbClr val="1F2937"/>
                </a:solidFill>
                <a:latin typeface="Calibri" pitchFamily="34" charset="0"/>
                <a:ea typeface="Calibri" pitchFamily="34" charset="-122"/>
                <a:cs typeface="Calibri" pitchFamily="34" charset="-120"/>
              </a:rPr>
              <a:t>Augmented error</a:t>
            </a:r>
            <a:endParaRPr lang="en-US" sz="1150" dirty="0"/>
          </a:p>
          <a:p>
            <a:pPr algn="ctr" indent="0" marL="0">
              <a:buNone/>
            </a:pPr>
            <a:r>
              <a:rPr lang="en-US" sz="900" dirty="0">
                <a:solidFill>
                  <a:srgbClr val="5B6675"/>
                </a:solidFill>
                <a:latin typeface="Calibri" pitchFamily="34" charset="0"/>
                <a:ea typeface="Calibri" pitchFamily="34" charset="-122"/>
                <a:cs typeface="Calibri" pitchFamily="34" charset="-120"/>
              </a:rPr>
              <a:t>e = [v−v*, h−h*, dh₋₁, dh₋₂]</a:t>
            </a:r>
            <a:endParaRPr lang="en-US" sz="1150" dirty="0"/>
          </a:p>
        </p:txBody>
      </p:sp>
      <p:sp>
        <p:nvSpPr>
          <p:cNvPr id="27" name="Shape 25"/>
          <p:cNvSpPr/>
          <p:nvPr/>
        </p:nvSpPr>
        <p:spPr>
          <a:xfrm>
            <a:off x="7635240" y="3474720"/>
            <a:ext cx="274320" cy="0"/>
          </a:xfrm>
          <a:prstGeom prst="line">
            <a:avLst/>
          </a:prstGeom>
          <a:noFill/>
          <a:ln w="22225">
            <a:solidFill>
              <a:srgbClr val="8A94A3"/>
            </a:solidFill>
            <a:prstDash val="solid"/>
            <a:tailEnd type="triangle"/>
          </a:ln>
        </p:spPr>
      </p:sp>
      <p:sp>
        <p:nvSpPr>
          <p:cNvPr id="28" name="Shape 26"/>
          <p:cNvSpPr/>
          <p:nvPr/>
        </p:nvSpPr>
        <p:spPr>
          <a:xfrm>
            <a:off x="7936992" y="3145536"/>
            <a:ext cx="1600200" cy="658368"/>
          </a:xfrm>
          <a:prstGeom prst="roundRect">
            <a:avLst>
              <a:gd name="adj" fmla="val 8333"/>
            </a:avLst>
          </a:prstGeom>
          <a:solidFill>
            <a:srgbClr val="FFFFFF"/>
          </a:solidFill>
          <a:ln w="12700">
            <a:solidFill>
              <a:srgbClr val="D9DEE5"/>
            </a:solidFill>
            <a:prstDash val="solid"/>
          </a:ln>
        </p:spPr>
      </p:sp>
      <p:sp>
        <p:nvSpPr>
          <p:cNvPr id="29" name="Text 27"/>
          <p:cNvSpPr txBox="1"/>
          <p:nvPr/>
        </p:nvSpPr>
        <p:spPr>
          <a:xfrm>
            <a:off x="7982712" y="3145536"/>
            <a:ext cx="1508760" cy="658368"/>
          </a:xfrm>
          <a:prstGeom prst="rect">
            <a:avLst/>
          </a:prstGeom>
          <a:noFill/>
          <a:ln/>
        </p:spPr>
        <p:txBody>
          <a:bodyPr wrap="square" lIns="0" tIns="0" rIns="0" bIns="0" rtlCol="0" anchor="ctr"/>
          <a:lstStyle/>
          <a:p>
            <a:pPr algn="ctr" indent="0" marL="0">
              <a:buNone/>
            </a:pPr>
            <a:r>
              <a:rPr lang="en-US" sz="1150" b="1" dirty="0">
                <a:solidFill>
                  <a:srgbClr val="1F2937"/>
                </a:solidFill>
                <a:latin typeface="Calibri" pitchFamily="34" charset="0"/>
                <a:ea typeface="Calibri" pitchFamily="34" charset="-122"/>
                <a:cs typeface="Calibri" pitchFamily="34" charset="-120"/>
              </a:rPr>
              <a:t>LQR gain</a:t>
            </a:r>
            <a:endParaRPr lang="en-US" sz="1150" dirty="0"/>
          </a:p>
          <a:p>
            <a:pPr algn="ctr" indent="0" marL="0">
              <a:buNone/>
            </a:pPr>
            <a:r>
              <a:rPr lang="en-US" sz="900" dirty="0">
                <a:solidFill>
                  <a:srgbClr val="5B6675"/>
                </a:solidFill>
                <a:latin typeface="Calibri" pitchFamily="34" charset="0"/>
                <a:ea typeface="Calibri" pitchFamily="34" charset="-122"/>
                <a:cs typeface="Calibri" pitchFamily="34" charset="-120"/>
              </a:rPr>
              <a:t>u = −K·e  (DARE)</a:t>
            </a:r>
            <a:endParaRPr lang="en-US" sz="1150" dirty="0"/>
          </a:p>
        </p:txBody>
      </p:sp>
      <p:sp>
        <p:nvSpPr>
          <p:cNvPr id="30" name="Shape 28"/>
          <p:cNvSpPr/>
          <p:nvPr/>
        </p:nvSpPr>
        <p:spPr>
          <a:xfrm>
            <a:off x="9564624" y="3474720"/>
            <a:ext cx="274320" cy="0"/>
          </a:xfrm>
          <a:prstGeom prst="line">
            <a:avLst/>
          </a:prstGeom>
          <a:noFill/>
          <a:ln w="22225">
            <a:solidFill>
              <a:srgbClr val="8A94A3"/>
            </a:solidFill>
            <a:prstDash val="solid"/>
            <a:tailEnd type="triangle"/>
          </a:ln>
        </p:spPr>
      </p:sp>
      <p:sp>
        <p:nvSpPr>
          <p:cNvPr id="31" name="Shape 29"/>
          <p:cNvSpPr/>
          <p:nvPr/>
        </p:nvSpPr>
        <p:spPr>
          <a:xfrm>
            <a:off x="9866376" y="3145536"/>
            <a:ext cx="1600200" cy="658368"/>
          </a:xfrm>
          <a:prstGeom prst="roundRect">
            <a:avLst>
              <a:gd name="adj" fmla="val 8333"/>
            </a:avLst>
          </a:prstGeom>
          <a:solidFill>
            <a:srgbClr val="FFFFFF"/>
          </a:solidFill>
          <a:ln w="12700">
            <a:solidFill>
              <a:srgbClr val="D9DEE5"/>
            </a:solidFill>
            <a:prstDash val="solid"/>
          </a:ln>
        </p:spPr>
      </p:sp>
      <p:sp>
        <p:nvSpPr>
          <p:cNvPr id="32" name="Text 30"/>
          <p:cNvSpPr txBox="1"/>
          <p:nvPr/>
        </p:nvSpPr>
        <p:spPr>
          <a:xfrm>
            <a:off x="9912096" y="3145536"/>
            <a:ext cx="1508760" cy="658368"/>
          </a:xfrm>
          <a:prstGeom prst="rect">
            <a:avLst/>
          </a:prstGeom>
          <a:noFill/>
          <a:ln/>
        </p:spPr>
        <p:txBody>
          <a:bodyPr wrap="square" lIns="0" tIns="0" rIns="0" bIns="0" rtlCol="0" anchor="ctr"/>
          <a:lstStyle/>
          <a:p>
            <a:pPr algn="ctr" indent="0" marL="0">
              <a:buNone/>
            </a:pPr>
            <a:r>
              <a:rPr lang="en-US" sz="1150" b="1" dirty="0">
                <a:solidFill>
                  <a:srgbClr val="1F2937"/>
                </a:solidFill>
                <a:latin typeface="Calibri" pitchFamily="34" charset="0"/>
                <a:ea typeface="Calibri" pitchFamily="34" charset="-122"/>
                <a:cs typeface="Calibri" pitchFamily="34" charset="-120"/>
              </a:rPr>
              <a:t>CLF safety filter</a:t>
            </a:r>
            <a:endParaRPr lang="en-US" sz="1150" dirty="0"/>
          </a:p>
          <a:p>
            <a:pPr algn="ctr" indent="0" marL="0">
              <a:buNone/>
            </a:pPr>
            <a:r>
              <a:rPr lang="en-US" sz="900" dirty="0">
                <a:solidFill>
                  <a:srgbClr val="5B6675"/>
                </a:solidFill>
                <a:latin typeface="Calibri" pitchFamily="34" charset="0"/>
                <a:ea typeface="Calibri" pitchFamily="34" charset="-122"/>
                <a:cs typeface="Calibri" pitchFamily="34" charset="-120"/>
              </a:rPr>
              <a:t>rejects unsafe moves</a:t>
            </a:r>
            <a:endParaRPr lang="en-US" sz="1150" dirty="0"/>
          </a:p>
        </p:txBody>
      </p:sp>
      <p:sp>
        <p:nvSpPr>
          <p:cNvPr id="33" name="Shape 31"/>
          <p:cNvSpPr/>
          <p:nvPr/>
        </p:nvSpPr>
        <p:spPr>
          <a:xfrm>
            <a:off x="548640" y="4389120"/>
            <a:ext cx="11091672" cy="1005840"/>
          </a:xfrm>
          <a:prstGeom prst="roundRect">
            <a:avLst>
              <a:gd name="adj" fmla="val 7273"/>
            </a:avLst>
          </a:prstGeom>
          <a:solidFill>
            <a:srgbClr val="EAF5F2"/>
          </a:solidFill>
          <a:ln w="12700">
            <a:solidFill>
              <a:srgbClr val="EAF5F2"/>
            </a:solidFill>
            <a:prstDash val="solid"/>
          </a:ln>
        </p:spPr>
      </p:sp>
      <p:sp>
        <p:nvSpPr>
          <p:cNvPr id="34" name="Text 32"/>
          <p:cNvSpPr txBox="1"/>
          <p:nvPr/>
        </p:nvSpPr>
        <p:spPr>
          <a:xfrm>
            <a:off x="731520" y="4389120"/>
            <a:ext cx="1371600" cy="1005840"/>
          </a:xfrm>
          <a:prstGeom prst="rect">
            <a:avLst/>
          </a:prstGeom>
          <a:noFill/>
          <a:ln/>
        </p:spPr>
        <p:txBody>
          <a:bodyPr wrap="square" lIns="0" tIns="0" rIns="0" bIns="0" rtlCol="0" anchor="ctr"/>
          <a:lstStyle/>
          <a:p>
            <a:pPr indent="0" marL="0">
              <a:buNone/>
            </a:pPr>
            <a:r>
              <a:rPr lang="en-US" sz="1100" b="1" spc="100" kern="0" dirty="0">
                <a:solidFill>
                  <a:srgbClr val="0F766E"/>
                </a:solidFill>
                <a:latin typeface="Calibri" pitchFamily="34" charset="0"/>
                <a:ea typeface="Calibri" pitchFamily="34" charset="-122"/>
                <a:cs typeface="Calibri" pitchFamily="34" charset="-120"/>
              </a:rPr>
              <a:t>3 · ACTUATION</a:t>
            </a:r>
            <a:endParaRPr lang="en-US" sz="1100" dirty="0"/>
          </a:p>
        </p:txBody>
      </p:sp>
      <p:sp>
        <p:nvSpPr>
          <p:cNvPr id="35" name="Shape 33"/>
          <p:cNvSpPr/>
          <p:nvPr/>
        </p:nvSpPr>
        <p:spPr>
          <a:xfrm>
            <a:off x="2148840" y="4562856"/>
            <a:ext cx="1600200" cy="658368"/>
          </a:xfrm>
          <a:prstGeom prst="roundRect">
            <a:avLst>
              <a:gd name="adj" fmla="val 8333"/>
            </a:avLst>
          </a:prstGeom>
          <a:solidFill>
            <a:srgbClr val="FFFFFF"/>
          </a:solidFill>
          <a:ln w="12700">
            <a:solidFill>
              <a:srgbClr val="D9DEE5"/>
            </a:solidFill>
            <a:prstDash val="solid"/>
          </a:ln>
        </p:spPr>
      </p:sp>
      <p:sp>
        <p:nvSpPr>
          <p:cNvPr id="36" name="Text 34"/>
          <p:cNvSpPr txBox="1"/>
          <p:nvPr/>
        </p:nvSpPr>
        <p:spPr>
          <a:xfrm>
            <a:off x="2194560" y="4562856"/>
            <a:ext cx="1508760" cy="658368"/>
          </a:xfrm>
          <a:prstGeom prst="rect">
            <a:avLst/>
          </a:prstGeom>
          <a:noFill/>
          <a:ln/>
        </p:spPr>
        <p:txBody>
          <a:bodyPr wrap="square" lIns="0" tIns="0" rIns="0" bIns="0" rtlCol="0" anchor="ctr"/>
          <a:lstStyle/>
          <a:p>
            <a:pPr algn="ctr" indent="0" marL="0">
              <a:buNone/>
            </a:pPr>
            <a:r>
              <a:rPr lang="en-US" sz="1150" b="1" dirty="0">
                <a:solidFill>
                  <a:srgbClr val="1F2937"/>
                </a:solidFill>
                <a:latin typeface="Calibri" pitchFamily="34" charset="0"/>
                <a:ea typeface="Calibri" pitchFamily="34" charset="-122"/>
                <a:cs typeface="Calibri" pitchFamily="34" charset="-120"/>
              </a:rPr>
              <a:t>Vertical resize</a:t>
            </a:r>
            <a:endParaRPr lang="en-US" sz="1150" dirty="0"/>
          </a:p>
          <a:p>
            <a:pPr algn="ctr" indent="0" marL="0">
              <a:buNone/>
            </a:pPr>
            <a:r>
              <a:rPr lang="en-US" sz="900" dirty="0">
                <a:solidFill>
                  <a:srgbClr val="5B6675"/>
                </a:solidFill>
                <a:latin typeface="Calibri" pitchFamily="34" charset="0"/>
                <a:ea typeface="Calibri" pitchFamily="34" charset="-122"/>
                <a:cs typeface="Calibri" pitchFamily="34" charset="-120"/>
              </a:rPr>
              <a:t>0.1 s (in-place)</a:t>
            </a:r>
            <a:endParaRPr lang="en-US" sz="1150" dirty="0"/>
          </a:p>
        </p:txBody>
      </p:sp>
      <p:sp>
        <p:nvSpPr>
          <p:cNvPr id="37" name="Shape 35"/>
          <p:cNvSpPr/>
          <p:nvPr/>
        </p:nvSpPr>
        <p:spPr>
          <a:xfrm>
            <a:off x="3776472" y="4892040"/>
            <a:ext cx="274320" cy="0"/>
          </a:xfrm>
          <a:prstGeom prst="line">
            <a:avLst/>
          </a:prstGeom>
          <a:noFill/>
          <a:ln w="22225">
            <a:solidFill>
              <a:srgbClr val="8A94A3"/>
            </a:solidFill>
            <a:prstDash val="solid"/>
            <a:tailEnd type="triangle"/>
          </a:ln>
        </p:spPr>
      </p:sp>
      <p:sp>
        <p:nvSpPr>
          <p:cNvPr id="38" name="Shape 36"/>
          <p:cNvSpPr/>
          <p:nvPr/>
        </p:nvSpPr>
        <p:spPr>
          <a:xfrm>
            <a:off x="4078224" y="4562856"/>
            <a:ext cx="1600200" cy="658368"/>
          </a:xfrm>
          <a:prstGeom prst="roundRect">
            <a:avLst>
              <a:gd name="adj" fmla="val 8333"/>
            </a:avLst>
          </a:prstGeom>
          <a:solidFill>
            <a:srgbClr val="FFFFFF"/>
          </a:solidFill>
          <a:ln w="12700">
            <a:solidFill>
              <a:srgbClr val="D9DEE5"/>
            </a:solidFill>
            <a:prstDash val="solid"/>
          </a:ln>
        </p:spPr>
      </p:sp>
      <p:sp>
        <p:nvSpPr>
          <p:cNvPr id="39" name="Text 37"/>
          <p:cNvSpPr txBox="1"/>
          <p:nvPr/>
        </p:nvSpPr>
        <p:spPr>
          <a:xfrm>
            <a:off x="4123944" y="4562856"/>
            <a:ext cx="1508760" cy="658368"/>
          </a:xfrm>
          <a:prstGeom prst="rect">
            <a:avLst/>
          </a:prstGeom>
          <a:noFill/>
          <a:ln/>
        </p:spPr>
        <p:txBody>
          <a:bodyPr wrap="square" lIns="0" tIns="0" rIns="0" bIns="0" rtlCol="0" anchor="ctr"/>
          <a:lstStyle/>
          <a:p>
            <a:pPr algn="ctr" indent="0" marL="0">
              <a:buNone/>
            </a:pPr>
            <a:r>
              <a:rPr lang="en-US" sz="1150" b="1" dirty="0">
                <a:solidFill>
                  <a:srgbClr val="1F2937"/>
                </a:solidFill>
                <a:latin typeface="Calibri" pitchFamily="34" charset="0"/>
                <a:ea typeface="Calibri" pitchFamily="34" charset="-122"/>
                <a:cs typeface="Calibri" pitchFamily="34" charset="-120"/>
              </a:rPr>
              <a:t>Horizontal scale</a:t>
            </a:r>
            <a:endParaRPr lang="en-US" sz="1150" dirty="0"/>
          </a:p>
          <a:p>
            <a:pPr algn="ctr" indent="0" marL="0">
              <a:buNone/>
            </a:pPr>
            <a:r>
              <a:rPr lang="en-US" sz="900" dirty="0">
                <a:solidFill>
                  <a:srgbClr val="5B6675"/>
                </a:solidFill>
                <a:latin typeface="Calibri" pitchFamily="34" charset="0"/>
                <a:ea typeface="Calibri" pitchFamily="34" charset="-122"/>
                <a:cs typeface="Calibri" pitchFamily="34" charset="-120"/>
              </a:rPr>
              <a:t>20 s pod boot</a:t>
            </a:r>
            <a:endParaRPr lang="en-US" sz="1150" dirty="0"/>
          </a:p>
        </p:txBody>
      </p:sp>
      <p:sp>
        <p:nvSpPr>
          <p:cNvPr id="40" name="Shape 38"/>
          <p:cNvSpPr/>
          <p:nvPr/>
        </p:nvSpPr>
        <p:spPr>
          <a:xfrm>
            <a:off x="5705856" y="4892040"/>
            <a:ext cx="274320" cy="0"/>
          </a:xfrm>
          <a:prstGeom prst="line">
            <a:avLst/>
          </a:prstGeom>
          <a:noFill/>
          <a:ln w="22225">
            <a:solidFill>
              <a:srgbClr val="8A94A3"/>
            </a:solidFill>
            <a:prstDash val="solid"/>
            <a:tailEnd type="triangle"/>
          </a:ln>
        </p:spPr>
      </p:sp>
      <p:sp>
        <p:nvSpPr>
          <p:cNvPr id="41" name="Shape 39"/>
          <p:cNvSpPr/>
          <p:nvPr/>
        </p:nvSpPr>
        <p:spPr>
          <a:xfrm>
            <a:off x="6007608" y="4562856"/>
            <a:ext cx="1600200" cy="658368"/>
          </a:xfrm>
          <a:prstGeom prst="roundRect">
            <a:avLst>
              <a:gd name="adj" fmla="val 8333"/>
            </a:avLst>
          </a:prstGeom>
          <a:solidFill>
            <a:srgbClr val="FFFFFF"/>
          </a:solidFill>
          <a:ln w="12700">
            <a:solidFill>
              <a:srgbClr val="D9DEE5"/>
            </a:solidFill>
            <a:prstDash val="solid"/>
          </a:ln>
        </p:spPr>
      </p:sp>
      <p:sp>
        <p:nvSpPr>
          <p:cNvPr id="42" name="Text 40"/>
          <p:cNvSpPr txBox="1"/>
          <p:nvPr/>
        </p:nvSpPr>
        <p:spPr>
          <a:xfrm>
            <a:off x="6053328" y="4562856"/>
            <a:ext cx="1508760" cy="658368"/>
          </a:xfrm>
          <a:prstGeom prst="rect">
            <a:avLst/>
          </a:prstGeom>
          <a:noFill/>
          <a:ln/>
        </p:spPr>
        <p:txBody>
          <a:bodyPr wrap="square" lIns="0" tIns="0" rIns="0" bIns="0" rtlCol="0" anchor="ctr"/>
          <a:lstStyle/>
          <a:p>
            <a:pPr algn="ctr" indent="0" marL="0">
              <a:buNone/>
            </a:pPr>
            <a:r>
              <a:rPr lang="en-US" sz="1150" b="1" dirty="0">
                <a:solidFill>
                  <a:srgbClr val="1F2937"/>
                </a:solidFill>
                <a:latin typeface="Calibri" pitchFamily="34" charset="0"/>
                <a:ea typeface="Calibri" pitchFamily="34" charset="-122"/>
                <a:cs typeface="Calibri" pitchFamily="34" charset="-120"/>
              </a:rPr>
              <a:t>Command buffer</a:t>
            </a:r>
            <a:endParaRPr lang="en-US" sz="1150" dirty="0"/>
          </a:p>
          <a:p>
            <a:pPr algn="ctr" indent="0" marL="0">
              <a:buNone/>
            </a:pPr>
            <a:r>
              <a:rPr lang="en-US" sz="900" dirty="0">
                <a:solidFill>
                  <a:srgbClr val="5B6675"/>
                </a:solidFill>
                <a:latin typeface="Calibri" pitchFamily="34" charset="0"/>
                <a:ea typeface="Calibri" pitchFamily="34" charset="-122"/>
                <a:cs typeface="Calibri" pitchFamily="34" charset="-120"/>
              </a:rPr>
              <a:t>dh(t−1), dh(t−2)</a:t>
            </a:r>
            <a:endParaRPr lang="en-US" sz="1150" dirty="0"/>
          </a:p>
        </p:txBody>
      </p:sp>
      <p:sp>
        <p:nvSpPr>
          <p:cNvPr id="43" name="Shape 41"/>
          <p:cNvSpPr/>
          <p:nvPr/>
        </p:nvSpPr>
        <p:spPr>
          <a:xfrm>
            <a:off x="7635240" y="4892040"/>
            <a:ext cx="274320" cy="0"/>
          </a:xfrm>
          <a:prstGeom prst="line">
            <a:avLst/>
          </a:prstGeom>
          <a:noFill/>
          <a:ln w="22225">
            <a:solidFill>
              <a:srgbClr val="8A94A3"/>
            </a:solidFill>
            <a:prstDash val="solid"/>
            <a:tailEnd type="triangle"/>
          </a:ln>
        </p:spPr>
      </p:sp>
      <p:sp>
        <p:nvSpPr>
          <p:cNvPr id="44" name="Shape 42"/>
          <p:cNvSpPr/>
          <p:nvPr/>
        </p:nvSpPr>
        <p:spPr>
          <a:xfrm>
            <a:off x="7936992" y="4562856"/>
            <a:ext cx="1600200" cy="658368"/>
          </a:xfrm>
          <a:prstGeom prst="roundRect">
            <a:avLst>
              <a:gd name="adj" fmla="val 8333"/>
            </a:avLst>
          </a:prstGeom>
          <a:solidFill>
            <a:srgbClr val="FFFFFF"/>
          </a:solidFill>
          <a:ln w="12700">
            <a:solidFill>
              <a:srgbClr val="D9DEE5"/>
            </a:solidFill>
            <a:prstDash val="solid"/>
          </a:ln>
        </p:spPr>
      </p:sp>
      <p:sp>
        <p:nvSpPr>
          <p:cNvPr id="45" name="Text 43"/>
          <p:cNvSpPr txBox="1"/>
          <p:nvPr/>
        </p:nvSpPr>
        <p:spPr>
          <a:xfrm>
            <a:off x="7982712" y="4562856"/>
            <a:ext cx="1508760" cy="658368"/>
          </a:xfrm>
          <a:prstGeom prst="rect">
            <a:avLst/>
          </a:prstGeom>
          <a:noFill/>
          <a:ln/>
        </p:spPr>
        <p:txBody>
          <a:bodyPr wrap="square" lIns="0" tIns="0" rIns="0" bIns="0" rtlCol="0" anchor="ctr"/>
          <a:lstStyle/>
          <a:p>
            <a:pPr algn="ctr" indent="0" marL="0">
              <a:buNone/>
            </a:pPr>
            <a:r>
              <a:rPr lang="en-US" sz="1150" b="1" dirty="0">
                <a:solidFill>
                  <a:srgbClr val="1F2937"/>
                </a:solidFill>
                <a:latin typeface="Calibri" pitchFamily="34" charset="0"/>
                <a:ea typeface="Calibri" pitchFamily="34" charset="-122"/>
                <a:cs typeface="Calibri" pitchFamily="34" charset="-120"/>
              </a:rPr>
              <a:t>Cluster</a:t>
            </a:r>
            <a:endParaRPr lang="en-US" sz="1150" dirty="0"/>
          </a:p>
          <a:p>
            <a:pPr algn="ctr" indent="0" marL="0">
              <a:buNone/>
            </a:pPr>
            <a:r>
              <a:rPr lang="en-US" sz="900" dirty="0">
                <a:solidFill>
                  <a:srgbClr val="5B6675"/>
                </a:solidFill>
                <a:latin typeface="Calibri" pitchFamily="34" charset="0"/>
                <a:ea typeface="Calibri" pitchFamily="34" charset="-122"/>
                <a:cs typeface="Calibri" pitchFamily="34" charset="-120"/>
              </a:rPr>
              <a:t>SimPy sim / K8s operator</a:t>
            </a:r>
            <a:endParaRPr lang="en-US" sz="1150" dirty="0"/>
          </a:p>
        </p:txBody>
      </p:sp>
      <p:sp>
        <p:nvSpPr>
          <p:cNvPr id="46" name="Shape 44"/>
          <p:cNvSpPr/>
          <p:nvPr/>
        </p:nvSpPr>
        <p:spPr>
          <a:xfrm>
            <a:off x="2948940" y="2560320"/>
            <a:ext cx="0" cy="411480"/>
          </a:xfrm>
          <a:prstGeom prst="line">
            <a:avLst/>
          </a:prstGeom>
          <a:noFill/>
          <a:ln w="22225">
            <a:solidFill>
              <a:srgbClr val="2563EB"/>
            </a:solidFill>
            <a:prstDash val="solid"/>
            <a:tailEnd type="triangle"/>
          </a:ln>
        </p:spPr>
      </p:sp>
      <p:sp>
        <p:nvSpPr>
          <p:cNvPr id="47" name="Text 45"/>
          <p:cNvSpPr txBox="1"/>
          <p:nvPr/>
        </p:nvSpPr>
        <p:spPr>
          <a:xfrm>
            <a:off x="3063240" y="2624328"/>
            <a:ext cx="2743200" cy="274320"/>
          </a:xfrm>
          <a:prstGeom prst="rect">
            <a:avLst/>
          </a:prstGeom>
          <a:noFill/>
          <a:ln/>
        </p:spPr>
        <p:txBody>
          <a:bodyPr wrap="square" lIns="0" tIns="0" rIns="0" bIns="0" rtlCol="0" anchor="t"/>
          <a:lstStyle/>
          <a:p>
            <a:pPr indent="0" marL="0">
              <a:buNone/>
            </a:pPr>
            <a:r>
              <a:rPr lang="en-US" sz="1000" i="1" dirty="0">
                <a:solidFill>
                  <a:srgbClr val="2563EB"/>
                </a:solidFill>
                <a:latin typeface="Calibri" pitchFamily="34" charset="0"/>
                <a:ea typeface="Calibri" pitchFamily="34" charset="-122"/>
                <a:cs typeface="Calibri" pitchFamily="34" charset="-120"/>
              </a:rPr>
              <a:t>forecast load + interval width</a:t>
            </a:r>
            <a:endParaRPr lang="en-US" sz="1000" dirty="0"/>
          </a:p>
        </p:txBody>
      </p:sp>
      <p:sp>
        <p:nvSpPr>
          <p:cNvPr id="48" name="Shape 46"/>
          <p:cNvSpPr/>
          <p:nvPr/>
        </p:nvSpPr>
        <p:spPr>
          <a:xfrm>
            <a:off x="2948940" y="3977640"/>
            <a:ext cx="0" cy="411480"/>
          </a:xfrm>
          <a:prstGeom prst="line">
            <a:avLst/>
          </a:prstGeom>
          <a:noFill/>
          <a:ln w="22225">
            <a:solidFill>
              <a:srgbClr val="8A94A3"/>
            </a:solidFill>
            <a:prstDash val="solid"/>
            <a:tailEnd type="triangle"/>
          </a:ln>
        </p:spPr>
      </p:sp>
      <p:sp>
        <p:nvSpPr>
          <p:cNvPr id="49" name="Text 47"/>
          <p:cNvSpPr txBox="1"/>
          <p:nvPr/>
        </p:nvSpPr>
        <p:spPr>
          <a:xfrm>
            <a:off x="3063240" y="4041648"/>
            <a:ext cx="1828800" cy="274320"/>
          </a:xfrm>
          <a:prstGeom prst="rect">
            <a:avLst/>
          </a:prstGeom>
          <a:noFill/>
          <a:ln/>
        </p:spPr>
        <p:txBody>
          <a:bodyPr wrap="square" lIns="0" tIns="0" rIns="0" bIns="0" rtlCol="0" anchor="t"/>
          <a:lstStyle/>
          <a:p>
            <a:pPr indent="0" marL="0">
              <a:buNone/>
            </a:pPr>
            <a:r>
              <a:rPr lang="en-US" sz="1000" i="1" dirty="0">
                <a:solidFill>
                  <a:srgbClr val="5B6675"/>
                </a:solidFill>
                <a:latin typeface="Calibri" pitchFamily="34" charset="0"/>
                <a:ea typeface="Calibri" pitchFamily="34" charset="-122"/>
                <a:cs typeface="Calibri" pitchFamily="34" charset="-120"/>
              </a:rPr>
              <a:t>u = [dv, dh]</a:t>
            </a:r>
            <a:endParaRPr lang="en-US" sz="1000" dirty="0"/>
          </a:p>
        </p:txBody>
      </p:sp>
      <p:sp>
        <p:nvSpPr>
          <p:cNvPr id="50" name="Shape 48"/>
          <p:cNvSpPr/>
          <p:nvPr/>
        </p:nvSpPr>
        <p:spPr>
          <a:xfrm>
            <a:off x="6807708" y="3803904"/>
            <a:ext cx="0" cy="758952"/>
          </a:xfrm>
          <a:prstGeom prst="line">
            <a:avLst/>
          </a:prstGeom>
          <a:noFill/>
          <a:ln w="31750">
            <a:solidFill>
              <a:srgbClr val="C7811A"/>
            </a:solidFill>
            <a:prstDash val="dash"/>
            <a:headEnd type="triangle"/>
          </a:ln>
        </p:spPr>
      </p:sp>
      <p:sp>
        <p:nvSpPr>
          <p:cNvPr id="51" name="Text 49"/>
          <p:cNvSpPr txBox="1"/>
          <p:nvPr/>
        </p:nvSpPr>
        <p:spPr>
          <a:xfrm>
            <a:off x="6949440" y="4041648"/>
            <a:ext cx="3291840" cy="274320"/>
          </a:xfrm>
          <a:prstGeom prst="rect">
            <a:avLst/>
          </a:prstGeom>
          <a:noFill/>
          <a:ln/>
        </p:spPr>
        <p:txBody>
          <a:bodyPr wrap="square" lIns="0" tIns="0" rIns="0" bIns="0" rtlCol="0" anchor="t"/>
          <a:lstStyle/>
          <a:p>
            <a:pPr indent="0" marL="0">
              <a:buNone/>
            </a:pPr>
            <a:r>
              <a:rPr lang="en-US" sz="1000" b="1" i="1" dirty="0">
                <a:solidFill>
                  <a:srgbClr val="C7811A"/>
                </a:solidFill>
                <a:latin typeface="Calibri" pitchFamily="34" charset="0"/>
                <a:ea typeface="Calibri" pitchFamily="34" charset="-122"/>
                <a:cs typeface="Calibri" pitchFamily="34" charset="-120"/>
              </a:rPr>
              <a:t>pending commands fed back (our contribution)</a:t>
            </a:r>
            <a:endParaRPr lang="en-US" sz="1000" dirty="0"/>
          </a:p>
        </p:txBody>
      </p:sp>
      <p:sp>
        <p:nvSpPr>
          <p:cNvPr id="52" name="Text 50"/>
          <p:cNvSpPr txBox="1"/>
          <p:nvPr/>
        </p:nvSpPr>
        <p:spPr>
          <a:xfrm>
            <a:off x="548640" y="5596128"/>
            <a:ext cx="11091672" cy="594360"/>
          </a:xfrm>
          <a:prstGeom prst="rect">
            <a:avLst/>
          </a:prstGeom>
          <a:noFill/>
          <a:ln/>
        </p:spPr>
        <p:txBody>
          <a:bodyPr wrap="square" lIns="0" tIns="0" rIns="0" bIns="0" rtlCol="0" anchor="t"/>
          <a:lstStyle/>
          <a:p>
            <a:pPr indent="0" marL="0">
              <a:buNone/>
            </a:pPr>
            <a:r>
              <a:rPr lang="en-US" sz="1350" b="1" dirty="0">
                <a:solidFill>
                  <a:srgbClr val="C7811A"/>
                </a:solidFill>
                <a:latin typeface="Calibri" pitchFamily="34" charset="0"/>
                <a:ea typeface="Calibri" pitchFamily="34" charset="-122"/>
                <a:cs typeface="Calibri" pitchFamily="34" charset="-120"/>
              </a:rPr>
              <a:t>Key idea: </a:t>
            </a:r>
            <a:pPr indent="0" marL="0">
              <a:buNone/>
            </a:pPr>
            <a:r>
              <a:rPr lang="en-US" sz="1350" dirty="0">
                <a:solidFill>
                  <a:srgbClr val="1F2937"/>
                </a:solidFill>
                <a:latin typeface="Calibri" pitchFamily="34" charset="0"/>
                <a:ea typeface="Calibri" pitchFamily="34" charset="-122"/>
                <a:cs typeface="Calibri" pitchFamily="34" charset="-120"/>
              </a:rPr>
              <a:t>pods already ordered but still booting are fed back into the controller, so it never orders the same capacity twice. The forecast interval width tightens the safety filter when the prediction is uncertain.</a:t>
            </a:r>
            <a:endParaRPr lang="en-US" sz="1350" dirty="0"/>
          </a:p>
        </p:txBody>
      </p:sp>
      <p:sp>
        <p:nvSpPr>
          <p:cNvPr id="53" name="Text 51"/>
          <p:cNvSpPr txBox="1"/>
          <p:nvPr/>
        </p:nvSpPr>
        <p:spPr>
          <a:xfrm>
            <a:off x="548640" y="6419088"/>
            <a:ext cx="8229600" cy="228600"/>
          </a:xfrm>
          <a:prstGeom prst="rect">
            <a:avLst/>
          </a:prstGeom>
          <a:noFill/>
          <a:ln/>
        </p:spPr>
        <p:txBody>
          <a:bodyPr wrap="square" lIns="0" tIns="0" rIns="0" bIns="0" rtlCol="0" anchor="t"/>
          <a:lstStyle/>
          <a:p>
            <a:pPr indent="0" marL="0">
              <a:buNone/>
            </a:pPr>
            <a:r>
              <a:rPr lang="en-US" sz="900" dirty="0">
                <a:solidFill>
                  <a:srgbClr val="8A94A3"/>
                </a:solidFill>
                <a:latin typeface="Calibri" pitchFamily="34" charset="0"/>
                <a:ea typeface="Calibri" pitchFamily="34" charset="-122"/>
                <a:cs typeface="Calibri" pitchFamily="34" charset="-120"/>
              </a:rPr>
              <a:t>VIT Vellore  ·  BCSE303P Operating Systems Laboratory  ·  CHIMERA  ·  Review 2</a:t>
            </a:r>
            <a:endParaRPr lang="en-US" sz="900" dirty="0"/>
          </a:p>
        </p:txBody>
      </p:sp>
      <p:sp>
        <p:nvSpPr>
          <p:cNvPr id="54" name="Text 52"/>
          <p:cNvSpPr txBox="1"/>
          <p:nvPr/>
        </p:nvSpPr>
        <p:spPr>
          <a:xfrm>
            <a:off x="10725912" y="6419088"/>
            <a:ext cx="914400" cy="228600"/>
          </a:xfrm>
          <a:prstGeom prst="rect">
            <a:avLst/>
          </a:prstGeom>
          <a:noFill/>
          <a:ln/>
        </p:spPr>
        <p:txBody>
          <a:bodyPr wrap="square" lIns="0" tIns="0" rIns="0" bIns="0" rtlCol="0" anchor="t"/>
          <a:lstStyle/>
          <a:p>
            <a:pPr algn="r" indent="0" marL="0">
              <a:buNone/>
            </a:pPr>
            <a:r>
              <a:rPr lang="en-US" sz="900" dirty="0">
                <a:solidFill>
                  <a:srgbClr val="8A94A3"/>
                </a:solidFill>
                <a:latin typeface="Calibri" pitchFamily="34" charset="0"/>
                <a:ea typeface="Calibri" pitchFamily="34" charset="-122"/>
                <a:cs typeface="Calibri" pitchFamily="34" charset="-120"/>
              </a:rPr>
              <a:t>4 / 21</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300" kern="0" dirty="0">
                <a:solidFill>
                  <a:srgbClr val="C7811A"/>
                </a:solidFill>
                <a:latin typeface="Calibri" pitchFamily="34" charset="0"/>
                <a:ea typeface="Calibri" pitchFamily="34" charset="-122"/>
                <a:cs typeface="Calibri" pitchFamily="34" charset="-120"/>
              </a:rPr>
              <a:t>CORE ALGORITHM</a:t>
            </a:r>
            <a:endParaRPr lang="en-US" sz="11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rgbClr val="13223A"/>
                </a:solidFill>
                <a:latin typeface="Cambria" pitchFamily="34" charset="0"/>
                <a:ea typeface="Cambria" pitchFamily="34" charset="-122"/>
                <a:cs typeface="Cambria" pitchFamily="34" charset="-120"/>
              </a:rPr>
              <a:t>The delay-augmented control law</a:t>
            </a:r>
            <a:endParaRPr lang="en-US" sz="3000" dirty="0"/>
          </a:p>
        </p:txBody>
      </p:sp>
      <p:sp>
        <p:nvSpPr>
          <p:cNvPr id="4" name="Text 2"/>
          <p:cNvSpPr txBox="1"/>
          <p:nvPr/>
        </p:nvSpPr>
        <p:spPr>
          <a:xfrm>
            <a:off x="548640" y="1508760"/>
            <a:ext cx="6766560" cy="731520"/>
          </a:xfrm>
          <a:prstGeom prst="rect">
            <a:avLst/>
          </a:prstGeom>
          <a:noFill/>
          <a:ln/>
        </p:spPr>
        <p:txBody>
          <a:bodyPr wrap="square" lIns="0" tIns="0" rIns="0" bIns="0" rtlCol="0" anchor="t"/>
          <a:lstStyle/>
          <a:p>
            <a:pPr indent="0" marL="0">
              <a:buNone/>
            </a:pPr>
            <a:r>
              <a:rPr lang="en-US" sz="1500" dirty="0">
                <a:solidFill>
                  <a:srgbClr val="1F2937"/>
                </a:solidFill>
                <a:latin typeface="Calibri" pitchFamily="34" charset="0"/>
                <a:ea typeface="Calibri" pitchFamily="34" charset="-122"/>
                <a:cs typeface="Calibri" pitchFamily="34" charset="-120"/>
              </a:rPr>
              <a:t>Standard LQR assumes actions take effect immediately. Pod boot takes 20 s — roughly two control intervals — so we augment the state with the commands still in the pipeline.</a:t>
            </a:r>
            <a:endParaRPr lang="en-US" sz="1500" dirty="0"/>
          </a:p>
        </p:txBody>
      </p:sp>
      <p:sp>
        <p:nvSpPr>
          <p:cNvPr id="5" name="Text 3"/>
          <p:cNvSpPr txBox="1"/>
          <p:nvPr/>
        </p:nvSpPr>
        <p:spPr>
          <a:xfrm>
            <a:off x="548640" y="2377440"/>
            <a:ext cx="2103120" cy="548640"/>
          </a:xfrm>
          <a:prstGeom prst="rect">
            <a:avLst/>
          </a:prstGeom>
          <a:noFill/>
          <a:ln/>
        </p:spPr>
        <p:txBody>
          <a:bodyPr wrap="square" lIns="0" tIns="0" rIns="0" bIns="0" rtlCol="0" anchor="ctr"/>
          <a:lstStyle/>
          <a:p>
            <a:pPr indent="0" marL="0">
              <a:buNone/>
            </a:pPr>
            <a:r>
              <a:rPr lang="en-US" sz="1300" b="1" dirty="0">
                <a:solidFill>
                  <a:srgbClr val="13223A"/>
                </a:solidFill>
                <a:latin typeface="Calibri" pitchFamily="34" charset="0"/>
                <a:ea typeface="Calibri" pitchFamily="34" charset="-122"/>
                <a:cs typeface="Calibri" pitchFamily="34" charset="-120"/>
              </a:rPr>
              <a:t>Augmented error state</a:t>
            </a:r>
            <a:endParaRPr lang="en-US" sz="1300" dirty="0"/>
          </a:p>
        </p:txBody>
      </p:sp>
      <p:sp>
        <p:nvSpPr>
          <p:cNvPr id="6" name="Shape 4"/>
          <p:cNvSpPr/>
          <p:nvPr/>
        </p:nvSpPr>
        <p:spPr>
          <a:xfrm>
            <a:off x="2697480" y="2377440"/>
            <a:ext cx="4617720" cy="548640"/>
          </a:xfrm>
          <a:prstGeom prst="roundRect">
            <a:avLst>
              <a:gd name="adj" fmla="val 13333"/>
            </a:avLst>
          </a:prstGeom>
          <a:solidFill>
            <a:srgbClr val="F3F5F8"/>
          </a:solidFill>
          <a:ln w="12700">
            <a:solidFill>
              <a:srgbClr val="F3F5F8"/>
            </a:solidFill>
            <a:prstDash val="solid"/>
          </a:ln>
        </p:spPr>
      </p:sp>
      <p:sp>
        <p:nvSpPr>
          <p:cNvPr id="7" name="Text 5"/>
          <p:cNvSpPr txBox="1"/>
          <p:nvPr/>
        </p:nvSpPr>
        <p:spPr>
          <a:xfrm>
            <a:off x="2834640" y="2377440"/>
            <a:ext cx="4434840" cy="548640"/>
          </a:xfrm>
          <a:prstGeom prst="rect">
            <a:avLst/>
          </a:prstGeom>
          <a:noFill/>
          <a:ln/>
        </p:spPr>
        <p:txBody>
          <a:bodyPr wrap="square" lIns="0" tIns="0" rIns="0" bIns="0" rtlCol="0" anchor="ctr"/>
          <a:lstStyle/>
          <a:p>
            <a:pPr indent="0" marL="0">
              <a:buNone/>
            </a:pPr>
            <a:r>
              <a:rPr lang="en-US" sz="1300" dirty="0">
                <a:solidFill>
                  <a:srgbClr val="1F2937"/>
                </a:solidFill>
                <a:latin typeface="Courier New" pitchFamily="34" charset="0"/>
                <a:ea typeface="Courier New" pitchFamily="34" charset="-122"/>
                <a:cs typeface="Courier New" pitchFamily="34" charset="-120"/>
              </a:rPr>
              <a:t>e(t) = [ v−v*, h−h*, dh(t−1), dh(t−2) ]</a:t>
            </a:r>
            <a:endParaRPr lang="en-US" sz="1300" dirty="0"/>
          </a:p>
        </p:txBody>
      </p:sp>
      <p:sp>
        <p:nvSpPr>
          <p:cNvPr id="8" name="Text 6"/>
          <p:cNvSpPr txBox="1"/>
          <p:nvPr/>
        </p:nvSpPr>
        <p:spPr>
          <a:xfrm>
            <a:off x="548640" y="3108960"/>
            <a:ext cx="2103120" cy="548640"/>
          </a:xfrm>
          <a:prstGeom prst="rect">
            <a:avLst/>
          </a:prstGeom>
          <a:noFill/>
          <a:ln/>
        </p:spPr>
        <p:txBody>
          <a:bodyPr wrap="square" lIns="0" tIns="0" rIns="0" bIns="0" rtlCol="0" anchor="ctr"/>
          <a:lstStyle/>
          <a:p>
            <a:pPr indent="0" marL="0">
              <a:buNone/>
            </a:pPr>
            <a:r>
              <a:rPr lang="en-US" sz="1300" b="1" dirty="0">
                <a:solidFill>
                  <a:srgbClr val="13223A"/>
                </a:solidFill>
                <a:latin typeface="Calibri" pitchFamily="34" charset="0"/>
                <a:ea typeface="Calibri" pitchFamily="34" charset="-122"/>
                <a:cs typeface="Calibri" pitchFamily="34" charset="-120"/>
              </a:rPr>
              <a:t>System dynamics</a:t>
            </a:r>
            <a:endParaRPr lang="en-US" sz="1300" dirty="0"/>
          </a:p>
        </p:txBody>
      </p:sp>
      <p:sp>
        <p:nvSpPr>
          <p:cNvPr id="9" name="Shape 7"/>
          <p:cNvSpPr/>
          <p:nvPr/>
        </p:nvSpPr>
        <p:spPr>
          <a:xfrm>
            <a:off x="2697480" y="3108960"/>
            <a:ext cx="4617720" cy="548640"/>
          </a:xfrm>
          <a:prstGeom prst="roundRect">
            <a:avLst>
              <a:gd name="adj" fmla="val 13333"/>
            </a:avLst>
          </a:prstGeom>
          <a:solidFill>
            <a:srgbClr val="F3F5F8"/>
          </a:solidFill>
          <a:ln w="12700">
            <a:solidFill>
              <a:srgbClr val="F3F5F8"/>
            </a:solidFill>
            <a:prstDash val="solid"/>
          </a:ln>
        </p:spPr>
      </p:sp>
      <p:sp>
        <p:nvSpPr>
          <p:cNvPr id="10" name="Text 8"/>
          <p:cNvSpPr txBox="1"/>
          <p:nvPr/>
        </p:nvSpPr>
        <p:spPr>
          <a:xfrm>
            <a:off x="2834640" y="3108960"/>
            <a:ext cx="4434840" cy="548640"/>
          </a:xfrm>
          <a:prstGeom prst="rect">
            <a:avLst/>
          </a:prstGeom>
          <a:noFill/>
          <a:ln/>
        </p:spPr>
        <p:txBody>
          <a:bodyPr wrap="square" lIns="0" tIns="0" rIns="0" bIns="0" rtlCol="0" anchor="ctr"/>
          <a:lstStyle/>
          <a:p>
            <a:pPr indent="0" marL="0">
              <a:buNone/>
            </a:pPr>
            <a:r>
              <a:rPr lang="en-US" sz="1300" dirty="0">
                <a:solidFill>
                  <a:srgbClr val="1F2937"/>
                </a:solidFill>
                <a:latin typeface="Courier New" pitchFamily="34" charset="0"/>
                <a:ea typeface="Courier New" pitchFamily="34" charset="-122"/>
                <a:cs typeface="Courier New" pitchFamily="34" charset="-120"/>
              </a:rPr>
              <a:t>e(t+1) = A_aug·e(t) + B_aug·u(t)</a:t>
            </a:r>
            <a:endParaRPr lang="en-US" sz="1300" dirty="0"/>
          </a:p>
        </p:txBody>
      </p:sp>
      <p:sp>
        <p:nvSpPr>
          <p:cNvPr id="11" name="Text 9"/>
          <p:cNvSpPr txBox="1"/>
          <p:nvPr/>
        </p:nvSpPr>
        <p:spPr>
          <a:xfrm>
            <a:off x="548640" y="3840480"/>
            <a:ext cx="2103120" cy="548640"/>
          </a:xfrm>
          <a:prstGeom prst="rect">
            <a:avLst/>
          </a:prstGeom>
          <a:noFill/>
          <a:ln/>
        </p:spPr>
        <p:txBody>
          <a:bodyPr wrap="square" lIns="0" tIns="0" rIns="0" bIns="0" rtlCol="0" anchor="ctr"/>
          <a:lstStyle/>
          <a:p>
            <a:pPr indent="0" marL="0">
              <a:buNone/>
            </a:pPr>
            <a:r>
              <a:rPr lang="en-US" sz="1300" b="1" dirty="0">
                <a:solidFill>
                  <a:srgbClr val="13223A"/>
                </a:solidFill>
                <a:latin typeface="Calibri" pitchFamily="34" charset="0"/>
                <a:ea typeface="Calibri" pitchFamily="34" charset="-122"/>
                <a:cs typeface="Calibri" pitchFamily="34" charset="-120"/>
              </a:rPr>
              <a:t>Optimal gain (DARE)</a:t>
            </a:r>
            <a:endParaRPr lang="en-US" sz="1300" dirty="0"/>
          </a:p>
        </p:txBody>
      </p:sp>
      <p:sp>
        <p:nvSpPr>
          <p:cNvPr id="12" name="Shape 10"/>
          <p:cNvSpPr/>
          <p:nvPr/>
        </p:nvSpPr>
        <p:spPr>
          <a:xfrm>
            <a:off x="2697480" y="3840480"/>
            <a:ext cx="4617720" cy="548640"/>
          </a:xfrm>
          <a:prstGeom prst="roundRect">
            <a:avLst>
              <a:gd name="adj" fmla="val 13333"/>
            </a:avLst>
          </a:prstGeom>
          <a:solidFill>
            <a:srgbClr val="F3F5F8"/>
          </a:solidFill>
          <a:ln w="12700">
            <a:solidFill>
              <a:srgbClr val="F3F5F8"/>
            </a:solidFill>
            <a:prstDash val="solid"/>
          </a:ln>
        </p:spPr>
      </p:sp>
      <p:sp>
        <p:nvSpPr>
          <p:cNvPr id="13" name="Text 11"/>
          <p:cNvSpPr txBox="1"/>
          <p:nvPr/>
        </p:nvSpPr>
        <p:spPr>
          <a:xfrm>
            <a:off x="2834640" y="3840480"/>
            <a:ext cx="4434840" cy="548640"/>
          </a:xfrm>
          <a:prstGeom prst="rect">
            <a:avLst/>
          </a:prstGeom>
          <a:noFill/>
          <a:ln/>
        </p:spPr>
        <p:txBody>
          <a:bodyPr wrap="square" lIns="0" tIns="0" rIns="0" bIns="0" rtlCol="0" anchor="ctr"/>
          <a:lstStyle/>
          <a:p>
            <a:pPr indent="0" marL="0">
              <a:buNone/>
            </a:pPr>
            <a:r>
              <a:rPr lang="en-US" sz="1300" dirty="0">
                <a:solidFill>
                  <a:srgbClr val="1F2937"/>
                </a:solidFill>
                <a:latin typeface="Courier New" pitchFamily="34" charset="0"/>
                <a:ea typeface="Courier New" pitchFamily="34" charset="-122"/>
                <a:cs typeface="Courier New" pitchFamily="34" charset="-120"/>
              </a:rPr>
              <a:t>K = (R + BᵀPB)⁻¹ BᵀPA</a:t>
            </a:r>
            <a:endParaRPr lang="en-US" sz="1300" dirty="0"/>
          </a:p>
        </p:txBody>
      </p:sp>
      <p:sp>
        <p:nvSpPr>
          <p:cNvPr id="14" name="Text 12"/>
          <p:cNvSpPr txBox="1"/>
          <p:nvPr/>
        </p:nvSpPr>
        <p:spPr>
          <a:xfrm>
            <a:off x="548640" y="4572000"/>
            <a:ext cx="2103120" cy="548640"/>
          </a:xfrm>
          <a:prstGeom prst="rect">
            <a:avLst/>
          </a:prstGeom>
          <a:noFill/>
          <a:ln/>
        </p:spPr>
        <p:txBody>
          <a:bodyPr wrap="square" lIns="0" tIns="0" rIns="0" bIns="0" rtlCol="0" anchor="ctr"/>
          <a:lstStyle/>
          <a:p>
            <a:pPr indent="0" marL="0">
              <a:buNone/>
            </a:pPr>
            <a:r>
              <a:rPr lang="en-US" sz="1300" b="1" dirty="0">
                <a:solidFill>
                  <a:srgbClr val="13223A"/>
                </a:solidFill>
                <a:latin typeface="Calibri" pitchFamily="34" charset="0"/>
                <a:ea typeface="Calibri" pitchFamily="34" charset="-122"/>
                <a:cs typeface="Calibri" pitchFamily="34" charset="-120"/>
              </a:rPr>
              <a:t>Nominal action</a:t>
            </a:r>
            <a:endParaRPr lang="en-US" sz="1300" dirty="0"/>
          </a:p>
        </p:txBody>
      </p:sp>
      <p:sp>
        <p:nvSpPr>
          <p:cNvPr id="15" name="Shape 13"/>
          <p:cNvSpPr/>
          <p:nvPr/>
        </p:nvSpPr>
        <p:spPr>
          <a:xfrm>
            <a:off x="2697480" y="4572000"/>
            <a:ext cx="4617720" cy="548640"/>
          </a:xfrm>
          <a:prstGeom prst="roundRect">
            <a:avLst>
              <a:gd name="adj" fmla="val 13333"/>
            </a:avLst>
          </a:prstGeom>
          <a:solidFill>
            <a:srgbClr val="F3F5F8"/>
          </a:solidFill>
          <a:ln w="12700">
            <a:solidFill>
              <a:srgbClr val="F3F5F8"/>
            </a:solidFill>
            <a:prstDash val="solid"/>
          </a:ln>
        </p:spPr>
      </p:sp>
      <p:sp>
        <p:nvSpPr>
          <p:cNvPr id="16" name="Text 14"/>
          <p:cNvSpPr txBox="1"/>
          <p:nvPr/>
        </p:nvSpPr>
        <p:spPr>
          <a:xfrm>
            <a:off x="2834640" y="4572000"/>
            <a:ext cx="4434840" cy="548640"/>
          </a:xfrm>
          <a:prstGeom prst="rect">
            <a:avLst/>
          </a:prstGeom>
          <a:noFill/>
          <a:ln/>
        </p:spPr>
        <p:txBody>
          <a:bodyPr wrap="square" lIns="0" tIns="0" rIns="0" bIns="0" rtlCol="0" anchor="ctr"/>
          <a:lstStyle/>
          <a:p>
            <a:pPr indent="0" marL="0">
              <a:buNone/>
            </a:pPr>
            <a:r>
              <a:rPr lang="en-US" sz="1300" dirty="0">
                <a:solidFill>
                  <a:srgbClr val="1F2937"/>
                </a:solidFill>
                <a:latin typeface="Courier New" pitchFamily="34" charset="0"/>
                <a:ea typeface="Courier New" pitchFamily="34" charset="-122"/>
                <a:cs typeface="Courier New" pitchFamily="34" charset="-120"/>
              </a:rPr>
              <a:t>u = −K·e(t)</a:t>
            </a:r>
            <a:endParaRPr lang="en-US" sz="1300" dirty="0"/>
          </a:p>
        </p:txBody>
      </p:sp>
      <p:sp>
        <p:nvSpPr>
          <p:cNvPr id="17" name="Text 15"/>
          <p:cNvSpPr txBox="1"/>
          <p:nvPr/>
        </p:nvSpPr>
        <p:spPr>
          <a:xfrm>
            <a:off x="548640" y="5303520"/>
            <a:ext cx="2103120" cy="548640"/>
          </a:xfrm>
          <a:prstGeom prst="rect">
            <a:avLst/>
          </a:prstGeom>
          <a:noFill/>
          <a:ln/>
        </p:spPr>
        <p:txBody>
          <a:bodyPr wrap="square" lIns="0" tIns="0" rIns="0" bIns="0" rtlCol="0" anchor="ctr"/>
          <a:lstStyle/>
          <a:p>
            <a:pPr indent="0" marL="0">
              <a:buNone/>
            </a:pPr>
            <a:r>
              <a:rPr lang="en-US" sz="1300" b="1" dirty="0">
                <a:solidFill>
                  <a:srgbClr val="13223A"/>
                </a:solidFill>
                <a:latin typeface="Calibri" pitchFamily="34" charset="0"/>
                <a:ea typeface="Calibri" pitchFamily="34" charset="-122"/>
                <a:cs typeface="Calibri" pitchFamily="34" charset="-120"/>
              </a:rPr>
              <a:t>Lyapunov safety bound</a:t>
            </a:r>
            <a:endParaRPr lang="en-US" sz="1300" dirty="0"/>
          </a:p>
        </p:txBody>
      </p:sp>
      <p:sp>
        <p:nvSpPr>
          <p:cNvPr id="18" name="Shape 16"/>
          <p:cNvSpPr/>
          <p:nvPr/>
        </p:nvSpPr>
        <p:spPr>
          <a:xfrm>
            <a:off x="2697480" y="5303520"/>
            <a:ext cx="4617720" cy="548640"/>
          </a:xfrm>
          <a:prstGeom prst="roundRect">
            <a:avLst>
              <a:gd name="adj" fmla="val 13333"/>
            </a:avLst>
          </a:prstGeom>
          <a:solidFill>
            <a:srgbClr val="F3F5F8"/>
          </a:solidFill>
          <a:ln w="12700">
            <a:solidFill>
              <a:srgbClr val="F3F5F8"/>
            </a:solidFill>
            <a:prstDash val="solid"/>
          </a:ln>
        </p:spPr>
      </p:sp>
      <p:sp>
        <p:nvSpPr>
          <p:cNvPr id="19" name="Text 17"/>
          <p:cNvSpPr txBox="1"/>
          <p:nvPr/>
        </p:nvSpPr>
        <p:spPr>
          <a:xfrm>
            <a:off x="2834640" y="5303520"/>
            <a:ext cx="4434840" cy="548640"/>
          </a:xfrm>
          <a:prstGeom prst="rect">
            <a:avLst/>
          </a:prstGeom>
          <a:noFill/>
          <a:ln/>
        </p:spPr>
        <p:txBody>
          <a:bodyPr wrap="square" lIns="0" tIns="0" rIns="0" bIns="0" rtlCol="0" anchor="ctr"/>
          <a:lstStyle/>
          <a:p>
            <a:pPr indent="0" marL="0">
              <a:buNone/>
            </a:pPr>
            <a:r>
              <a:rPr lang="en-US" sz="1300" dirty="0">
                <a:solidFill>
                  <a:srgbClr val="1F2937"/>
                </a:solidFill>
                <a:latin typeface="Courier New" pitchFamily="34" charset="0"/>
                <a:ea typeface="Courier New" pitchFamily="34" charset="-122"/>
                <a:cs typeface="Courier New" pitchFamily="34" charset="-120"/>
              </a:rPr>
              <a:t>V(e⁺) − V(e) ≤ −σ‖e‖² + ζ·w_conformal</a:t>
            </a:r>
            <a:endParaRPr lang="en-US" sz="1300" dirty="0"/>
          </a:p>
        </p:txBody>
      </p:sp>
      <p:sp>
        <p:nvSpPr>
          <p:cNvPr id="20" name="Shape 18"/>
          <p:cNvSpPr/>
          <p:nvPr/>
        </p:nvSpPr>
        <p:spPr>
          <a:xfrm>
            <a:off x="7726680" y="1508760"/>
            <a:ext cx="3913632" cy="4572000"/>
          </a:xfrm>
          <a:prstGeom prst="roundRect">
            <a:avLst>
              <a:gd name="adj" fmla="val 1869"/>
            </a:avLst>
          </a:prstGeom>
          <a:solidFill>
            <a:srgbClr val="13223A"/>
          </a:solidFill>
          <a:ln w="12700">
            <a:solidFill>
              <a:srgbClr val="13223A"/>
            </a:solidFill>
            <a:prstDash val="solid"/>
          </a:ln>
        </p:spPr>
      </p:sp>
      <p:sp>
        <p:nvSpPr>
          <p:cNvPr id="21" name="Text 19"/>
          <p:cNvSpPr txBox="1"/>
          <p:nvPr/>
        </p:nvSpPr>
        <p:spPr>
          <a:xfrm>
            <a:off x="8001000" y="1737360"/>
            <a:ext cx="3383280" cy="274320"/>
          </a:xfrm>
          <a:prstGeom prst="rect">
            <a:avLst/>
          </a:prstGeom>
          <a:noFill/>
          <a:ln/>
        </p:spPr>
        <p:txBody>
          <a:bodyPr wrap="square" lIns="0" tIns="0" rIns="0" bIns="0" rtlCol="0" anchor="t"/>
          <a:lstStyle/>
          <a:p>
            <a:pPr indent="0" marL="0">
              <a:buNone/>
            </a:pPr>
            <a:r>
              <a:rPr lang="en-US" sz="1100" b="1" spc="200" kern="0" dirty="0">
                <a:solidFill>
                  <a:srgbClr val="E3A646"/>
                </a:solidFill>
                <a:latin typeface="Calibri" pitchFamily="34" charset="0"/>
                <a:ea typeface="Calibri" pitchFamily="34" charset="-122"/>
                <a:cs typeface="Calibri" pitchFamily="34" charset="-120"/>
              </a:rPr>
              <a:t>WHY THIS MATTERS</a:t>
            </a:r>
            <a:endParaRPr lang="en-US" sz="1100" dirty="0"/>
          </a:p>
        </p:txBody>
      </p:sp>
      <p:sp>
        <p:nvSpPr>
          <p:cNvPr id="22" name="Text 20"/>
          <p:cNvSpPr txBox="1"/>
          <p:nvPr/>
        </p:nvSpPr>
        <p:spPr>
          <a:xfrm>
            <a:off x="8001000" y="2103120"/>
            <a:ext cx="3429000" cy="256032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FFFFFF"/>
                </a:solidFill>
                <a:latin typeface="Calibri" pitchFamily="34" charset="0"/>
                <a:ea typeface="Calibri" pitchFamily="34" charset="-122"/>
                <a:cs typeface="Calibri" pitchFamily="34" charset="-120"/>
              </a:rPr>
              <a:t>R penalises horizontal movement 20× more than vertical, so the controller reaches for the fast actuator first during a spike.</a:t>
            </a:r>
            <a:endParaRPr lang="en-US" sz="1300" dirty="0"/>
          </a:p>
          <a:p>
            <a:pPr marL="342900" indent="-342900">
              <a:spcAft>
                <a:spcPts val="800"/>
              </a:spcAft>
              <a:buSzPct val="100000"/>
              <a:buChar char="•"/>
            </a:pPr>
            <a:r>
              <a:rPr lang="en-US" sz="1300" dirty="0">
                <a:solidFill>
                  <a:srgbClr val="FFFFFF"/>
                </a:solidFill>
                <a:latin typeface="Calibri" pitchFamily="34" charset="0"/>
                <a:ea typeface="Calibri" pitchFamily="34" charset="-122"/>
                <a:cs typeface="Calibri" pitchFamily="34" charset="-120"/>
              </a:rPr>
              <a:t>The conformal interval width relaxes the safety bound exactly when the forecast is uncertain.</a:t>
            </a:r>
            <a:endParaRPr lang="en-US" sz="1300" dirty="0"/>
          </a:p>
          <a:p>
            <a:pPr marL="342900" indent="-342900">
              <a:spcAft>
                <a:spcPts val="800"/>
              </a:spcAft>
              <a:buSzPct val="100000"/>
              <a:buChar char="•"/>
            </a:pPr>
            <a:r>
              <a:rPr lang="en-US" sz="1300" dirty="0">
                <a:solidFill>
                  <a:srgbClr val="FFFFFF"/>
                </a:solidFill>
                <a:latin typeface="Calibri" pitchFamily="34" charset="0"/>
                <a:ea typeface="Calibri" pitchFamily="34" charset="-122"/>
                <a:cs typeface="Calibri" pitchFamily="34" charset="-120"/>
              </a:rPr>
              <a:t>K is fixed: computing u = −K·e is a matrix–vector product, not an online optimisation.</a:t>
            </a:r>
            <a:endParaRPr lang="en-US" sz="1300" dirty="0"/>
          </a:p>
        </p:txBody>
      </p:sp>
      <p:sp>
        <p:nvSpPr>
          <p:cNvPr id="23" name="Shape 21"/>
          <p:cNvSpPr/>
          <p:nvPr/>
        </p:nvSpPr>
        <p:spPr>
          <a:xfrm>
            <a:off x="8001000" y="4754880"/>
            <a:ext cx="3383280" cy="0"/>
          </a:xfrm>
          <a:prstGeom prst="line">
            <a:avLst/>
          </a:prstGeom>
          <a:noFill/>
          <a:ln w="12700">
            <a:solidFill>
              <a:srgbClr val="2E4263"/>
            </a:solidFill>
            <a:prstDash val="solid"/>
          </a:ln>
        </p:spPr>
      </p:sp>
      <p:sp>
        <p:nvSpPr>
          <p:cNvPr id="24" name="Text 22"/>
          <p:cNvSpPr txBox="1"/>
          <p:nvPr/>
        </p:nvSpPr>
        <p:spPr>
          <a:xfrm>
            <a:off x="8001000" y="4892040"/>
            <a:ext cx="3429000" cy="1005840"/>
          </a:xfrm>
          <a:prstGeom prst="rect">
            <a:avLst/>
          </a:prstGeom>
          <a:noFill/>
          <a:ln/>
        </p:spPr>
        <p:txBody>
          <a:bodyPr wrap="square" lIns="0" tIns="0" rIns="0" bIns="0" rtlCol="0" anchor="t"/>
          <a:lstStyle/>
          <a:p>
            <a:pPr indent="0" marL="0">
              <a:buNone/>
            </a:pPr>
            <a:r>
              <a:rPr lang="en-US" sz="1200" dirty="0">
                <a:solidFill>
                  <a:srgbClr val="CADCFC"/>
                </a:solidFill>
                <a:latin typeface="Courier New" pitchFamily="34" charset="0"/>
                <a:ea typeface="Courier New" pitchFamily="34" charset="-122"/>
                <a:cs typeface="Courier New" pitchFamily="34" charset="-120"/>
              </a:rPr>
              <a:t>Q = diag(30, 10, 0, 0)</a:t>
            </a:r>
            <a:endParaRPr lang="en-US" sz="1200" dirty="0"/>
          </a:p>
          <a:p>
            <a:pPr indent="0" marL="0">
              <a:buNone/>
            </a:pPr>
            <a:r>
              <a:rPr lang="en-US" sz="1200" dirty="0">
                <a:solidFill>
                  <a:srgbClr val="CADCFC"/>
                </a:solidFill>
                <a:latin typeface="Courier New" pitchFamily="34" charset="0"/>
                <a:ea typeface="Courier New" pitchFamily="34" charset="-122"/>
                <a:cs typeface="Courier New" pitchFamily="34" charset="-120"/>
              </a:rPr>
              <a:t>R = diag(0.05, 1.0)</a:t>
            </a:r>
            <a:endParaRPr lang="en-US" sz="1200" dirty="0"/>
          </a:p>
          <a:p>
            <a:pPr indent="0" marL="0">
              <a:buNone/>
            </a:pPr>
            <a:r>
              <a:rPr lang="en-US" sz="1200" dirty="0">
                <a:solidFill>
                  <a:srgbClr val="CADCFC"/>
                </a:solidFill>
                <a:latin typeface="Courier New" pitchFamily="34" charset="0"/>
                <a:ea typeface="Courier New" pitchFamily="34" charset="-122"/>
                <a:cs typeface="Courier New" pitchFamily="34" charset="-120"/>
              </a:rPr>
              <a:t>σ = 0.1   ζ = 0.5   Δt = 15 s</a:t>
            </a:r>
            <a:endParaRPr lang="en-US" sz="1200" dirty="0"/>
          </a:p>
        </p:txBody>
      </p:sp>
      <p:sp>
        <p:nvSpPr>
          <p:cNvPr id="25" name="Text 23"/>
          <p:cNvSpPr txBox="1"/>
          <p:nvPr/>
        </p:nvSpPr>
        <p:spPr>
          <a:xfrm>
            <a:off x="548640" y="6419088"/>
            <a:ext cx="8229600" cy="228600"/>
          </a:xfrm>
          <a:prstGeom prst="rect">
            <a:avLst/>
          </a:prstGeom>
          <a:noFill/>
          <a:ln/>
        </p:spPr>
        <p:txBody>
          <a:bodyPr wrap="square" lIns="0" tIns="0" rIns="0" bIns="0" rtlCol="0" anchor="t"/>
          <a:lstStyle/>
          <a:p>
            <a:pPr indent="0" marL="0">
              <a:buNone/>
            </a:pPr>
            <a:r>
              <a:rPr lang="en-US" sz="900" dirty="0">
                <a:solidFill>
                  <a:srgbClr val="8A94A3"/>
                </a:solidFill>
                <a:latin typeface="Calibri" pitchFamily="34" charset="0"/>
                <a:ea typeface="Calibri" pitchFamily="34" charset="-122"/>
                <a:cs typeface="Calibri" pitchFamily="34" charset="-120"/>
              </a:rPr>
              <a:t>VIT Vellore  ·  BCSE303P Operating Systems Laboratory  ·  CHIMERA  ·  Review 2</a:t>
            </a:r>
            <a:endParaRPr lang="en-US" sz="900" dirty="0"/>
          </a:p>
        </p:txBody>
      </p:sp>
      <p:sp>
        <p:nvSpPr>
          <p:cNvPr id="26" name="Text 24"/>
          <p:cNvSpPr txBox="1"/>
          <p:nvPr/>
        </p:nvSpPr>
        <p:spPr>
          <a:xfrm>
            <a:off x="10725912" y="6419088"/>
            <a:ext cx="914400" cy="228600"/>
          </a:xfrm>
          <a:prstGeom prst="rect">
            <a:avLst/>
          </a:prstGeom>
          <a:noFill/>
          <a:ln/>
        </p:spPr>
        <p:txBody>
          <a:bodyPr wrap="square" lIns="0" tIns="0" rIns="0" bIns="0" rtlCol="0" anchor="t"/>
          <a:lstStyle/>
          <a:p>
            <a:pPr algn="r" indent="0" marL="0">
              <a:buNone/>
            </a:pPr>
            <a:r>
              <a:rPr lang="en-US" sz="900" dirty="0">
                <a:solidFill>
                  <a:srgbClr val="8A94A3"/>
                </a:solidFill>
                <a:latin typeface="Calibri" pitchFamily="34" charset="0"/>
                <a:ea typeface="Calibri" pitchFamily="34" charset="-122"/>
                <a:cs typeface="Calibri" pitchFamily="34" charset="-120"/>
              </a:rPr>
              <a:t>5 / 21</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300" kern="0" dirty="0">
                <a:solidFill>
                  <a:srgbClr val="C7811A"/>
                </a:solidFill>
                <a:latin typeface="Calibri" pitchFamily="34" charset="0"/>
                <a:ea typeface="Calibri" pitchFamily="34" charset="-122"/>
                <a:cs typeface="Calibri" pitchFamily="34" charset="-120"/>
              </a:rPr>
              <a:t>DATASETS</a:t>
            </a:r>
            <a:endParaRPr lang="en-US" sz="11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rgbClr val="13223A"/>
                </a:solidFill>
                <a:latin typeface="Cambria" pitchFamily="34" charset="0"/>
                <a:ea typeface="Cambria" pitchFamily="34" charset="-122"/>
                <a:cs typeface="Cambria" pitchFamily="34" charset="-120"/>
              </a:rPr>
              <a:t>Nine workloads: five real traces, four stress scenarios</a:t>
            </a:r>
            <a:endParaRPr lang="en-US" sz="3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1672" cy="914400"/>
        </p:xfrm>
        <a:graphic>
          <a:graphicData uri="http://schemas.openxmlformats.org/drawingml/2006/table">
            <a:tbl>
              <a:tblPr/>
              <a:tblGrid>
                <a:gridCol w="2377440"/>
                <a:gridCol w="1554480"/>
                <a:gridCol w="2011680"/>
                <a:gridCol w="5148072"/>
              </a:tblGrid>
              <a:tr h="329184">
                <a:tc>
                  <a:txBody>
                    <a:bodyPr/>
                    <a:lstStyle/>
                    <a:p>
                      <a:pPr indent="0" marL="0">
                        <a:buNone/>
                      </a:pPr>
                      <a:r>
                        <a:rPr lang="en-US" sz="1200" b="1" dirty="0">
                          <a:solidFill>
                            <a:srgbClr val="FFFFFF"/>
                          </a:solidFill>
                        </a:rPr>
                        <a:t>Workload</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13223A"/>
                    </a:solidFill>
                  </a:tcPr>
                </a:tc>
                <a:tc>
                  <a:txBody>
                    <a:bodyPr/>
                    <a:lstStyle/>
                    <a:p>
                      <a:pPr indent="0" marL="0">
                        <a:buNone/>
                      </a:pPr>
                      <a:r>
                        <a:rPr lang="en-US" sz="1200" b="1" dirty="0">
                          <a:solidFill>
                            <a:srgbClr val="FFFFFF"/>
                          </a:solidFill>
                        </a:rPr>
                        <a:t>Source</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13223A"/>
                    </a:solidFill>
                  </a:tcPr>
                </a:tc>
                <a:tc>
                  <a:txBody>
                    <a:bodyPr/>
                    <a:lstStyle/>
                    <a:p>
                      <a:pPr indent="0" marL="0">
                        <a:buNone/>
                      </a:pPr>
                      <a:r>
                        <a:rPr lang="en-US" sz="1200" b="1" dirty="0">
                          <a:solidFill>
                            <a:srgbClr val="FFFFFF"/>
                          </a:solidFill>
                        </a:rPr>
                        <a:t>Traffic shape</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13223A"/>
                    </a:solidFill>
                  </a:tcPr>
                </a:tc>
                <a:tc>
                  <a:txBody>
                    <a:bodyPr/>
                    <a:lstStyle/>
                    <a:p>
                      <a:pPr indent="0" marL="0">
                        <a:buNone/>
                      </a:pPr>
                      <a:r>
                        <a:rPr lang="en-US" sz="1200" b="1" dirty="0">
                          <a:solidFill>
                            <a:srgbClr val="FFFFFF"/>
                          </a:solidFill>
                        </a:rPr>
                        <a:t>What it tests</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13223A"/>
                    </a:solidFill>
                  </a:tcPr>
                </a:tc>
              </a:tr>
              <a:tr h="329184">
                <a:tc>
                  <a:txBody>
                    <a:bodyPr/>
                    <a:lstStyle/>
                    <a:p>
                      <a:pPr indent="0" marL="0">
                        <a:buNone/>
                      </a:pPr>
                      <a:r>
                        <a:rPr lang="en-US" sz="1200" dirty="0">
                          <a:solidFill>
                            <a:srgbClr val="1F2937"/>
                          </a:solidFill>
                          <a:latin typeface="Courier New" pitchFamily="34" charset="0"/>
                          <a:ea typeface="Courier New" pitchFamily="34" charset="-122"/>
                          <a:cs typeface="Courier New" pitchFamily="34" charset="-120"/>
                        </a:rPr>
                        <a:t>w_0001, w_0003</a:t>
                      </a:r>
                      <a:endParaRPr lang="en-US" sz="1200" dirty="0">
                        <a:latin typeface="Courier New" charset="0"/>
                        <a:ea typeface="Courier New" charset="0"/>
                        <a:cs typeface="Courier New"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00" b="1" dirty="0">
                          <a:solidFill>
                            <a:srgbClr val="1F2937"/>
                          </a:solidFill>
                          <a:latin typeface="Calibri" pitchFamily="34" charset="0"/>
                          <a:ea typeface="Calibri" pitchFamily="34" charset="-122"/>
                          <a:cs typeface="Calibri" pitchFamily="34" charset="-120"/>
                        </a:rPr>
                        <a:t>Real (Azure)</a:t>
                      </a:r>
                      <a:endParaRPr lang="en-US" sz="1200" dirty="0">
                        <a:latin typeface="Calibri" charset="0"/>
                        <a:ea typeface="Calibri" charset="0"/>
                        <a:cs typeface="Calibri"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Spike</a:t>
                      </a:r>
                      <a:endParaRPr lang="en-US" sz="1200" dirty="0">
                        <a:latin typeface="Calibri" charset="0"/>
                        <a:ea typeface="Calibri" charset="0"/>
                        <a:cs typeface="Calibri"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Reaction to sudden, unpredicted bursts</a:t>
                      </a:r>
                      <a:endParaRPr lang="en-US" sz="1200" dirty="0">
                        <a:latin typeface="Calibri" charset="0"/>
                        <a:ea typeface="Calibri" charset="0"/>
                        <a:cs typeface="Calibri"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r>
              <a:tr h="329184">
                <a:tc>
                  <a:txBody>
                    <a:bodyPr/>
                    <a:lstStyle/>
                    <a:p>
                      <a:pPr indent="0" marL="0">
                        <a:buNone/>
                      </a:pPr>
                      <a:r>
                        <a:rPr lang="en-US" sz="1200" dirty="0">
                          <a:solidFill>
                            <a:srgbClr val="1F2937"/>
                          </a:solidFill>
                          <a:latin typeface="Courier New" pitchFamily="34" charset="0"/>
                          <a:ea typeface="Courier New" pitchFamily="34" charset="-122"/>
                          <a:cs typeface="Courier New" pitchFamily="34" charset="-120"/>
                        </a:rPr>
                        <a:t>w_0002</a:t>
                      </a:r>
                      <a:endParaRPr lang="en-US" sz="1200" dirty="0">
                        <a:latin typeface="Courier New" charset="0"/>
                        <a:ea typeface="Courier New" charset="0"/>
                        <a:cs typeface="Courier New"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00" b="1" dirty="0">
                          <a:solidFill>
                            <a:srgbClr val="1F2937"/>
                          </a:solidFill>
                          <a:latin typeface="Calibri" pitchFamily="34" charset="0"/>
                          <a:ea typeface="Calibri" pitchFamily="34" charset="-122"/>
                          <a:cs typeface="Calibri" pitchFamily="34" charset="-120"/>
                        </a:rPr>
                        <a:t>Real (Azure)</a:t>
                      </a:r>
                      <a:endParaRPr lang="en-US" sz="1200" dirty="0">
                        <a:latin typeface="Calibri" charset="0"/>
                        <a:ea typeface="Calibri" charset="0"/>
                        <a:cs typeface="Calibri"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Periodic</a:t>
                      </a:r>
                      <a:endParaRPr lang="en-US" sz="1200" dirty="0">
                        <a:latin typeface="Calibri" charset="0"/>
                        <a:ea typeface="Calibri" charset="0"/>
                        <a:cs typeface="Calibri"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Whether the forecaster captures daily rhythm</a:t>
                      </a:r>
                      <a:endParaRPr lang="en-US" sz="1200" dirty="0">
                        <a:latin typeface="Calibri" charset="0"/>
                        <a:ea typeface="Calibri" charset="0"/>
                        <a:cs typeface="Calibri"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1F2937"/>
                          </a:solidFill>
                          <a:latin typeface="Courier New" pitchFamily="34" charset="0"/>
                          <a:ea typeface="Courier New" pitchFamily="34" charset="-122"/>
                          <a:cs typeface="Courier New" pitchFamily="34" charset="-120"/>
                        </a:rPr>
                        <a:t>w_0004</a:t>
                      </a:r>
                      <a:endParaRPr lang="en-US" sz="1200" dirty="0">
                        <a:latin typeface="Courier New" charset="0"/>
                        <a:ea typeface="Courier New" charset="0"/>
                        <a:cs typeface="Courier New"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00" b="1" dirty="0">
                          <a:solidFill>
                            <a:srgbClr val="1F2937"/>
                          </a:solidFill>
                          <a:latin typeface="Calibri" pitchFamily="34" charset="0"/>
                          <a:ea typeface="Calibri" pitchFamily="34" charset="-122"/>
                          <a:cs typeface="Calibri" pitchFamily="34" charset="-120"/>
                        </a:rPr>
                        <a:t>Real (Azure)</a:t>
                      </a:r>
                      <a:endParaRPr lang="en-US" sz="1200" dirty="0">
                        <a:latin typeface="Calibri" charset="0"/>
                        <a:ea typeface="Calibri" charset="0"/>
                        <a:cs typeface="Calibri"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Ramp</a:t>
                      </a:r>
                      <a:endParaRPr lang="en-US" sz="1200" dirty="0">
                        <a:latin typeface="Calibri" charset="0"/>
                        <a:ea typeface="Calibri" charset="0"/>
                        <a:cs typeface="Calibri"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Steady growth — used in the live demo</a:t>
                      </a:r>
                      <a:endParaRPr lang="en-US" sz="1200" dirty="0">
                        <a:latin typeface="Calibri" charset="0"/>
                        <a:ea typeface="Calibri" charset="0"/>
                        <a:cs typeface="Calibri"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r>
              <a:tr h="329184">
                <a:tc>
                  <a:txBody>
                    <a:bodyPr/>
                    <a:lstStyle/>
                    <a:p>
                      <a:pPr indent="0" marL="0">
                        <a:buNone/>
                      </a:pPr>
                      <a:r>
                        <a:rPr lang="en-US" sz="1200" dirty="0">
                          <a:solidFill>
                            <a:srgbClr val="1F2937"/>
                          </a:solidFill>
                          <a:latin typeface="Courier New" pitchFamily="34" charset="0"/>
                          <a:ea typeface="Courier New" pitchFamily="34" charset="-122"/>
                          <a:cs typeface="Courier New" pitchFamily="34" charset="-120"/>
                        </a:rPr>
                        <a:t>w_0005</a:t>
                      </a:r>
                      <a:endParaRPr lang="en-US" sz="1200" dirty="0">
                        <a:latin typeface="Courier New" charset="0"/>
                        <a:ea typeface="Courier New" charset="0"/>
                        <a:cs typeface="Courier New"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00" b="1" dirty="0">
                          <a:solidFill>
                            <a:srgbClr val="1F2937"/>
                          </a:solidFill>
                          <a:latin typeface="Calibri" pitchFamily="34" charset="0"/>
                          <a:ea typeface="Calibri" pitchFamily="34" charset="-122"/>
                          <a:cs typeface="Calibri" pitchFamily="34" charset="-120"/>
                        </a:rPr>
                        <a:t>Real (Azure)</a:t>
                      </a:r>
                      <a:endParaRPr lang="en-US" sz="1200" dirty="0">
                        <a:latin typeface="Calibri" charset="0"/>
                        <a:ea typeface="Calibri" charset="0"/>
                        <a:cs typeface="Calibri"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Noisy, level</a:t>
                      </a:r>
                      <a:endParaRPr lang="en-US" sz="1200" dirty="0">
                        <a:latin typeface="Calibri" charset="0"/>
                        <a:ea typeface="Calibri" charset="0"/>
                        <a:cs typeface="Calibri"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That we do not over-react to jitter</a:t>
                      </a:r>
                      <a:endParaRPr lang="en-US" sz="1200" dirty="0">
                        <a:latin typeface="Calibri" charset="0"/>
                        <a:ea typeface="Calibri" charset="0"/>
                        <a:cs typeface="Calibri"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1F2937"/>
                          </a:solidFill>
                          <a:latin typeface="Courier New" pitchFamily="34" charset="0"/>
                          <a:ea typeface="Courier New" pitchFamily="34" charset="-122"/>
                          <a:cs typeface="Courier New" pitchFamily="34" charset="-120"/>
                        </a:rPr>
                        <a:t>coupled_oscillation</a:t>
                      </a:r>
                      <a:endParaRPr lang="en-US" sz="1200" dirty="0">
                        <a:latin typeface="Courier New" charset="0"/>
                        <a:ea typeface="Courier New" charset="0"/>
                        <a:cs typeface="Courier New"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Synthetic</a:t>
                      </a:r>
                      <a:endParaRPr lang="en-US" sz="1200" dirty="0">
                        <a:latin typeface="Calibri" charset="0"/>
                        <a:ea typeface="Calibri" charset="0"/>
                        <a:cs typeface="Calibri"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Alternating high / low</a:t>
                      </a:r>
                      <a:endParaRPr lang="en-US" sz="1200" dirty="0">
                        <a:latin typeface="Calibri" charset="0"/>
                        <a:ea typeface="Calibri" charset="0"/>
                        <a:cs typeface="Calibri"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Deliberately makes the two scaling loops fight</a:t>
                      </a:r>
                      <a:endParaRPr lang="en-US" sz="1200" dirty="0">
                        <a:latin typeface="Calibri" charset="0"/>
                        <a:ea typeface="Calibri" charset="0"/>
                        <a:cs typeface="Calibri"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r>
              <a:tr h="329184">
                <a:tc>
                  <a:txBody>
                    <a:bodyPr/>
                    <a:lstStyle/>
                    <a:p>
                      <a:pPr indent="0" marL="0">
                        <a:buNone/>
                      </a:pPr>
                      <a:r>
                        <a:rPr lang="en-US" sz="1200" dirty="0">
                          <a:solidFill>
                            <a:srgbClr val="1F2937"/>
                          </a:solidFill>
                          <a:latin typeface="Courier New" pitchFamily="34" charset="0"/>
                          <a:ea typeface="Courier New" pitchFamily="34" charset="-122"/>
                          <a:cs typeface="Courier New" pitchFamily="34" charset="-120"/>
                        </a:rPr>
                        <a:t>drift</a:t>
                      </a:r>
                      <a:endParaRPr lang="en-US" sz="1200" dirty="0">
                        <a:latin typeface="Courier New" charset="0"/>
                        <a:ea typeface="Courier New" charset="0"/>
                        <a:cs typeface="Courier New"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Synthetic</a:t>
                      </a:r>
                      <a:endParaRPr lang="en-US" sz="1200" dirty="0">
                        <a:latin typeface="Calibri" charset="0"/>
                        <a:ea typeface="Calibri" charset="0"/>
                        <a:cs typeface="Calibri"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Pattern change</a:t>
                      </a:r>
                      <a:endParaRPr lang="en-US" sz="1200" dirty="0">
                        <a:latin typeface="Calibri" charset="0"/>
                        <a:ea typeface="Calibri" charset="0"/>
                        <a:cs typeface="Calibri"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Forces the ADWIN drift detector to fire</a:t>
                      </a:r>
                      <a:endParaRPr lang="en-US" sz="1200" dirty="0">
                        <a:latin typeface="Calibri" charset="0"/>
                        <a:ea typeface="Calibri" charset="0"/>
                        <a:cs typeface="Calibri"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1F2937"/>
                          </a:solidFill>
                          <a:latin typeface="Courier New" pitchFamily="34" charset="0"/>
                          <a:ea typeface="Courier New" pitchFamily="34" charset="-122"/>
                          <a:cs typeface="Courier New" pitchFamily="34" charset="-120"/>
                        </a:rPr>
                        <a:t>extreme_overload</a:t>
                      </a:r>
                      <a:endParaRPr lang="en-US" sz="1200" dirty="0">
                        <a:latin typeface="Courier New" charset="0"/>
                        <a:ea typeface="Courier New" charset="0"/>
                        <a:cs typeface="Courier New"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Synthetic</a:t>
                      </a:r>
                      <a:endParaRPr lang="en-US" sz="1200" dirty="0">
                        <a:latin typeface="Calibri" charset="0"/>
                        <a:ea typeface="Calibri" charset="0"/>
                        <a:cs typeface="Calibri"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Saturation</a:t>
                      </a:r>
                      <a:endParaRPr lang="en-US" sz="1200" dirty="0">
                        <a:latin typeface="Calibri" charset="0"/>
                        <a:ea typeface="Calibri" charset="0"/>
                        <a:cs typeface="Calibri"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Pushes past what the cluster can serve</a:t>
                      </a:r>
                      <a:endParaRPr lang="en-US" sz="1200" dirty="0">
                        <a:latin typeface="Calibri" charset="0"/>
                        <a:ea typeface="Calibri" charset="0"/>
                        <a:cs typeface="Calibri"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r>
              <a:tr h="329184">
                <a:tc>
                  <a:txBody>
                    <a:bodyPr/>
                    <a:lstStyle/>
                    <a:p>
                      <a:pPr indent="0" marL="0">
                        <a:buNone/>
                      </a:pPr>
                      <a:r>
                        <a:rPr lang="en-US" sz="1200" dirty="0">
                          <a:solidFill>
                            <a:srgbClr val="1F2937"/>
                          </a:solidFill>
                          <a:latin typeface="Courier New" pitchFamily="34" charset="0"/>
                          <a:ea typeface="Courier New" pitchFamily="34" charset="-122"/>
                          <a:cs typeface="Courier New" pitchFamily="34" charset="-120"/>
                        </a:rPr>
                        <a:t>stress_uncertainty</a:t>
                      </a:r>
                      <a:endParaRPr lang="en-US" sz="1200" dirty="0">
                        <a:latin typeface="Courier New" charset="0"/>
                        <a:ea typeface="Courier New" charset="0"/>
                        <a:cs typeface="Courier New"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Synthetic</a:t>
                      </a:r>
                      <a:endParaRPr lang="en-US" sz="1200" dirty="0">
                        <a:latin typeface="Calibri" charset="0"/>
                        <a:ea typeface="Calibri" charset="0"/>
                        <a:cs typeface="Calibri"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Unpredictable</a:t>
                      </a:r>
                      <a:endParaRPr lang="en-US" sz="1200" dirty="0">
                        <a:latin typeface="Calibri" charset="0"/>
                        <a:ea typeface="Calibri" charset="0"/>
                        <a:cs typeface="Calibri"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Makes the forecast highly uncertain</a:t>
                      </a:r>
                      <a:endParaRPr lang="en-US" sz="1200" dirty="0">
                        <a:latin typeface="Calibri" charset="0"/>
                        <a:ea typeface="Calibri" charset="0"/>
                        <a:cs typeface="Calibri"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4709160"/>
            <a:ext cx="10972800" cy="274320"/>
          </a:xfrm>
          <a:prstGeom prst="rect">
            <a:avLst/>
          </a:prstGeom>
          <a:noFill/>
          <a:ln/>
        </p:spPr>
        <p:txBody>
          <a:bodyPr wrap="square" lIns="0" tIns="0" rIns="0" bIns="0" rtlCol="0" anchor="t"/>
          <a:lstStyle/>
          <a:p>
            <a:pPr indent="0" marL="0">
              <a:buNone/>
            </a:pPr>
            <a:r>
              <a:rPr lang="en-US" sz="1050" b="1" spc="100" kern="0" dirty="0">
                <a:solidFill>
                  <a:srgbClr val="5B6675"/>
                </a:solidFill>
                <a:latin typeface="Calibri" pitchFamily="34" charset="0"/>
                <a:ea typeface="Calibri" pitchFamily="34" charset="-122"/>
                <a:cs typeface="Calibri" pitchFamily="34" charset="-120"/>
              </a:rPr>
              <a:t>EACH 100-MINUTE TRACE IS SPLIT SO THE MODEL IS NEVER SCORED ON DATA IT HAS SEEN</a:t>
            </a:r>
            <a:endParaRPr lang="en-US" sz="1050" dirty="0"/>
          </a:p>
        </p:txBody>
      </p:sp>
      <p:sp>
        <p:nvSpPr>
          <p:cNvPr id="6" name="Shape 3"/>
          <p:cNvSpPr/>
          <p:nvPr/>
        </p:nvSpPr>
        <p:spPr>
          <a:xfrm>
            <a:off x="548640" y="5074920"/>
            <a:ext cx="1081735" cy="502920"/>
          </a:xfrm>
          <a:prstGeom prst="rect">
            <a:avLst/>
          </a:prstGeom>
          <a:solidFill>
            <a:srgbClr val="C9D1DC"/>
          </a:solidFill>
          <a:ln w="12700">
            <a:solidFill>
              <a:srgbClr val="C9D1DC"/>
            </a:solidFill>
            <a:prstDash val="solid"/>
          </a:ln>
        </p:spPr>
      </p:sp>
      <p:sp>
        <p:nvSpPr>
          <p:cNvPr id="7" name="Text 4"/>
          <p:cNvSpPr txBox="1"/>
          <p:nvPr/>
        </p:nvSpPr>
        <p:spPr>
          <a:xfrm>
            <a:off x="548640" y="5074920"/>
            <a:ext cx="1081735" cy="502920"/>
          </a:xfrm>
          <a:prstGeom prst="rect">
            <a:avLst/>
          </a:prstGeom>
          <a:noFill/>
          <a:ln/>
        </p:spPr>
        <p:txBody>
          <a:bodyPr wrap="square" lIns="0" tIns="0" rIns="0" bIns="0" rtlCol="0" anchor="ctr"/>
          <a:lstStyle/>
          <a:p>
            <a:pPr algn="ctr" indent="0" marL="0">
              <a:buNone/>
            </a:pPr>
            <a:r>
              <a:rPr lang="en-US" sz="1200" b="1" dirty="0">
                <a:solidFill>
                  <a:srgbClr val="1F2937"/>
                </a:solidFill>
                <a:latin typeface="Calibri" pitchFamily="34" charset="0"/>
                <a:ea typeface="Calibri" pitchFamily="34" charset="-122"/>
                <a:cs typeface="Calibri" pitchFamily="34" charset="-120"/>
              </a:rPr>
              <a:t>Warm-up</a:t>
            </a:r>
            <a:endParaRPr lang="en-US" sz="1200" dirty="0"/>
          </a:p>
        </p:txBody>
      </p:sp>
      <p:sp>
        <p:nvSpPr>
          <p:cNvPr id="8" name="Shape 5"/>
          <p:cNvSpPr/>
          <p:nvPr/>
        </p:nvSpPr>
        <p:spPr>
          <a:xfrm>
            <a:off x="1657807" y="5074920"/>
            <a:ext cx="4409237" cy="502920"/>
          </a:xfrm>
          <a:prstGeom prst="rect">
            <a:avLst/>
          </a:prstGeom>
          <a:solidFill>
            <a:srgbClr val="2563EB"/>
          </a:solidFill>
          <a:ln w="12700">
            <a:solidFill>
              <a:srgbClr val="2563EB"/>
            </a:solidFill>
            <a:prstDash val="solid"/>
          </a:ln>
        </p:spPr>
      </p:sp>
      <p:sp>
        <p:nvSpPr>
          <p:cNvPr id="9" name="Text 6"/>
          <p:cNvSpPr txBox="1"/>
          <p:nvPr/>
        </p:nvSpPr>
        <p:spPr>
          <a:xfrm>
            <a:off x="1657807" y="5074920"/>
            <a:ext cx="4409237"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Train forecaster (10–50 min)</a:t>
            </a:r>
            <a:endParaRPr lang="en-US" sz="1200" dirty="0"/>
          </a:p>
        </p:txBody>
      </p:sp>
      <p:sp>
        <p:nvSpPr>
          <p:cNvPr id="10" name="Shape 7"/>
          <p:cNvSpPr/>
          <p:nvPr/>
        </p:nvSpPr>
        <p:spPr>
          <a:xfrm>
            <a:off x="6094476" y="5074920"/>
            <a:ext cx="2190902" cy="502920"/>
          </a:xfrm>
          <a:prstGeom prst="rect">
            <a:avLst/>
          </a:prstGeom>
          <a:solidFill>
            <a:srgbClr val="C7811A"/>
          </a:solidFill>
          <a:ln w="12700">
            <a:solidFill>
              <a:srgbClr val="C7811A"/>
            </a:solidFill>
            <a:prstDash val="solid"/>
          </a:ln>
        </p:spPr>
      </p:sp>
      <p:sp>
        <p:nvSpPr>
          <p:cNvPr id="11" name="Text 8"/>
          <p:cNvSpPr txBox="1"/>
          <p:nvPr/>
        </p:nvSpPr>
        <p:spPr>
          <a:xfrm>
            <a:off x="6094476" y="5074920"/>
            <a:ext cx="2190902"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Calibrate (50–70)</a:t>
            </a:r>
            <a:endParaRPr lang="en-US" sz="1200" dirty="0"/>
          </a:p>
        </p:txBody>
      </p:sp>
      <p:sp>
        <p:nvSpPr>
          <p:cNvPr id="12" name="Shape 9"/>
          <p:cNvSpPr/>
          <p:nvPr/>
        </p:nvSpPr>
        <p:spPr>
          <a:xfrm>
            <a:off x="8312810" y="5074920"/>
            <a:ext cx="3300070" cy="502920"/>
          </a:xfrm>
          <a:prstGeom prst="rect">
            <a:avLst/>
          </a:prstGeom>
          <a:solidFill>
            <a:srgbClr val="0F766E"/>
          </a:solidFill>
          <a:ln w="12700">
            <a:solidFill>
              <a:srgbClr val="0F766E"/>
            </a:solidFill>
            <a:prstDash val="solid"/>
          </a:ln>
        </p:spPr>
      </p:sp>
      <p:sp>
        <p:nvSpPr>
          <p:cNvPr id="13" name="Text 10"/>
          <p:cNvSpPr txBox="1"/>
          <p:nvPr/>
        </p:nvSpPr>
        <p:spPr>
          <a:xfrm>
            <a:off x="8312810" y="5074920"/>
            <a:ext cx="330007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Scored test window (70–100)</a:t>
            </a:r>
            <a:endParaRPr lang="en-US" sz="1200" dirty="0"/>
          </a:p>
        </p:txBody>
      </p:sp>
      <p:sp>
        <p:nvSpPr>
          <p:cNvPr id="14" name="Text 11"/>
          <p:cNvSpPr txBox="1"/>
          <p:nvPr/>
        </p:nvSpPr>
        <p:spPr>
          <a:xfrm>
            <a:off x="548640" y="5742432"/>
            <a:ext cx="11091672" cy="457200"/>
          </a:xfrm>
          <a:prstGeom prst="rect">
            <a:avLst/>
          </a:prstGeom>
          <a:noFill/>
          <a:ln/>
        </p:spPr>
        <p:txBody>
          <a:bodyPr wrap="square" lIns="0" tIns="0" rIns="0" bIns="0" rtlCol="0" anchor="t"/>
          <a:lstStyle/>
          <a:p>
            <a:pPr indent="0" marL="0">
              <a:buNone/>
            </a:pPr>
            <a:r>
              <a:rPr lang="en-US" sz="1200" i="1" dirty="0">
                <a:solidFill>
                  <a:srgbClr val="5B6675"/>
                </a:solidFill>
                <a:latin typeface="Calibri" pitchFamily="34" charset="0"/>
                <a:ea typeface="Calibri" pitchFamily="34" charset="-122"/>
                <a:cs typeface="Calibri" pitchFamily="34" charset="-120"/>
              </a:rPr>
              <a:t>Real traces are 100-minute excerpts of 14-day traces from the public Azure Functions 2019 dataset (10,000+ workloads); the full-dataset converter is written but not yet run.</a:t>
            </a:r>
            <a:endParaRPr lang="en-US" sz="1200" dirty="0"/>
          </a:p>
        </p:txBody>
      </p:sp>
      <p:sp>
        <p:nvSpPr>
          <p:cNvPr id="15" name="Text 12"/>
          <p:cNvSpPr txBox="1"/>
          <p:nvPr/>
        </p:nvSpPr>
        <p:spPr>
          <a:xfrm>
            <a:off x="548640" y="6419088"/>
            <a:ext cx="8229600" cy="228600"/>
          </a:xfrm>
          <a:prstGeom prst="rect">
            <a:avLst/>
          </a:prstGeom>
          <a:noFill/>
          <a:ln/>
        </p:spPr>
        <p:txBody>
          <a:bodyPr wrap="square" lIns="0" tIns="0" rIns="0" bIns="0" rtlCol="0" anchor="t"/>
          <a:lstStyle/>
          <a:p>
            <a:pPr indent="0" marL="0">
              <a:buNone/>
            </a:pPr>
            <a:r>
              <a:rPr lang="en-US" sz="900" dirty="0">
                <a:solidFill>
                  <a:srgbClr val="8A94A3"/>
                </a:solidFill>
                <a:latin typeface="Calibri" pitchFamily="34" charset="0"/>
                <a:ea typeface="Calibri" pitchFamily="34" charset="-122"/>
                <a:cs typeface="Calibri" pitchFamily="34" charset="-120"/>
              </a:rPr>
              <a:t>VIT Vellore  ·  BCSE303P Operating Systems Laboratory  ·  CHIMERA  ·  Review 2</a:t>
            </a:r>
            <a:endParaRPr lang="en-US" sz="900" dirty="0"/>
          </a:p>
        </p:txBody>
      </p:sp>
      <p:sp>
        <p:nvSpPr>
          <p:cNvPr id="16" name="Text 13"/>
          <p:cNvSpPr txBox="1"/>
          <p:nvPr/>
        </p:nvSpPr>
        <p:spPr>
          <a:xfrm>
            <a:off x="10725912" y="6419088"/>
            <a:ext cx="914400" cy="228600"/>
          </a:xfrm>
          <a:prstGeom prst="rect">
            <a:avLst/>
          </a:prstGeom>
          <a:noFill/>
          <a:ln/>
        </p:spPr>
        <p:txBody>
          <a:bodyPr wrap="square" lIns="0" tIns="0" rIns="0" bIns="0" rtlCol="0" anchor="t"/>
          <a:lstStyle/>
          <a:p>
            <a:pPr algn="r" indent="0" marL="0">
              <a:buNone/>
            </a:pPr>
            <a:r>
              <a:rPr lang="en-US" sz="900" dirty="0">
                <a:solidFill>
                  <a:srgbClr val="8A94A3"/>
                </a:solidFill>
                <a:latin typeface="Calibri" pitchFamily="34" charset="0"/>
                <a:ea typeface="Calibri" pitchFamily="34" charset="-122"/>
                <a:cs typeface="Calibri" pitchFamily="34" charset="-120"/>
              </a:rPr>
              <a:t>6 / 21</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300" kern="0" dirty="0">
                <a:solidFill>
                  <a:srgbClr val="C7811A"/>
                </a:solidFill>
                <a:latin typeface="Calibri" pitchFamily="34" charset="0"/>
                <a:ea typeface="Calibri" pitchFamily="34" charset="-122"/>
                <a:cs typeface="Calibri" pitchFamily="34" charset="-120"/>
              </a:rPr>
              <a:t>RESULTS &amp; ANALYSIS · SETUP</a:t>
            </a:r>
            <a:endParaRPr lang="en-US" sz="11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rgbClr val="13223A"/>
                </a:solidFill>
                <a:latin typeface="Cambria" pitchFamily="34" charset="0"/>
                <a:ea typeface="Cambria" pitchFamily="34" charset="-122"/>
                <a:cs typeface="Cambria" pitchFamily="34" charset="-120"/>
              </a:rPr>
              <a:t>How the comparison was run</a:t>
            </a:r>
            <a:endParaRPr lang="en-US" sz="3000" dirty="0"/>
          </a:p>
        </p:txBody>
      </p:sp>
      <p:sp>
        <p:nvSpPr>
          <p:cNvPr id="4" name="Shape 2"/>
          <p:cNvSpPr/>
          <p:nvPr/>
        </p:nvSpPr>
        <p:spPr>
          <a:xfrm>
            <a:off x="548640" y="1554480"/>
            <a:ext cx="2587752" cy="2514600"/>
          </a:xfrm>
          <a:prstGeom prst="roundRect">
            <a:avLst>
              <a:gd name="adj" fmla="val 2909"/>
            </a:avLst>
          </a:prstGeom>
          <a:solidFill>
            <a:srgbClr val="F3F5F8"/>
          </a:solidFill>
          <a:ln w="12700">
            <a:solidFill>
              <a:srgbClr val="F3F5F8"/>
            </a:solidFill>
            <a:prstDash val="solid"/>
          </a:ln>
        </p:spPr>
      </p:sp>
      <p:sp>
        <p:nvSpPr>
          <p:cNvPr id="5" name="Shape 3"/>
          <p:cNvSpPr/>
          <p:nvPr/>
        </p:nvSpPr>
        <p:spPr>
          <a:xfrm>
            <a:off x="777240" y="1783080"/>
            <a:ext cx="411480" cy="411480"/>
          </a:xfrm>
          <a:prstGeom prst="ellipse">
            <a:avLst/>
          </a:prstGeom>
          <a:solidFill>
            <a:srgbClr val="13223A"/>
          </a:solidFill>
          <a:ln w="12700">
            <a:solidFill>
              <a:srgbClr val="13223A"/>
            </a:solidFill>
            <a:prstDash val="solid"/>
          </a:ln>
        </p:spPr>
      </p:sp>
      <p:sp>
        <p:nvSpPr>
          <p:cNvPr id="6" name="Text 4"/>
          <p:cNvSpPr txBox="1"/>
          <p:nvPr/>
        </p:nvSpPr>
        <p:spPr>
          <a:xfrm>
            <a:off x="777240" y="1783080"/>
            <a:ext cx="41148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txBox="1"/>
          <p:nvPr/>
        </p:nvSpPr>
        <p:spPr>
          <a:xfrm>
            <a:off x="777240" y="2331720"/>
            <a:ext cx="2194560" cy="365760"/>
          </a:xfrm>
          <a:prstGeom prst="rect">
            <a:avLst/>
          </a:prstGeom>
          <a:noFill/>
          <a:ln/>
        </p:spPr>
        <p:txBody>
          <a:bodyPr wrap="square" lIns="0" tIns="0" rIns="0" bIns="0" rtlCol="0" anchor="t"/>
          <a:lstStyle/>
          <a:p>
            <a:pPr indent="0" marL="0">
              <a:buNone/>
            </a:pPr>
            <a:r>
              <a:rPr lang="en-US" sz="1700" b="1" dirty="0">
                <a:solidFill>
                  <a:srgbClr val="13223A"/>
                </a:solidFill>
                <a:latin typeface="Cambria" pitchFamily="34" charset="0"/>
                <a:ea typeface="Cambria" pitchFamily="34" charset="-122"/>
                <a:cs typeface="Cambria" pitchFamily="34" charset="-120"/>
              </a:rPr>
              <a:t>Workloads</a:t>
            </a:r>
            <a:endParaRPr lang="en-US" sz="1700" dirty="0"/>
          </a:p>
        </p:txBody>
      </p:sp>
      <p:sp>
        <p:nvSpPr>
          <p:cNvPr id="8" name="Text 6"/>
          <p:cNvSpPr txBox="1"/>
          <p:nvPr/>
        </p:nvSpPr>
        <p:spPr>
          <a:xfrm>
            <a:off x="777240" y="2743200"/>
            <a:ext cx="2194560" cy="123444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9 traces — 5 real Azure Functions 2019 excerpts plus 4 synthetic stress scenarios.</a:t>
            </a:r>
            <a:endParaRPr lang="en-US" sz="1300" dirty="0"/>
          </a:p>
        </p:txBody>
      </p:sp>
      <p:sp>
        <p:nvSpPr>
          <p:cNvPr id="9" name="Shape 7"/>
          <p:cNvSpPr/>
          <p:nvPr/>
        </p:nvSpPr>
        <p:spPr>
          <a:xfrm>
            <a:off x="3383280" y="1554480"/>
            <a:ext cx="2587752" cy="2514600"/>
          </a:xfrm>
          <a:prstGeom prst="roundRect">
            <a:avLst>
              <a:gd name="adj" fmla="val 2909"/>
            </a:avLst>
          </a:prstGeom>
          <a:solidFill>
            <a:srgbClr val="F3F5F8"/>
          </a:solidFill>
          <a:ln w="12700">
            <a:solidFill>
              <a:srgbClr val="F3F5F8"/>
            </a:solidFill>
            <a:prstDash val="solid"/>
          </a:ln>
        </p:spPr>
      </p:sp>
      <p:sp>
        <p:nvSpPr>
          <p:cNvPr id="10" name="Shape 8"/>
          <p:cNvSpPr/>
          <p:nvPr/>
        </p:nvSpPr>
        <p:spPr>
          <a:xfrm>
            <a:off x="3611880" y="1783080"/>
            <a:ext cx="411480" cy="411480"/>
          </a:xfrm>
          <a:prstGeom prst="ellipse">
            <a:avLst/>
          </a:prstGeom>
          <a:solidFill>
            <a:srgbClr val="13223A"/>
          </a:solidFill>
          <a:ln w="12700">
            <a:solidFill>
              <a:srgbClr val="13223A"/>
            </a:solidFill>
            <a:prstDash val="solid"/>
          </a:ln>
        </p:spPr>
      </p:sp>
      <p:sp>
        <p:nvSpPr>
          <p:cNvPr id="11" name="Text 9"/>
          <p:cNvSpPr txBox="1"/>
          <p:nvPr/>
        </p:nvSpPr>
        <p:spPr>
          <a:xfrm>
            <a:off x="3611880" y="1783080"/>
            <a:ext cx="41148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txBox="1"/>
          <p:nvPr/>
        </p:nvSpPr>
        <p:spPr>
          <a:xfrm>
            <a:off x="3611880" y="2331720"/>
            <a:ext cx="2194560" cy="365760"/>
          </a:xfrm>
          <a:prstGeom prst="rect">
            <a:avLst/>
          </a:prstGeom>
          <a:noFill/>
          <a:ln/>
        </p:spPr>
        <p:txBody>
          <a:bodyPr wrap="square" lIns="0" tIns="0" rIns="0" bIns="0" rtlCol="0" anchor="t"/>
          <a:lstStyle/>
          <a:p>
            <a:pPr indent="0" marL="0">
              <a:buNone/>
            </a:pPr>
            <a:r>
              <a:rPr lang="en-US" sz="1700" b="1" dirty="0">
                <a:solidFill>
                  <a:srgbClr val="13223A"/>
                </a:solidFill>
                <a:latin typeface="Cambria" pitchFamily="34" charset="0"/>
                <a:ea typeface="Cambria" pitchFamily="34" charset="-122"/>
                <a:cs typeface="Cambria" pitchFamily="34" charset="-120"/>
              </a:rPr>
              <a:t>Controllers</a:t>
            </a:r>
            <a:endParaRPr lang="en-US" sz="1700" dirty="0"/>
          </a:p>
        </p:txBody>
      </p:sp>
      <p:sp>
        <p:nvSpPr>
          <p:cNvPr id="13" name="Text 11"/>
          <p:cNvSpPr txBox="1"/>
          <p:nvPr/>
        </p:nvSpPr>
        <p:spPr>
          <a:xfrm>
            <a:off x="3611880" y="2743200"/>
            <a:ext cx="2194560" cy="123444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CHIMERA, HPA, VPA, HPA+VPA, AAPA, MagicScaler-inspired, KOSMOS, plus 14 ablation variants.</a:t>
            </a:r>
            <a:endParaRPr lang="en-US" sz="1300" dirty="0"/>
          </a:p>
        </p:txBody>
      </p:sp>
      <p:sp>
        <p:nvSpPr>
          <p:cNvPr id="14" name="Shape 12"/>
          <p:cNvSpPr/>
          <p:nvPr/>
        </p:nvSpPr>
        <p:spPr>
          <a:xfrm>
            <a:off x="6217920" y="1554480"/>
            <a:ext cx="2587752" cy="2514600"/>
          </a:xfrm>
          <a:prstGeom prst="roundRect">
            <a:avLst>
              <a:gd name="adj" fmla="val 2909"/>
            </a:avLst>
          </a:prstGeom>
          <a:solidFill>
            <a:srgbClr val="F3F5F8"/>
          </a:solidFill>
          <a:ln w="12700">
            <a:solidFill>
              <a:srgbClr val="F3F5F8"/>
            </a:solidFill>
            <a:prstDash val="solid"/>
          </a:ln>
        </p:spPr>
      </p:sp>
      <p:sp>
        <p:nvSpPr>
          <p:cNvPr id="15" name="Shape 13"/>
          <p:cNvSpPr/>
          <p:nvPr/>
        </p:nvSpPr>
        <p:spPr>
          <a:xfrm>
            <a:off x="6446520" y="1783080"/>
            <a:ext cx="411480" cy="411480"/>
          </a:xfrm>
          <a:prstGeom prst="ellipse">
            <a:avLst/>
          </a:prstGeom>
          <a:solidFill>
            <a:srgbClr val="13223A"/>
          </a:solidFill>
          <a:ln w="12700">
            <a:solidFill>
              <a:srgbClr val="13223A"/>
            </a:solidFill>
            <a:prstDash val="solid"/>
          </a:ln>
        </p:spPr>
      </p:sp>
      <p:sp>
        <p:nvSpPr>
          <p:cNvPr id="16" name="Text 14"/>
          <p:cNvSpPr txBox="1"/>
          <p:nvPr/>
        </p:nvSpPr>
        <p:spPr>
          <a:xfrm>
            <a:off x="6446520" y="1783080"/>
            <a:ext cx="41148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5"/>
          <p:cNvSpPr txBox="1"/>
          <p:nvPr/>
        </p:nvSpPr>
        <p:spPr>
          <a:xfrm>
            <a:off x="6446520" y="2331720"/>
            <a:ext cx="2194560" cy="365760"/>
          </a:xfrm>
          <a:prstGeom prst="rect">
            <a:avLst/>
          </a:prstGeom>
          <a:noFill/>
          <a:ln/>
        </p:spPr>
        <p:txBody>
          <a:bodyPr wrap="square" lIns="0" tIns="0" rIns="0" bIns="0" rtlCol="0" anchor="t"/>
          <a:lstStyle/>
          <a:p>
            <a:pPr indent="0" marL="0">
              <a:buNone/>
            </a:pPr>
            <a:r>
              <a:rPr lang="en-US" sz="1700" b="1" dirty="0">
                <a:solidFill>
                  <a:srgbClr val="13223A"/>
                </a:solidFill>
                <a:latin typeface="Cambria" pitchFamily="34" charset="0"/>
                <a:ea typeface="Cambria" pitchFamily="34" charset="-122"/>
                <a:cs typeface="Cambria" pitchFamily="34" charset="-120"/>
              </a:rPr>
              <a:t>Protocol</a:t>
            </a:r>
            <a:endParaRPr lang="en-US" sz="1700" dirty="0"/>
          </a:p>
        </p:txBody>
      </p:sp>
      <p:sp>
        <p:nvSpPr>
          <p:cNvPr id="18" name="Text 16"/>
          <p:cNvSpPr txBox="1"/>
          <p:nvPr/>
        </p:nvSpPr>
        <p:spPr>
          <a:xfrm>
            <a:off x="6446520" y="2743200"/>
            <a:ext cx="2194560" cy="123444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3 seeds × 9 workloads × 27 configurations = 720 runs, scored on the 70–100 min window only.</a:t>
            </a:r>
            <a:endParaRPr lang="en-US" sz="1300" dirty="0"/>
          </a:p>
        </p:txBody>
      </p:sp>
      <p:sp>
        <p:nvSpPr>
          <p:cNvPr id="19" name="Shape 17"/>
          <p:cNvSpPr/>
          <p:nvPr/>
        </p:nvSpPr>
        <p:spPr>
          <a:xfrm>
            <a:off x="9052560" y="1554480"/>
            <a:ext cx="2587752" cy="2514600"/>
          </a:xfrm>
          <a:prstGeom prst="roundRect">
            <a:avLst>
              <a:gd name="adj" fmla="val 2909"/>
            </a:avLst>
          </a:prstGeom>
          <a:solidFill>
            <a:srgbClr val="F3F5F8"/>
          </a:solidFill>
          <a:ln w="12700">
            <a:solidFill>
              <a:srgbClr val="F3F5F8"/>
            </a:solidFill>
            <a:prstDash val="solid"/>
          </a:ln>
        </p:spPr>
      </p:sp>
      <p:sp>
        <p:nvSpPr>
          <p:cNvPr id="20" name="Shape 18"/>
          <p:cNvSpPr/>
          <p:nvPr/>
        </p:nvSpPr>
        <p:spPr>
          <a:xfrm>
            <a:off x="9281160" y="1783080"/>
            <a:ext cx="411480" cy="411480"/>
          </a:xfrm>
          <a:prstGeom prst="ellipse">
            <a:avLst/>
          </a:prstGeom>
          <a:solidFill>
            <a:srgbClr val="13223A"/>
          </a:solidFill>
          <a:ln w="12700">
            <a:solidFill>
              <a:srgbClr val="13223A"/>
            </a:solidFill>
            <a:prstDash val="solid"/>
          </a:ln>
        </p:spPr>
      </p:sp>
      <p:sp>
        <p:nvSpPr>
          <p:cNvPr id="21" name="Text 19"/>
          <p:cNvSpPr txBox="1"/>
          <p:nvPr/>
        </p:nvSpPr>
        <p:spPr>
          <a:xfrm>
            <a:off x="9281160" y="1783080"/>
            <a:ext cx="41148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2" name="Text 20"/>
          <p:cNvSpPr txBox="1"/>
          <p:nvPr/>
        </p:nvSpPr>
        <p:spPr>
          <a:xfrm>
            <a:off x="9281160" y="2331720"/>
            <a:ext cx="2194560" cy="365760"/>
          </a:xfrm>
          <a:prstGeom prst="rect">
            <a:avLst/>
          </a:prstGeom>
          <a:noFill/>
          <a:ln/>
        </p:spPr>
        <p:txBody>
          <a:bodyPr wrap="square" lIns="0" tIns="0" rIns="0" bIns="0" rtlCol="0" anchor="t"/>
          <a:lstStyle/>
          <a:p>
            <a:pPr indent="0" marL="0">
              <a:buNone/>
            </a:pPr>
            <a:r>
              <a:rPr lang="en-US" sz="1700" b="1" dirty="0">
                <a:solidFill>
                  <a:srgbClr val="13223A"/>
                </a:solidFill>
                <a:latin typeface="Cambria" pitchFamily="34" charset="0"/>
                <a:ea typeface="Cambria" pitchFamily="34" charset="-122"/>
                <a:cs typeface="Cambria" pitchFamily="34" charset="-120"/>
              </a:rPr>
              <a:t>Metrics</a:t>
            </a:r>
            <a:endParaRPr lang="en-US" sz="1700" dirty="0"/>
          </a:p>
        </p:txBody>
      </p:sp>
      <p:sp>
        <p:nvSpPr>
          <p:cNvPr id="23" name="Text 21"/>
          <p:cNvSpPr txBox="1"/>
          <p:nvPr/>
        </p:nvSpPr>
        <p:spPr>
          <a:xfrm>
            <a:off x="9281160" y="2743200"/>
            <a:ext cx="2194560" cy="123444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SLO violation rate (500 ms), p99 latency, pod-minutes, scaling actions, replica oscillations, REI.</a:t>
            </a:r>
            <a:endParaRPr lang="en-US" sz="1300" dirty="0"/>
          </a:p>
        </p:txBody>
      </p:sp>
      <p:sp>
        <p:nvSpPr>
          <p:cNvPr id="24" name="Shape 22"/>
          <p:cNvSpPr/>
          <p:nvPr/>
        </p:nvSpPr>
        <p:spPr>
          <a:xfrm>
            <a:off x="548640" y="4343400"/>
            <a:ext cx="11091672" cy="1783080"/>
          </a:xfrm>
          <a:prstGeom prst="roundRect">
            <a:avLst>
              <a:gd name="adj" fmla="val 4103"/>
            </a:avLst>
          </a:prstGeom>
          <a:solidFill>
            <a:srgbClr val="13223A"/>
          </a:solidFill>
          <a:ln w="12700">
            <a:solidFill>
              <a:srgbClr val="13223A"/>
            </a:solidFill>
            <a:prstDash val="solid"/>
          </a:ln>
        </p:spPr>
      </p:sp>
      <p:sp>
        <p:nvSpPr>
          <p:cNvPr id="25" name="Text 23"/>
          <p:cNvSpPr txBox="1"/>
          <p:nvPr/>
        </p:nvSpPr>
        <p:spPr>
          <a:xfrm>
            <a:off x="868680" y="4572000"/>
            <a:ext cx="4572000" cy="274320"/>
          </a:xfrm>
          <a:prstGeom prst="rect">
            <a:avLst/>
          </a:prstGeom>
          <a:noFill/>
          <a:ln/>
        </p:spPr>
        <p:txBody>
          <a:bodyPr wrap="square" lIns="0" tIns="0" rIns="0" bIns="0" rtlCol="0" anchor="t"/>
          <a:lstStyle/>
          <a:p>
            <a:pPr indent="0" marL="0">
              <a:buNone/>
            </a:pPr>
            <a:r>
              <a:rPr lang="en-US" sz="1100" b="1" spc="200" kern="0" dirty="0">
                <a:solidFill>
                  <a:srgbClr val="E3A646"/>
                </a:solidFill>
                <a:latin typeface="Calibri" pitchFamily="34" charset="0"/>
                <a:ea typeface="Calibri" pitchFamily="34" charset="-122"/>
                <a:cs typeface="Calibri" pitchFamily="34" charset="-120"/>
              </a:rPr>
              <a:t>FAIRNESS CONTROL</a:t>
            </a:r>
            <a:endParaRPr lang="en-US" sz="1100" dirty="0"/>
          </a:p>
        </p:txBody>
      </p:sp>
      <p:sp>
        <p:nvSpPr>
          <p:cNvPr id="26" name="Text 24"/>
          <p:cNvSpPr txBox="1"/>
          <p:nvPr/>
        </p:nvSpPr>
        <p:spPr>
          <a:xfrm>
            <a:off x="868680" y="4919472"/>
            <a:ext cx="10424160" cy="109728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Every controller starts from identical resource bounds (0.5 cores/pod, 2 replicas) and targets the same 70 % utilisation. An earlier run gave the horizontal-only baselines a 1.5-core floor — a 3× head-start. Those configurations are kept separately as a sensitivity study and never mixed into the headline comparison.</a:t>
            </a:r>
            <a:endParaRPr lang="en-US" sz="1400" dirty="0"/>
          </a:p>
        </p:txBody>
      </p:sp>
      <p:sp>
        <p:nvSpPr>
          <p:cNvPr id="27" name="Text 25"/>
          <p:cNvSpPr txBox="1"/>
          <p:nvPr/>
        </p:nvSpPr>
        <p:spPr>
          <a:xfrm>
            <a:off x="548640" y="6419088"/>
            <a:ext cx="8229600" cy="228600"/>
          </a:xfrm>
          <a:prstGeom prst="rect">
            <a:avLst/>
          </a:prstGeom>
          <a:noFill/>
          <a:ln/>
        </p:spPr>
        <p:txBody>
          <a:bodyPr wrap="square" lIns="0" tIns="0" rIns="0" bIns="0" rtlCol="0" anchor="t"/>
          <a:lstStyle/>
          <a:p>
            <a:pPr indent="0" marL="0">
              <a:buNone/>
            </a:pPr>
            <a:r>
              <a:rPr lang="en-US" sz="900" dirty="0">
                <a:solidFill>
                  <a:srgbClr val="8A94A3"/>
                </a:solidFill>
                <a:latin typeface="Calibri" pitchFamily="34" charset="0"/>
                <a:ea typeface="Calibri" pitchFamily="34" charset="-122"/>
                <a:cs typeface="Calibri" pitchFamily="34" charset="-120"/>
              </a:rPr>
              <a:t>VIT Vellore  ·  BCSE303P Operating Systems Laboratory  ·  CHIMERA  ·  Review 2</a:t>
            </a:r>
            <a:endParaRPr lang="en-US" sz="900" dirty="0"/>
          </a:p>
        </p:txBody>
      </p:sp>
      <p:sp>
        <p:nvSpPr>
          <p:cNvPr id="28" name="Text 26"/>
          <p:cNvSpPr txBox="1"/>
          <p:nvPr/>
        </p:nvSpPr>
        <p:spPr>
          <a:xfrm>
            <a:off x="10725912" y="6419088"/>
            <a:ext cx="914400" cy="228600"/>
          </a:xfrm>
          <a:prstGeom prst="rect">
            <a:avLst/>
          </a:prstGeom>
          <a:noFill/>
          <a:ln/>
        </p:spPr>
        <p:txBody>
          <a:bodyPr wrap="square" lIns="0" tIns="0" rIns="0" bIns="0" rtlCol="0" anchor="t"/>
          <a:lstStyle/>
          <a:p>
            <a:pPr algn="r" indent="0" marL="0">
              <a:buNone/>
            </a:pPr>
            <a:r>
              <a:rPr lang="en-US" sz="900" dirty="0">
                <a:solidFill>
                  <a:srgbClr val="8A94A3"/>
                </a:solidFill>
                <a:latin typeface="Calibri" pitchFamily="34" charset="0"/>
                <a:ea typeface="Calibri" pitchFamily="34" charset="-122"/>
                <a:cs typeface="Calibri" pitchFamily="34" charset="-120"/>
              </a:rPr>
              <a:t>7 / 21</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300" kern="0" dirty="0">
                <a:solidFill>
                  <a:srgbClr val="C7811A"/>
                </a:solidFill>
                <a:latin typeface="Calibri" pitchFamily="34" charset="0"/>
                <a:ea typeface="Calibri" pitchFamily="34" charset="-122"/>
                <a:cs typeface="Calibri" pitchFamily="34" charset="-120"/>
              </a:rPr>
              <a:t>MODULE IDENTIFICATION</a:t>
            </a:r>
            <a:endParaRPr lang="en-US" sz="11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rgbClr val="13223A"/>
                </a:solidFill>
                <a:latin typeface="Cambria" pitchFamily="34" charset="0"/>
                <a:ea typeface="Cambria" pitchFamily="34" charset="-122"/>
                <a:cs typeface="Cambria" pitchFamily="34" charset="-120"/>
              </a:rPr>
              <a:t>Twelve modules across four subsystems</a:t>
            </a:r>
            <a:endParaRPr lang="en-US" sz="3000" dirty="0"/>
          </a:p>
        </p:txBody>
      </p:sp>
      <p:sp>
        <p:nvSpPr>
          <p:cNvPr id="4" name="Text 2"/>
          <p:cNvSpPr txBox="1"/>
          <p:nvPr/>
        </p:nvSpPr>
        <p:spPr>
          <a:xfrm>
            <a:off x="548640" y="1508760"/>
            <a:ext cx="2606040" cy="365760"/>
          </a:xfrm>
          <a:prstGeom prst="rect">
            <a:avLst/>
          </a:prstGeom>
          <a:noFill/>
          <a:ln/>
        </p:spPr>
        <p:txBody>
          <a:bodyPr wrap="square" lIns="0" tIns="0" rIns="0" bIns="0" rtlCol="0" anchor="t"/>
          <a:lstStyle/>
          <a:p>
            <a:pPr indent="0" marL="0">
              <a:buNone/>
            </a:pPr>
            <a:r>
              <a:rPr lang="en-US" sz="1600" b="1" dirty="0">
                <a:solidFill>
                  <a:srgbClr val="2563EB"/>
                </a:solidFill>
                <a:latin typeface="Cambria" pitchFamily="34" charset="0"/>
                <a:ea typeface="Cambria" pitchFamily="34" charset="-122"/>
                <a:cs typeface="Cambria" pitchFamily="34" charset="-120"/>
              </a:rPr>
              <a:t>Data &amp; Prediction</a:t>
            </a:r>
            <a:endParaRPr lang="en-US" sz="1600" dirty="0"/>
          </a:p>
        </p:txBody>
      </p:sp>
      <p:sp>
        <p:nvSpPr>
          <p:cNvPr id="5" name="Shape 3"/>
          <p:cNvSpPr/>
          <p:nvPr/>
        </p:nvSpPr>
        <p:spPr>
          <a:xfrm>
            <a:off x="548640" y="1920240"/>
            <a:ext cx="2606040" cy="0"/>
          </a:xfrm>
          <a:prstGeom prst="line">
            <a:avLst/>
          </a:prstGeom>
          <a:noFill/>
          <a:ln w="19050">
            <a:solidFill>
              <a:srgbClr val="2563EB"/>
            </a:solidFill>
            <a:prstDash val="solid"/>
          </a:ln>
        </p:spPr>
      </p:sp>
      <p:sp>
        <p:nvSpPr>
          <p:cNvPr id="6" name="Shape 4"/>
          <p:cNvSpPr/>
          <p:nvPr/>
        </p:nvSpPr>
        <p:spPr>
          <a:xfrm>
            <a:off x="548640" y="2103120"/>
            <a:ext cx="2606040" cy="868680"/>
          </a:xfrm>
          <a:prstGeom prst="roundRect">
            <a:avLst>
              <a:gd name="adj" fmla="val 8421"/>
            </a:avLst>
          </a:prstGeom>
          <a:solidFill>
            <a:srgbClr val="F3F5F8"/>
          </a:solidFill>
          <a:ln w="12700">
            <a:solidFill>
              <a:srgbClr val="F3F5F8"/>
            </a:solidFill>
            <a:prstDash val="solid"/>
          </a:ln>
        </p:spPr>
      </p:sp>
      <p:sp>
        <p:nvSpPr>
          <p:cNvPr id="7" name="Shape 5"/>
          <p:cNvSpPr/>
          <p:nvPr/>
        </p:nvSpPr>
        <p:spPr>
          <a:xfrm>
            <a:off x="676656" y="2331720"/>
            <a:ext cx="402336" cy="402336"/>
          </a:xfrm>
          <a:prstGeom prst="ellipse">
            <a:avLst/>
          </a:prstGeom>
          <a:solidFill>
            <a:srgbClr val="2563EB"/>
          </a:solidFill>
          <a:ln w="12700">
            <a:solidFill>
              <a:srgbClr val="2563EB"/>
            </a:solidFill>
            <a:prstDash val="solid"/>
          </a:ln>
        </p:spPr>
      </p:sp>
      <p:sp>
        <p:nvSpPr>
          <p:cNvPr id="8" name="Text 6"/>
          <p:cNvSpPr txBox="1"/>
          <p:nvPr/>
        </p:nvSpPr>
        <p:spPr>
          <a:xfrm>
            <a:off x="676656" y="2331720"/>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9" name="Text 7"/>
          <p:cNvSpPr txBox="1"/>
          <p:nvPr/>
        </p:nvSpPr>
        <p:spPr>
          <a:xfrm>
            <a:off x="1188720" y="2194560"/>
            <a:ext cx="1901952" cy="457200"/>
          </a:xfrm>
          <a:prstGeom prst="rect">
            <a:avLst/>
          </a:prstGeom>
          <a:noFill/>
          <a:ln/>
        </p:spPr>
        <p:txBody>
          <a:bodyPr wrap="square" lIns="0" tIns="0" rIns="0" bIns="0" rtlCol="0" anchor="ctr"/>
          <a:lstStyle/>
          <a:p>
            <a:pPr indent="0" marL="0">
              <a:buNone/>
            </a:pPr>
            <a:r>
              <a:rPr lang="en-US" sz="1200" b="1" dirty="0">
                <a:solidFill>
                  <a:srgbClr val="1F2937"/>
                </a:solidFill>
                <a:latin typeface="Calibri" pitchFamily="34" charset="0"/>
                <a:ea typeface="Calibri" pitchFamily="34" charset="-122"/>
                <a:cs typeface="Calibri" pitchFamily="34" charset="-120"/>
              </a:rPr>
              <a:t>Workload loader + trace parser</a:t>
            </a:r>
            <a:endParaRPr lang="en-US" sz="1200" dirty="0"/>
          </a:p>
        </p:txBody>
      </p:sp>
      <p:sp>
        <p:nvSpPr>
          <p:cNvPr id="10" name="Text 8"/>
          <p:cNvSpPr txBox="1"/>
          <p:nvPr/>
        </p:nvSpPr>
        <p:spPr>
          <a:xfrm>
            <a:off x="1188720" y="2670048"/>
            <a:ext cx="1920240" cy="228600"/>
          </a:xfrm>
          <a:prstGeom prst="rect">
            <a:avLst/>
          </a:prstGeom>
          <a:noFill/>
          <a:ln/>
        </p:spPr>
        <p:txBody>
          <a:bodyPr wrap="square" lIns="0" tIns="0" rIns="0" bIns="0" rtlCol="0" anchor="t"/>
          <a:lstStyle/>
          <a:p>
            <a:pPr indent="0" marL="0">
              <a:buNone/>
            </a:pPr>
            <a:r>
              <a:rPr lang="en-US" sz="800" dirty="0">
                <a:solidFill>
                  <a:srgbClr val="5B6675"/>
                </a:solidFill>
                <a:latin typeface="Courier New" pitchFamily="34" charset="0"/>
                <a:ea typeface="Courier New" pitchFamily="34" charset="-122"/>
                <a:cs typeface="Courier New" pitchFamily="34" charset="-120"/>
              </a:rPr>
              <a:t>src/data/loader.py</a:t>
            </a:r>
            <a:endParaRPr lang="en-US" sz="800" dirty="0"/>
          </a:p>
        </p:txBody>
      </p:sp>
      <p:sp>
        <p:nvSpPr>
          <p:cNvPr id="11" name="Shape 9"/>
          <p:cNvSpPr/>
          <p:nvPr/>
        </p:nvSpPr>
        <p:spPr>
          <a:xfrm>
            <a:off x="548640" y="3108960"/>
            <a:ext cx="2606040" cy="868680"/>
          </a:xfrm>
          <a:prstGeom prst="roundRect">
            <a:avLst>
              <a:gd name="adj" fmla="val 8421"/>
            </a:avLst>
          </a:prstGeom>
          <a:solidFill>
            <a:srgbClr val="F3F5F8"/>
          </a:solidFill>
          <a:ln w="12700">
            <a:solidFill>
              <a:srgbClr val="F3F5F8"/>
            </a:solidFill>
            <a:prstDash val="solid"/>
          </a:ln>
        </p:spPr>
      </p:sp>
      <p:sp>
        <p:nvSpPr>
          <p:cNvPr id="12" name="Shape 10"/>
          <p:cNvSpPr/>
          <p:nvPr/>
        </p:nvSpPr>
        <p:spPr>
          <a:xfrm>
            <a:off x="676656" y="3337560"/>
            <a:ext cx="402336" cy="402336"/>
          </a:xfrm>
          <a:prstGeom prst="ellipse">
            <a:avLst/>
          </a:prstGeom>
          <a:solidFill>
            <a:srgbClr val="2563EB"/>
          </a:solidFill>
          <a:ln w="12700">
            <a:solidFill>
              <a:srgbClr val="2563EB"/>
            </a:solidFill>
            <a:prstDash val="solid"/>
          </a:ln>
        </p:spPr>
      </p:sp>
      <p:sp>
        <p:nvSpPr>
          <p:cNvPr id="13" name="Text 11"/>
          <p:cNvSpPr txBox="1"/>
          <p:nvPr/>
        </p:nvSpPr>
        <p:spPr>
          <a:xfrm>
            <a:off x="676656" y="3337560"/>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4" name="Text 12"/>
          <p:cNvSpPr txBox="1"/>
          <p:nvPr/>
        </p:nvSpPr>
        <p:spPr>
          <a:xfrm>
            <a:off x="1188720" y="3200400"/>
            <a:ext cx="1901952" cy="457200"/>
          </a:xfrm>
          <a:prstGeom prst="rect">
            <a:avLst/>
          </a:prstGeom>
          <a:noFill/>
          <a:ln/>
        </p:spPr>
        <p:txBody>
          <a:bodyPr wrap="square" lIns="0" tIns="0" rIns="0" bIns="0" rtlCol="0" anchor="ctr"/>
          <a:lstStyle/>
          <a:p>
            <a:pPr indent="0" marL="0">
              <a:buNone/>
            </a:pPr>
            <a:r>
              <a:rPr lang="en-US" sz="1200" b="1" dirty="0">
                <a:solidFill>
                  <a:srgbClr val="1F2937"/>
                </a:solidFill>
                <a:latin typeface="Calibri" pitchFamily="34" charset="0"/>
                <a:ea typeface="Calibri" pitchFamily="34" charset="-122"/>
                <a:cs typeface="Calibri" pitchFamily="34" charset="-120"/>
              </a:rPr>
              <a:t>Rolling feature extractor</a:t>
            </a:r>
            <a:endParaRPr lang="en-US" sz="1200" dirty="0"/>
          </a:p>
        </p:txBody>
      </p:sp>
      <p:sp>
        <p:nvSpPr>
          <p:cNvPr id="15" name="Text 13"/>
          <p:cNvSpPr txBox="1"/>
          <p:nvPr/>
        </p:nvSpPr>
        <p:spPr>
          <a:xfrm>
            <a:off x="1188720" y="3675888"/>
            <a:ext cx="1920240" cy="228600"/>
          </a:xfrm>
          <a:prstGeom prst="rect">
            <a:avLst/>
          </a:prstGeom>
          <a:noFill/>
          <a:ln/>
        </p:spPr>
        <p:txBody>
          <a:bodyPr wrap="square" lIns="0" tIns="0" rIns="0" bIns="0" rtlCol="0" anchor="t"/>
          <a:lstStyle/>
          <a:p>
            <a:pPr indent="0" marL="0">
              <a:buNone/>
            </a:pPr>
            <a:r>
              <a:rPr lang="en-US" sz="800" dirty="0">
                <a:solidFill>
                  <a:srgbClr val="5B6675"/>
                </a:solidFill>
                <a:latin typeface="Courier New" pitchFamily="34" charset="0"/>
                <a:ea typeface="Courier New" pitchFamily="34" charset="-122"/>
                <a:cs typeface="Courier New" pitchFamily="34" charset="-120"/>
              </a:rPr>
              <a:t>src/data/features.py</a:t>
            </a:r>
            <a:endParaRPr lang="en-US" sz="800" dirty="0"/>
          </a:p>
        </p:txBody>
      </p:sp>
      <p:sp>
        <p:nvSpPr>
          <p:cNvPr id="16" name="Shape 14"/>
          <p:cNvSpPr/>
          <p:nvPr/>
        </p:nvSpPr>
        <p:spPr>
          <a:xfrm>
            <a:off x="548640" y="4114800"/>
            <a:ext cx="2606040" cy="868680"/>
          </a:xfrm>
          <a:prstGeom prst="roundRect">
            <a:avLst>
              <a:gd name="adj" fmla="val 8421"/>
            </a:avLst>
          </a:prstGeom>
          <a:solidFill>
            <a:srgbClr val="F3F5F8"/>
          </a:solidFill>
          <a:ln w="12700">
            <a:solidFill>
              <a:srgbClr val="F3F5F8"/>
            </a:solidFill>
            <a:prstDash val="solid"/>
          </a:ln>
        </p:spPr>
      </p:sp>
      <p:sp>
        <p:nvSpPr>
          <p:cNvPr id="17" name="Shape 15"/>
          <p:cNvSpPr/>
          <p:nvPr/>
        </p:nvSpPr>
        <p:spPr>
          <a:xfrm>
            <a:off x="676656" y="4343400"/>
            <a:ext cx="402336" cy="402336"/>
          </a:xfrm>
          <a:prstGeom prst="ellipse">
            <a:avLst/>
          </a:prstGeom>
          <a:solidFill>
            <a:srgbClr val="2563EB"/>
          </a:solidFill>
          <a:ln w="12700">
            <a:solidFill>
              <a:srgbClr val="2563EB"/>
            </a:solidFill>
            <a:prstDash val="solid"/>
          </a:ln>
        </p:spPr>
      </p:sp>
      <p:sp>
        <p:nvSpPr>
          <p:cNvPr id="18" name="Text 16"/>
          <p:cNvSpPr txBox="1"/>
          <p:nvPr/>
        </p:nvSpPr>
        <p:spPr>
          <a:xfrm>
            <a:off x="676656" y="4343400"/>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9" name="Text 17"/>
          <p:cNvSpPr txBox="1"/>
          <p:nvPr/>
        </p:nvSpPr>
        <p:spPr>
          <a:xfrm>
            <a:off x="1188720" y="4206240"/>
            <a:ext cx="1901952" cy="457200"/>
          </a:xfrm>
          <a:prstGeom prst="rect">
            <a:avLst/>
          </a:prstGeom>
          <a:noFill/>
          <a:ln/>
        </p:spPr>
        <p:txBody>
          <a:bodyPr wrap="square" lIns="0" tIns="0" rIns="0" bIns="0" rtlCol="0" anchor="ctr"/>
          <a:lstStyle/>
          <a:p>
            <a:pPr indent="0" marL="0">
              <a:buNone/>
            </a:pPr>
            <a:r>
              <a:rPr lang="en-US" sz="1200" b="1" dirty="0">
                <a:solidFill>
                  <a:srgbClr val="1F2937"/>
                </a:solidFill>
                <a:latin typeface="Calibri" pitchFamily="34" charset="0"/>
                <a:ea typeface="Calibri" pitchFamily="34" charset="-122"/>
                <a:cs typeface="Calibri" pitchFamily="34" charset="-120"/>
              </a:rPr>
              <a:t>Conformal quantile regressor</a:t>
            </a:r>
            <a:endParaRPr lang="en-US" sz="1200" dirty="0"/>
          </a:p>
        </p:txBody>
      </p:sp>
      <p:sp>
        <p:nvSpPr>
          <p:cNvPr id="20" name="Text 18"/>
          <p:cNvSpPr txBox="1"/>
          <p:nvPr/>
        </p:nvSpPr>
        <p:spPr>
          <a:xfrm>
            <a:off x="1188720" y="4681728"/>
            <a:ext cx="1920240" cy="228600"/>
          </a:xfrm>
          <a:prstGeom prst="rect">
            <a:avLst/>
          </a:prstGeom>
          <a:noFill/>
          <a:ln/>
        </p:spPr>
        <p:txBody>
          <a:bodyPr wrap="square" lIns="0" tIns="0" rIns="0" bIns="0" rtlCol="0" anchor="t"/>
          <a:lstStyle/>
          <a:p>
            <a:pPr indent="0" marL="0">
              <a:buNone/>
            </a:pPr>
            <a:r>
              <a:rPr lang="en-US" sz="800" dirty="0">
                <a:solidFill>
                  <a:srgbClr val="5B6675"/>
                </a:solidFill>
                <a:latin typeface="Courier New" pitchFamily="34" charset="0"/>
                <a:ea typeface="Courier New" pitchFamily="34" charset="-122"/>
                <a:cs typeface="Courier New" pitchFamily="34" charset="-120"/>
              </a:rPr>
              <a:t>src/models/cqr_uncertainty.py</a:t>
            </a:r>
            <a:endParaRPr lang="en-US" sz="800" dirty="0"/>
          </a:p>
        </p:txBody>
      </p:sp>
      <p:sp>
        <p:nvSpPr>
          <p:cNvPr id="21" name="Shape 19"/>
          <p:cNvSpPr/>
          <p:nvPr/>
        </p:nvSpPr>
        <p:spPr>
          <a:xfrm>
            <a:off x="548640" y="5120640"/>
            <a:ext cx="2606040" cy="868680"/>
          </a:xfrm>
          <a:prstGeom prst="roundRect">
            <a:avLst>
              <a:gd name="adj" fmla="val 8421"/>
            </a:avLst>
          </a:prstGeom>
          <a:solidFill>
            <a:srgbClr val="F3F5F8"/>
          </a:solidFill>
          <a:ln w="12700">
            <a:solidFill>
              <a:srgbClr val="F3F5F8"/>
            </a:solidFill>
            <a:prstDash val="solid"/>
          </a:ln>
        </p:spPr>
      </p:sp>
      <p:sp>
        <p:nvSpPr>
          <p:cNvPr id="22" name="Shape 20"/>
          <p:cNvSpPr/>
          <p:nvPr/>
        </p:nvSpPr>
        <p:spPr>
          <a:xfrm>
            <a:off x="676656" y="5349240"/>
            <a:ext cx="402336" cy="402336"/>
          </a:xfrm>
          <a:prstGeom prst="ellipse">
            <a:avLst/>
          </a:prstGeom>
          <a:solidFill>
            <a:srgbClr val="2563EB"/>
          </a:solidFill>
          <a:ln w="12700">
            <a:solidFill>
              <a:srgbClr val="2563EB"/>
            </a:solidFill>
            <a:prstDash val="solid"/>
          </a:ln>
        </p:spPr>
      </p:sp>
      <p:sp>
        <p:nvSpPr>
          <p:cNvPr id="23" name="Text 21"/>
          <p:cNvSpPr txBox="1"/>
          <p:nvPr/>
        </p:nvSpPr>
        <p:spPr>
          <a:xfrm>
            <a:off x="676656" y="5349240"/>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4" name="Text 22"/>
          <p:cNvSpPr txBox="1"/>
          <p:nvPr/>
        </p:nvSpPr>
        <p:spPr>
          <a:xfrm>
            <a:off x="1188720" y="5212080"/>
            <a:ext cx="1901952" cy="457200"/>
          </a:xfrm>
          <a:prstGeom prst="rect">
            <a:avLst/>
          </a:prstGeom>
          <a:noFill/>
          <a:ln/>
        </p:spPr>
        <p:txBody>
          <a:bodyPr wrap="square" lIns="0" tIns="0" rIns="0" bIns="0" rtlCol="0" anchor="ctr"/>
          <a:lstStyle/>
          <a:p>
            <a:pPr indent="0" marL="0">
              <a:buNone/>
            </a:pPr>
            <a:r>
              <a:rPr lang="en-US" sz="1200" b="1" dirty="0">
                <a:solidFill>
                  <a:srgbClr val="1F2937"/>
                </a:solidFill>
                <a:latin typeface="Calibri" pitchFamily="34" charset="0"/>
                <a:ea typeface="Calibri" pitchFamily="34" charset="-122"/>
                <a:cs typeface="Calibri" pitchFamily="34" charset="-120"/>
              </a:rPr>
              <a:t>ADWIN drift detector</a:t>
            </a:r>
            <a:endParaRPr lang="en-US" sz="1200" dirty="0"/>
          </a:p>
        </p:txBody>
      </p:sp>
      <p:sp>
        <p:nvSpPr>
          <p:cNvPr id="25" name="Text 23"/>
          <p:cNvSpPr txBox="1"/>
          <p:nvPr/>
        </p:nvSpPr>
        <p:spPr>
          <a:xfrm>
            <a:off x="1188720" y="5687568"/>
            <a:ext cx="1920240" cy="228600"/>
          </a:xfrm>
          <a:prstGeom prst="rect">
            <a:avLst/>
          </a:prstGeom>
          <a:noFill/>
          <a:ln/>
        </p:spPr>
        <p:txBody>
          <a:bodyPr wrap="square" lIns="0" tIns="0" rIns="0" bIns="0" rtlCol="0" anchor="t"/>
          <a:lstStyle/>
          <a:p>
            <a:pPr indent="0" marL="0">
              <a:buNone/>
            </a:pPr>
            <a:r>
              <a:rPr lang="en-US" sz="800" dirty="0">
                <a:solidFill>
                  <a:srgbClr val="5B6675"/>
                </a:solidFill>
                <a:latin typeface="Courier New" pitchFamily="34" charset="0"/>
                <a:ea typeface="Courier New" pitchFamily="34" charset="-122"/>
                <a:cs typeface="Courier New" pitchFamily="34" charset="-120"/>
              </a:rPr>
              <a:t>src/models/drift_detector.py</a:t>
            </a:r>
            <a:endParaRPr lang="en-US" sz="800" dirty="0"/>
          </a:p>
        </p:txBody>
      </p:sp>
      <p:sp>
        <p:nvSpPr>
          <p:cNvPr id="26" name="Text 24"/>
          <p:cNvSpPr txBox="1"/>
          <p:nvPr/>
        </p:nvSpPr>
        <p:spPr>
          <a:xfrm>
            <a:off x="3383280" y="1508760"/>
            <a:ext cx="2606040" cy="365760"/>
          </a:xfrm>
          <a:prstGeom prst="rect">
            <a:avLst/>
          </a:prstGeom>
          <a:noFill/>
          <a:ln/>
        </p:spPr>
        <p:txBody>
          <a:bodyPr wrap="square" lIns="0" tIns="0" rIns="0" bIns="0" rtlCol="0" anchor="t"/>
          <a:lstStyle/>
          <a:p>
            <a:pPr indent="0" marL="0">
              <a:buNone/>
            </a:pPr>
            <a:r>
              <a:rPr lang="en-US" sz="1600" b="1" dirty="0">
                <a:solidFill>
                  <a:srgbClr val="C7811A"/>
                </a:solidFill>
                <a:latin typeface="Cambria" pitchFamily="34" charset="0"/>
                <a:ea typeface="Cambria" pitchFamily="34" charset="-122"/>
                <a:cs typeface="Cambria" pitchFamily="34" charset="-120"/>
              </a:rPr>
              <a:t>Control</a:t>
            </a:r>
            <a:endParaRPr lang="en-US" sz="1600" dirty="0"/>
          </a:p>
        </p:txBody>
      </p:sp>
      <p:sp>
        <p:nvSpPr>
          <p:cNvPr id="27" name="Shape 25"/>
          <p:cNvSpPr/>
          <p:nvPr/>
        </p:nvSpPr>
        <p:spPr>
          <a:xfrm>
            <a:off x="3383280" y="1920240"/>
            <a:ext cx="2606040" cy="0"/>
          </a:xfrm>
          <a:prstGeom prst="line">
            <a:avLst/>
          </a:prstGeom>
          <a:noFill/>
          <a:ln w="19050">
            <a:solidFill>
              <a:srgbClr val="C7811A"/>
            </a:solidFill>
            <a:prstDash val="solid"/>
          </a:ln>
        </p:spPr>
      </p:sp>
      <p:sp>
        <p:nvSpPr>
          <p:cNvPr id="28" name="Shape 26"/>
          <p:cNvSpPr/>
          <p:nvPr/>
        </p:nvSpPr>
        <p:spPr>
          <a:xfrm>
            <a:off x="3383280" y="2103120"/>
            <a:ext cx="2606040" cy="868680"/>
          </a:xfrm>
          <a:prstGeom prst="roundRect">
            <a:avLst>
              <a:gd name="adj" fmla="val 8421"/>
            </a:avLst>
          </a:prstGeom>
          <a:solidFill>
            <a:srgbClr val="F3F5F8"/>
          </a:solidFill>
          <a:ln w="12700">
            <a:solidFill>
              <a:srgbClr val="F3F5F8"/>
            </a:solidFill>
            <a:prstDash val="solid"/>
          </a:ln>
        </p:spPr>
      </p:sp>
      <p:sp>
        <p:nvSpPr>
          <p:cNvPr id="29" name="Shape 27"/>
          <p:cNvSpPr/>
          <p:nvPr/>
        </p:nvSpPr>
        <p:spPr>
          <a:xfrm>
            <a:off x="3511296" y="2331720"/>
            <a:ext cx="402336" cy="402336"/>
          </a:xfrm>
          <a:prstGeom prst="ellipse">
            <a:avLst/>
          </a:prstGeom>
          <a:solidFill>
            <a:srgbClr val="C7811A"/>
          </a:solidFill>
          <a:ln w="12700">
            <a:solidFill>
              <a:srgbClr val="C7811A"/>
            </a:solidFill>
            <a:prstDash val="solid"/>
          </a:ln>
        </p:spPr>
      </p:sp>
      <p:sp>
        <p:nvSpPr>
          <p:cNvPr id="30" name="Text 28"/>
          <p:cNvSpPr txBox="1"/>
          <p:nvPr/>
        </p:nvSpPr>
        <p:spPr>
          <a:xfrm>
            <a:off x="3511296" y="2331720"/>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31" name="Text 29"/>
          <p:cNvSpPr txBox="1"/>
          <p:nvPr/>
        </p:nvSpPr>
        <p:spPr>
          <a:xfrm>
            <a:off x="4023360" y="2194560"/>
            <a:ext cx="1901952" cy="457200"/>
          </a:xfrm>
          <a:prstGeom prst="rect">
            <a:avLst/>
          </a:prstGeom>
          <a:noFill/>
          <a:ln/>
        </p:spPr>
        <p:txBody>
          <a:bodyPr wrap="square" lIns="0" tIns="0" rIns="0" bIns="0" rtlCol="0" anchor="ctr"/>
          <a:lstStyle/>
          <a:p>
            <a:pPr indent="0" marL="0">
              <a:buNone/>
            </a:pPr>
            <a:r>
              <a:rPr lang="en-US" sz="1200" b="1" dirty="0">
                <a:solidFill>
                  <a:srgbClr val="1F2937"/>
                </a:solidFill>
                <a:latin typeface="Calibri" pitchFamily="34" charset="0"/>
                <a:ea typeface="Calibri" pitchFamily="34" charset="-122"/>
                <a:cs typeface="Calibri" pitchFamily="34" charset="-120"/>
              </a:rPr>
              <a:t>DARE / LQR gain solver</a:t>
            </a:r>
            <a:endParaRPr lang="en-US" sz="1200" dirty="0"/>
          </a:p>
        </p:txBody>
      </p:sp>
      <p:sp>
        <p:nvSpPr>
          <p:cNvPr id="32" name="Text 30"/>
          <p:cNvSpPr txBox="1"/>
          <p:nvPr/>
        </p:nvSpPr>
        <p:spPr>
          <a:xfrm>
            <a:off x="4023360" y="2670048"/>
            <a:ext cx="1920240" cy="228600"/>
          </a:xfrm>
          <a:prstGeom prst="rect">
            <a:avLst/>
          </a:prstGeom>
          <a:noFill/>
          <a:ln/>
        </p:spPr>
        <p:txBody>
          <a:bodyPr wrap="square" lIns="0" tIns="0" rIns="0" bIns="0" rtlCol="0" anchor="t"/>
          <a:lstStyle/>
          <a:p>
            <a:pPr indent="0" marL="0">
              <a:buNone/>
            </a:pPr>
            <a:r>
              <a:rPr lang="en-US" sz="800" dirty="0">
                <a:solidFill>
                  <a:srgbClr val="5B6675"/>
                </a:solidFill>
                <a:latin typeface="Courier New" pitchFamily="34" charset="0"/>
                <a:ea typeface="Courier New" pitchFamily="34" charset="-122"/>
                <a:cs typeface="Courier New" pitchFamily="34" charset="-120"/>
              </a:rPr>
              <a:t>chimera_controller.py</a:t>
            </a:r>
            <a:endParaRPr lang="en-US" sz="800" dirty="0"/>
          </a:p>
        </p:txBody>
      </p:sp>
      <p:sp>
        <p:nvSpPr>
          <p:cNvPr id="33" name="Shape 31"/>
          <p:cNvSpPr/>
          <p:nvPr/>
        </p:nvSpPr>
        <p:spPr>
          <a:xfrm>
            <a:off x="3383280" y="3108960"/>
            <a:ext cx="2606040" cy="868680"/>
          </a:xfrm>
          <a:prstGeom prst="roundRect">
            <a:avLst>
              <a:gd name="adj" fmla="val 8421"/>
            </a:avLst>
          </a:prstGeom>
          <a:solidFill>
            <a:srgbClr val="F3F5F8"/>
          </a:solidFill>
          <a:ln w="12700">
            <a:solidFill>
              <a:srgbClr val="F3F5F8"/>
            </a:solidFill>
            <a:prstDash val="solid"/>
          </a:ln>
        </p:spPr>
      </p:sp>
      <p:sp>
        <p:nvSpPr>
          <p:cNvPr id="34" name="Shape 32"/>
          <p:cNvSpPr/>
          <p:nvPr/>
        </p:nvSpPr>
        <p:spPr>
          <a:xfrm>
            <a:off x="3511296" y="3337560"/>
            <a:ext cx="402336" cy="402336"/>
          </a:xfrm>
          <a:prstGeom prst="ellipse">
            <a:avLst/>
          </a:prstGeom>
          <a:solidFill>
            <a:srgbClr val="C7811A"/>
          </a:solidFill>
          <a:ln w="12700">
            <a:solidFill>
              <a:srgbClr val="C7811A"/>
            </a:solidFill>
            <a:prstDash val="solid"/>
          </a:ln>
        </p:spPr>
      </p:sp>
      <p:sp>
        <p:nvSpPr>
          <p:cNvPr id="35" name="Text 33"/>
          <p:cNvSpPr txBox="1"/>
          <p:nvPr/>
        </p:nvSpPr>
        <p:spPr>
          <a:xfrm>
            <a:off x="3511296" y="3337560"/>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6" name="Text 34"/>
          <p:cNvSpPr txBox="1"/>
          <p:nvPr/>
        </p:nvSpPr>
        <p:spPr>
          <a:xfrm>
            <a:off x="4023360" y="3200400"/>
            <a:ext cx="1901952" cy="457200"/>
          </a:xfrm>
          <a:prstGeom prst="rect">
            <a:avLst/>
          </a:prstGeom>
          <a:noFill/>
          <a:ln/>
        </p:spPr>
        <p:txBody>
          <a:bodyPr wrap="square" lIns="0" tIns="0" rIns="0" bIns="0" rtlCol="0" anchor="ctr"/>
          <a:lstStyle/>
          <a:p>
            <a:pPr indent="0" marL="0">
              <a:buNone/>
            </a:pPr>
            <a:r>
              <a:rPr lang="en-US" sz="1200" b="1" dirty="0">
                <a:solidFill>
                  <a:srgbClr val="1F2937"/>
                </a:solidFill>
                <a:latin typeface="Calibri" pitchFamily="34" charset="0"/>
                <a:ea typeface="Calibri" pitchFamily="34" charset="-122"/>
                <a:cs typeface="Calibri" pitchFamily="34" charset="-120"/>
              </a:rPr>
              <a:t>Delay-state augmentation</a:t>
            </a:r>
            <a:endParaRPr lang="en-US" sz="1200" dirty="0"/>
          </a:p>
        </p:txBody>
      </p:sp>
      <p:sp>
        <p:nvSpPr>
          <p:cNvPr id="37" name="Text 35"/>
          <p:cNvSpPr txBox="1"/>
          <p:nvPr/>
        </p:nvSpPr>
        <p:spPr>
          <a:xfrm>
            <a:off x="4023360" y="3675888"/>
            <a:ext cx="1920240" cy="228600"/>
          </a:xfrm>
          <a:prstGeom prst="rect">
            <a:avLst/>
          </a:prstGeom>
          <a:noFill/>
          <a:ln/>
        </p:spPr>
        <p:txBody>
          <a:bodyPr wrap="square" lIns="0" tIns="0" rIns="0" bIns="0" rtlCol="0" anchor="t"/>
          <a:lstStyle/>
          <a:p>
            <a:pPr indent="0" marL="0">
              <a:buNone/>
            </a:pPr>
            <a:r>
              <a:rPr lang="en-US" sz="800" dirty="0">
                <a:solidFill>
                  <a:srgbClr val="5B6675"/>
                </a:solidFill>
                <a:latin typeface="Courier New" pitchFamily="34" charset="0"/>
                <a:ea typeface="Courier New" pitchFamily="34" charset="-122"/>
                <a:cs typeface="Courier New" pitchFamily="34" charset="-120"/>
              </a:rPr>
              <a:t>chimera_controller.py</a:t>
            </a:r>
            <a:endParaRPr lang="en-US" sz="800" dirty="0"/>
          </a:p>
        </p:txBody>
      </p:sp>
      <p:sp>
        <p:nvSpPr>
          <p:cNvPr id="38" name="Shape 36"/>
          <p:cNvSpPr/>
          <p:nvPr/>
        </p:nvSpPr>
        <p:spPr>
          <a:xfrm>
            <a:off x="3383280" y="4114800"/>
            <a:ext cx="2606040" cy="868680"/>
          </a:xfrm>
          <a:prstGeom prst="roundRect">
            <a:avLst>
              <a:gd name="adj" fmla="val 8421"/>
            </a:avLst>
          </a:prstGeom>
          <a:solidFill>
            <a:srgbClr val="F3F5F8"/>
          </a:solidFill>
          <a:ln w="12700">
            <a:solidFill>
              <a:srgbClr val="F3F5F8"/>
            </a:solidFill>
            <a:prstDash val="solid"/>
          </a:ln>
        </p:spPr>
      </p:sp>
      <p:sp>
        <p:nvSpPr>
          <p:cNvPr id="39" name="Shape 37"/>
          <p:cNvSpPr/>
          <p:nvPr/>
        </p:nvSpPr>
        <p:spPr>
          <a:xfrm>
            <a:off x="3511296" y="4343400"/>
            <a:ext cx="402336" cy="402336"/>
          </a:xfrm>
          <a:prstGeom prst="ellipse">
            <a:avLst/>
          </a:prstGeom>
          <a:solidFill>
            <a:srgbClr val="C7811A"/>
          </a:solidFill>
          <a:ln w="12700">
            <a:solidFill>
              <a:srgbClr val="C7811A"/>
            </a:solidFill>
            <a:prstDash val="solid"/>
          </a:ln>
        </p:spPr>
      </p:sp>
      <p:sp>
        <p:nvSpPr>
          <p:cNvPr id="40" name="Text 38"/>
          <p:cNvSpPr txBox="1"/>
          <p:nvPr/>
        </p:nvSpPr>
        <p:spPr>
          <a:xfrm>
            <a:off x="3511296" y="4343400"/>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41" name="Text 39"/>
          <p:cNvSpPr txBox="1"/>
          <p:nvPr/>
        </p:nvSpPr>
        <p:spPr>
          <a:xfrm>
            <a:off x="4023360" y="4206240"/>
            <a:ext cx="1901952" cy="457200"/>
          </a:xfrm>
          <a:prstGeom prst="rect">
            <a:avLst/>
          </a:prstGeom>
          <a:noFill/>
          <a:ln/>
        </p:spPr>
        <p:txBody>
          <a:bodyPr wrap="square" lIns="0" tIns="0" rIns="0" bIns="0" rtlCol="0" anchor="ctr"/>
          <a:lstStyle/>
          <a:p>
            <a:pPr indent="0" marL="0">
              <a:buNone/>
            </a:pPr>
            <a:r>
              <a:rPr lang="en-US" sz="1200" b="1" dirty="0">
                <a:solidFill>
                  <a:srgbClr val="1F2937"/>
                </a:solidFill>
                <a:latin typeface="Calibri" pitchFamily="34" charset="0"/>
                <a:ea typeface="Calibri" pitchFamily="34" charset="-122"/>
                <a:cs typeface="Calibri" pitchFamily="34" charset="-120"/>
              </a:rPr>
              <a:t>Lyapunov CLF safety filter</a:t>
            </a:r>
            <a:endParaRPr lang="en-US" sz="1200" dirty="0"/>
          </a:p>
        </p:txBody>
      </p:sp>
      <p:sp>
        <p:nvSpPr>
          <p:cNvPr id="42" name="Text 40"/>
          <p:cNvSpPr txBox="1"/>
          <p:nvPr/>
        </p:nvSpPr>
        <p:spPr>
          <a:xfrm>
            <a:off x="4023360" y="4681728"/>
            <a:ext cx="1920240" cy="228600"/>
          </a:xfrm>
          <a:prstGeom prst="rect">
            <a:avLst/>
          </a:prstGeom>
          <a:noFill/>
          <a:ln/>
        </p:spPr>
        <p:txBody>
          <a:bodyPr wrap="square" lIns="0" tIns="0" rIns="0" bIns="0" rtlCol="0" anchor="t"/>
          <a:lstStyle/>
          <a:p>
            <a:pPr indent="0" marL="0">
              <a:buNone/>
            </a:pPr>
            <a:r>
              <a:rPr lang="en-US" sz="800" dirty="0">
                <a:solidFill>
                  <a:srgbClr val="5B6675"/>
                </a:solidFill>
                <a:latin typeface="Courier New" pitchFamily="34" charset="0"/>
                <a:ea typeface="Courier New" pitchFamily="34" charset="-122"/>
                <a:cs typeface="Courier New" pitchFamily="34" charset="-120"/>
              </a:rPr>
              <a:t>chimera_controller.py</a:t>
            </a:r>
            <a:endParaRPr lang="en-US" sz="800" dirty="0"/>
          </a:p>
        </p:txBody>
      </p:sp>
      <p:sp>
        <p:nvSpPr>
          <p:cNvPr id="43" name="Shape 41"/>
          <p:cNvSpPr/>
          <p:nvPr/>
        </p:nvSpPr>
        <p:spPr>
          <a:xfrm>
            <a:off x="3383280" y="5120640"/>
            <a:ext cx="2606040" cy="868680"/>
          </a:xfrm>
          <a:prstGeom prst="roundRect">
            <a:avLst>
              <a:gd name="adj" fmla="val 8421"/>
            </a:avLst>
          </a:prstGeom>
          <a:solidFill>
            <a:srgbClr val="F3F5F8"/>
          </a:solidFill>
          <a:ln w="12700">
            <a:solidFill>
              <a:srgbClr val="F3F5F8"/>
            </a:solidFill>
            <a:prstDash val="solid"/>
          </a:ln>
        </p:spPr>
      </p:sp>
      <p:sp>
        <p:nvSpPr>
          <p:cNvPr id="44" name="Shape 42"/>
          <p:cNvSpPr/>
          <p:nvPr/>
        </p:nvSpPr>
        <p:spPr>
          <a:xfrm>
            <a:off x="3511296" y="5349240"/>
            <a:ext cx="402336" cy="402336"/>
          </a:xfrm>
          <a:prstGeom prst="ellipse">
            <a:avLst/>
          </a:prstGeom>
          <a:solidFill>
            <a:srgbClr val="C7811A"/>
          </a:solidFill>
          <a:ln w="12700">
            <a:solidFill>
              <a:srgbClr val="C7811A"/>
            </a:solidFill>
            <a:prstDash val="solid"/>
          </a:ln>
        </p:spPr>
      </p:sp>
      <p:sp>
        <p:nvSpPr>
          <p:cNvPr id="45" name="Text 43"/>
          <p:cNvSpPr txBox="1"/>
          <p:nvPr/>
        </p:nvSpPr>
        <p:spPr>
          <a:xfrm>
            <a:off x="3511296" y="5349240"/>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46" name="Text 44"/>
          <p:cNvSpPr txBox="1"/>
          <p:nvPr/>
        </p:nvSpPr>
        <p:spPr>
          <a:xfrm>
            <a:off x="4023360" y="5212080"/>
            <a:ext cx="1901952" cy="457200"/>
          </a:xfrm>
          <a:prstGeom prst="rect">
            <a:avLst/>
          </a:prstGeom>
          <a:noFill/>
          <a:ln/>
        </p:spPr>
        <p:txBody>
          <a:bodyPr wrap="square" lIns="0" tIns="0" rIns="0" bIns="0" rtlCol="0" anchor="ctr"/>
          <a:lstStyle/>
          <a:p>
            <a:pPr indent="0" marL="0">
              <a:buNone/>
            </a:pPr>
            <a:r>
              <a:rPr lang="en-US" sz="1200" b="1" dirty="0">
                <a:solidFill>
                  <a:srgbClr val="1F2937"/>
                </a:solidFill>
                <a:latin typeface="Calibri" pitchFamily="34" charset="0"/>
                <a:ea typeface="Calibri" pitchFamily="34" charset="-122"/>
                <a:cs typeface="Calibri" pitchFamily="34" charset="-120"/>
              </a:rPr>
              <a:t>Cross-coupling penalty</a:t>
            </a:r>
            <a:endParaRPr lang="en-US" sz="1200" dirty="0"/>
          </a:p>
        </p:txBody>
      </p:sp>
      <p:sp>
        <p:nvSpPr>
          <p:cNvPr id="47" name="Text 45"/>
          <p:cNvSpPr txBox="1"/>
          <p:nvPr/>
        </p:nvSpPr>
        <p:spPr>
          <a:xfrm>
            <a:off x="4023360" y="5687568"/>
            <a:ext cx="1920240" cy="228600"/>
          </a:xfrm>
          <a:prstGeom prst="rect">
            <a:avLst/>
          </a:prstGeom>
          <a:noFill/>
          <a:ln/>
        </p:spPr>
        <p:txBody>
          <a:bodyPr wrap="square" lIns="0" tIns="0" rIns="0" bIns="0" rtlCol="0" anchor="t"/>
          <a:lstStyle/>
          <a:p>
            <a:pPr indent="0" marL="0">
              <a:buNone/>
            </a:pPr>
            <a:r>
              <a:rPr lang="en-US" sz="800" dirty="0">
                <a:solidFill>
                  <a:srgbClr val="5B6675"/>
                </a:solidFill>
                <a:latin typeface="Courier New" pitchFamily="34" charset="0"/>
                <a:ea typeface="Courier New" pitchFamily="34" charset="-122"/>
                <a:cs typeface="Courier New" pitchFamily="34" charset="-120"/>
              </a:rPr>
              <a:t>chimera_controller.py</a:t>
            </a:r>
            <a:endParaRPr lang="en-US" sz="800" dirty="0"/>
          </a:p>
        </p:txBody>
      </p:sp>
      <p:sp>
        <p:nvSpPr>
          <p:cNvPr id="48" name="Text 46"/>
          <p:cNvSpPr txBox="1"/>
          <p:nvPr/>
        </p:nvSpPr>
        <p:spPr>
          <a:xfrm>
            <a:off x="6217920" y="1508760"/>
            <a:ext cx="2606040" cy="365760"/>
          </a:xfrm>
          <a:prstGeom prst="rect">
            <a:avLst/>
          </a:prstGeom>
          <a:noFill/>
          <a:ln/>
        </p:spPr>
        <p:txBody>
          <a:bodyPr wrap="square" lIns="0" tIns="0" rIns="0" bIns="0" rtlCol="0" anchor="t"/>
          <a:lstStyle/>
          <a:p>
            <a:pPr indent="0" marL="0">
              <a:buNone/>
            </a:pPr>
            <a:r>
              <a:rPr lang="en-US" sz="1600" b="1" dirty="0">
                <a:solidFill>
                  <a:srgbClr val="0F766E"/>
                </a:solidFill>
                <a:latin typeface="Cambria" pitchFamily="34" charset="0"/>
                <a:ea typeface="Cambria" pitchFamily="34" charset="-122"/>
                <a:cs typeface="Cambria" pitchFamily="34" charset="-120"/>
              </a:rPr>
              <a:t>Simulation &amp; Evaluation</a:t>
            </a:r>
            <a:endParaRPr lang="en-US" sz="1600" dirty="0"/>
          </a:p>
        </p:txBody>
      </p:sp>
      <p:sp>
        <p:nvSpPr>
          <p:cNvPr id="49" name="Shape 47"/>
          <p:cNvSpPr/>
          <p:nvPr/>
        </p:nvSpPr>
        <p:spPr>
          <a:xfrm>
            <a:off x="6217920" y="1920240"/>
            <a:ext cx="2606040" cy="0"/>
          </a:xfrm>
          <a:prstGeom prst="line">
            <a:avLst/>
          </a:prstGeom>
          <a:noFill/>
          <a:ln w="19050">
            <a:solidFill>
              <a:srgbClr val="0F766E"/>
            </a:solidFill>
            <a:prstDash val="solid"/>
          </a:ln>
        </p:spPr>
      </p:sp>
      <p:sp>
        <p:nvSpPr>
          <p:cNvPr id="50" name="Shape 48"/>
          <p:cNvSpPr/>
          <p:nvPr/>
        </p:nvSpPr>
        <p:spPr>
          <a:xfrm>
            <a:off x="6217920" y="2103120"/>
            <a:ext cx="2606040" cy="868680"/>
          </a:xfrm>
          <a:prstGeom prst="roundRect">
            <a:avLst>
              <a:gd name="adj" fmla="val 8421"/>
            </a:avLst>
          </a:prstGeom>
          <a:solidFill>
            <a:srgbClr val="F3F5F8"/>
          </a:solidFill>
          <a:ln w="12700">
            <a:solidFill>
              <a:srgbClr val="F3F5F8"/>
            </a:solidFill>
            <a:prstDash val="solid"/>
          </a:ln>
        </p:spPr>
      </p:sp>
      <p:sp>
        <p:nvSpPr>
          <p:cNvPr id="51" name="Shape 49"/>
          <p:cNvSpPr/>
          <p:nvPr/>
        </p:nvSpPr>
        <p:spPr>
          <a:xfrm>
            <a:off x="6345936" y="2331720"/>
            <a:ext cx="402336" cy="402336"/>
          </a:xfrm>
          <a:prstGeom prst="ellipse">
            <a:avLst/>
          </a:prstGeom>
          <a:solidFill>
            <a:srgbClr val="0F766E"/>
          </a:solidFill>
          <a:ln w="12700">
            <a:solidFill>
              <a:srgbClr val="0F766E"/>
            </a:solidFill>
            <a:prstDash val="solid"/>
          </a:ln>
        </p:spPr>
      </p:sp>
      <p:sp>
        <p:nvSpPr>
          <p:cNvPr id="52" name="Text 50"/>
          <p:cNvSpPr txBox="1"/>
          <p:nvPr/>
        </p:nvSpPr>
        <p:spPr>
          <a:xfrm>
            <a:off x="6345936" y="2331720"/>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9</a:t>
            </a:r>
            <a:endParaRPr lang="en-US" sz="1100" dirty="0"/>
          </a:p>
        </p:txBody>
      </p:sp>
      <p:sp>
        <p:nvSpPr>
          <p:cNvPr id="53" name="Text 51"/>
          <p:cNvSpPr txBox="1"/>
          <p:nvPr/>
        </p:nvSpPr>
        <p:spPr>
          <a:xfrm>
            <a:off x="6858000" y="2194560"/>
            <a:ext cx="1901952" cy="457200"/>
          </a:xfrm>
          <a:prstGeom prst="rect">
            <a:avLst/>
          </a:prstGeom>
          <a:noFill/>
          <a:ln/>
        </p:spPr>
        <p:txBody>
          <a:bodyPr wrap="square" lIns="0" tIns="0" rIns="0" bIns="0" rtlCol="0" anchor="ctr"/>
          <a:lstStyle/>
          <a:p>
            <a:pPr indent="0" marL="0">
              <a:buNone/>
            </a:pPr>
            <a:r>
              <a:rPr lang="en-US" sz="1200" b="1" dirty="0">
                <a:solidFill>
                  <a:srgbClr val="1F2937"/>
                </a:solidFill>
                <a:latin typeface="Calibri" pitchFamily="34" charset="0"/>
                <a:ea typeface="Calibri" pitchFamily="34" charset="-122"/>
                <a:cs typeface="Calibri" pitchFamily="34" charset="-120"/>
              </a:rPr>
              <a:t>SimPy 2D cluster simulator</a:t>
            </a:r>
            <a:endParaRPr lang="en-US" sz="1200" dirty="0"/>
          </a:p>
        </p:txBody>
      </p:sp>
      <p:sp>
        <p:nvSpPr>
          <p:cNvPr id="54" name="Text 52"/>
          <p:cNvSpPr txBox="1"/>
          <p:nvPr/>
        </p:nvSpPr>
        <p:spPr>
          <a:xfrm>
            <a:off x="6858000" y="2670048"/>
            <a:ext cx="1920240" cy="228600"/>
          </a:xfrm>
          <a:prstGeom prst="rect">
            <a:avLst/>
          </a:prstGeom>
          <a:noFill/>
          <a:ln/>
        </p:spPr>
        <p:txBody>
          <a:bodyPr wrap="square" lIns="0" tIns="0" rIns="0" bIns="0" rtlCol="0" anchor="t"/>
          <a:lstStyle/>
          <a:p>
            <a:pPr indent="0" marL="0">
              <a:buNone/>
            </a:pPr>
            <a:r>
              <a:rPr lang="en-US" sz="800" dirty="0">
                <a:solidFill>
                  <a:srgbClr val="5B6675"/>
                </a:solidFill>
                <a:latin typeface="Courier New" pitchFamily="34" charset="0"/>
                <a:ea typeface="Courier New" pitchFamily="34" charset="-122"/>
                <a:cs typeface="Courier New" pitchFamily="34" charset="-120"/>
              </a:rPr>
              <a:t>chimera_simulator.py</a:t>
            </a:r>
            <a:endParaRPr lang="en-US" sz="800" dirty="0"/>
          </a:p>
        </p:txBody>
      </p:sp>
      <p:sp>
        <p:nvSpPr>
          <p:cNvPr id="55" name="Shape 53"/>
          <p:cNvSpPr/>
          <p:nvPr/>
        </p:nvSpPr>
        <p:spPr>
          <a:xfrm>
            <a:off x="6217920" y="3108960"/>
            <a:ext cx="2606040" cy="868680"/>
          </a:xfrm>
          <a:prstGeom prst="roundRect">
            <a:avLst>
              <a:gd name="adj" fmla="val 8421"/>
            </a:avLst>
          </a:prstGeom>
          <a:solidFill>
            <a:srgbClr val="F3F5F8"/>
          </a:solidFill>
          <a:ln w="12700">
            <a:solidFill>
              <a:srgbClr val="F3F5F8"/>
            </a:solidFill>
            <a:prstDash val="solid"/>
          </a:ln>
        </p:spPr>
      </p:sp>
      <p:sp>
        <p:nvSpPr>
          <p:cNvPr id="56" name="Shape 54"/>
          <p:cNvSpPr/>
          <p:nvPr/>
        </p:nvSpPr>
        <p:spPr>
          <a:xfrm>
            <a:off x="6345936" y="3337560"/>
            <a:ext cx="402336" cy="402336"/>
          </a:xfrm>
          <a:prstGeom prst="ellipse">
            <a:avLst/>
          </a:prstGeom>
          <a:solidFill>
            <a:srgbClr val="0F766E"/>
          </a:solidFill>
          <a:ln w="12700">
            <a:solidFill>
              <a:srgbClr val="0F766E"/>
            </a:solidFill>
            <a:prstDash val="solid"/>
          </a:ln>
        </p:spPr>
      </p:sp>
      <p:sp>
        <p:nvSpPr>
          <p:cNvPr id="57" name="Text 55"/>
          <p:cNvSpPr txBox="1"/>
          <p:nvPr/>
        </p:nvSpPr>
        <p:spPr>
          <a:xfrm>
            <a:off x="6345936" y="3337560"/>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10</a:t>
            </a:r>
            <a:endParaRPr lang="en-US" sz="1100" dirty="0"/>
          </a:p>
        </p:txBody>
      </p:sp>
      <p:sp>
        <p:nvSpPr>
          <p:cNvPr id="58" name="Text 56"/>
          <p:cNvSpPr txBox="1"/>
          <p:nvPr/>
        </p:nvSpPr>
        <p:spPr>
          <a:xfrm>
            <a:off x="6858000" y="3200400"/>
            <a:ext cx="1901952" cy="457200"/>
          </a:xfrm>
          <a:prstGeom prst="rect">
            <a:avLst/>
          </a:prstGeom>
          <a:noFill/>
          <a:ln/>
        </p:spPr>
        <p:txBody>
          <a:bodyPr wrap="square" lIns="0" tIns="0" rIns="0" bIns="0" rtlCol="0" anchor="ctr"/>
          <a:lstStyle/>
          <a:p>
            <a:pPr indent="0" marL="0">
              <a:buNone/>
            </a:pPr>
            <a:r>
              <a:rPr lang="en-US" sz="1200" b="1" dirty="0">
                <a:solidFill>
                  <a:srgbClr val="1F2937"/>
                </a:solidFill>
                <a:latin typeface="Calibri" pitchFamily="34" charset="0"/>
                <a:ea typeface="Calibri" pitchFamily="34" charset="-122"/>
                <a:cs typeface="Calibri" pitchFamily="34" charset="-120"/>
              </a:rPr>
              <a:t>Six baseline controllers</a:t>
            </a:r>
            <a:endParaRPr lang="en-US" sz="1200" dirty="0"/>
          </a:p>
        </p:txBody>
      </p:sp>
      <p:sp>
        <p:nvSpPr>
          <p:cNvPr id="59" name="Text 57"/>
          <p:cNvSpPr txBox="1"/>
          <p:nvPr/>
        </p:nvSpPr>
        <p:spPr>
          <a:xfrm>
            <a:off x="6858000" y="3675888"/>
            <a:ext cx="1920240" cy="228600"/>
          </a:xfrm>
          <a:prstGeom prst="rect">
            <a:avLst/>
          </a:prstGeom>
          <a:noFill/>
          <a:ln/>
        </p:spPr>
        <p:txBody>
          <a:bodyPr wrap="square" lIns="0" tIns="0" rIns="0" bIns="0" rtlCol="0" anchor="t"/>
          <a:lstStyle/>
          <a:p>
            <a:pPr indent="0" marL="0">
              <a:buNone/>
            </a:pPr>
            <a:r>
              <a:rPr lang="en-US" sz="800" dirty="0">
                <a:solidFill>
                  <a:srgbClr val="5B6675"/>
                </a:solidFill>
                <a:latin typeface="Courier New" pitchFamily="34" charset="0"/>
                <a:ea typeface="Courier New" pitchFamily="34" charset="-122"/>
                <a:cs typeface="Courier New" pitchFamily="34" charset="-120"/>
              </a:rPr>
              <a:t>run_full_evaluation.py</a:t>
            </a:r>
            <a:endParaRPr lang="en-US" sz="800" dirty="0"/>
          </a:p>
        </p:txBody>
      </p:sp>
      <p:sp>
        <p:nvSpPr>
          <p:cNvPr id="60" name="Shape 58"/>
          <p:cNvSpPr/>
          <p:nvPr/>
        </p:nvSpPr>
        <p:spPr>
          <a:xfrm>
            <a:off x="6217920" y="4114800"/>
            <a:ext cx="2606040" cy="868680"/>
          </a:xfrm>
          <a:prstGeom prst="roundRect">
            <a:avLst>
              <a:gd name="adj" fmla="val 8421"/>
            </a:avLst>
          </a:prstGeom>
          <a:solidFill>
            <a:srgbClr val="F3F5F8"/>
          </a:solidFill>
          <a:ln w="12700">
            <a:solidFill>
              <a:srgbClr val="F3F5F8"/>
            </a:solidFill>
            <a:prstDash val="solid"/>
          </a:ln>
        </p:spPr>
      </p:sp>
      <p:sp>
        <p:nvSpPr>
          <p:cNvPr id="61" name="Shape 59"/>
          <p:cNvSpPr/>
          <p:nvPr/>
        </p:nvSpPr>
        <p:spPr>
          <a:xfrm>
            <a:off x="6345936" y="4343400"/>
            <a:ext cx="402336" cy="402336"/>
          </a:xfrm>
          <a:prstGeom prst="ellipse">
            <a:avLst/>
          </a:prstGeom>
          <a:solidFill>
            <a:srgbClr val="0F766E"/>
          </a:solidFill>
          <a:ln w="12700">
            <a:solidFill>
              <a:srgbClr val="0F766E"/>
            </a:solidFill>
            <a:prstDash val="solid"/>
          </a:ln>
        </p:spPr>
      </p:sp>
      <p:sp>
        <p:nvSpPr>
          <p:cNvPr id="62" name="Text 60"/>
          <p:cNvSpPr txBox="1"/>
          <p:nvPr/>
        </p:nvSpPr>
        <p:spPr>
          <a:xfrm>
            <a:off x="6345936" y="4343400"/>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11</a:t>
            </a:r>
            <a:endParaRPr lang="en-US" sz="1100" dirty="0"/>
          </a:p>
        </p:txBody>
      </p:sp>
      <p:sp>
        <p:nvSpPr>
          <p:cNvPr id="63" name="Text 61"/>
          <p:cNvSpPr txBox="1"/>
          <p:nvPr/>
        </p:nvSpPr>
        <p:spPr>
          <a:xfrm>
            <a:off x="6858000" y="4206240"/>
            <a:ext cx="1901952" cy="457200"/>
          </a:xfrm>
          <a:prstGeom prst="rect">
            <a:avLst/>
          </a:prstGeom>
          <a:noFill/>
          <a:ln/>
        </p:spPr>
        <p:txBody>
          <a:bodyPr wrap="square" lIns="0" tIns="0" rIns="0" bIns="0" rtlCol="0" anchor="ctr"/>
          <a:lstStyle/>
          <a:p>
            <a:pPr indent="0" marL="0">
              <a:buNone/>
            </a:pPr>
            <a:r>
              <a:rPr lang="en-US" sz="1200" b="1" dirty="0">
                <a:solidFill>
                  <a:srgbClr val="1F2937"/>
                </a:solidFill>
                <a:latin typeface="Calibri" pitchFamily="34" charset="0"/>
                <a:ea typeface="Calibri" pitchFamily="34" charset="-122"/>
                <a:cs typeface="Calibri" pitchFamily="34" charset="-120"/>
              </a:rPr>
              <a:t>Evaluation harness, 27 configs</a:t>
            </a:r>
            <a:endParaRPr lang="en-US" sz="1200" dirty="0"/>
          </a:p>
        </p:txBody>
      </p:sp>
      <p:sp>
        <p:nvSpPr>
          <p:cNvPr id="64" name="Text 62"/>
          <p:cNvSpPr txBox="1"/>
          <p:nvPr/>
        </p:nvSpPr>
        <p:spPr>
          <a:xfrm>
            <a:off x="6858000" y="4681728"/>
            <a:ext cx="1920240" cy="228600"/>
          </a:xfrm>
          <a:prstGeom prst="rect">
            <a:avLst/>
          </a:prstGeom>
          <a:noFill/>
          <a:ln/>
        </p:spPr>
        <p:txBody>
          <a:bodyPr wrap="square" lIns="0" tIns="0" rIns="0" bIns="0" rtlCol="0" anchor="t"/>
          <a:lstStyle/>
          <a:p>
            <a:pPr indent="0" marL="0">
              <a:buNone/>
            </a:pPr>
            <a:r>
              <a:rPr lang="en-US" sz="800" dirty="0">
                <a:solidFill>
                  <a:srgbClr val="5B6675"/>
                </a:solidFill>
                <a:latin typeface="Courier New" pitchFamily="34" charset="0"/>
                <a:ea typeface="Courier New" pitchFamily="34" charset="-122"/>
                <a:cs typeface="Courier New" pitchFamily="34" charset="-120"/>
              </a:rPr>
              <a:t>run_full_evaluation.py</a:t>
            </a:r>
            <a:endParaRPr lang="en-US" sz="800" dirty="0"/>
          </a:p>
        </p:txBody>
      </p:sp>
      <p:sp>
        <p:nvSpPr>
          <p:cNvPr id="65" name="Text 63"/>
          <p:cNvSpPr txBox="1"/>
          <p:nvPr/>
        </p:nvSpPr>
        <p:spPr>
          <a:xfrm>
            <a:off x="9052560" y="1508760"/>
            <a:ext cx="2606040" cy="365760"/>
          </a:xfrm>
          <a:prstGeom prst="rect">
            <a:avLst/>
          </a:prstGeom>
          <a:noFill/>
          <a:ln/>
        </p:spPr>
        <p:txBody>
          <a:bodyPr wrap="square" lIns="0" tIns="0" rIns="0" bIns="0" rtlCol="0" anchor="t"/>
          <a:lstStyle/>
          <a:p>
            <a:pPr indent="0" marL="0">
              <a:buNone/>
            </a:pPr>
            <a:r>
              <a:rPr lang="en-US" sz="1600" b="1" dirty="0">
                <a:solidFill>
                  <a:srgbClr val="B42318"/>
                </a:solidFill>
                <a:latin typeface="Cambria" pitchFamily="34" charset="0"/>
                <a:ea typeface="Cambria" pitchFamily="34" charset="-122"/>
                <a:cs typeface="Cambria" pitchFamily="34" charset="-120"/>
              </a:rPr>
              <a:t>Deployment</a:t>
            </a:r>
            <a:endParaRPr lang="en-US" sz="1600" dirty="0"/>
          </a:p>
        </p:txBody>
      </p:sp>
      <p:sp>
        <p:nvSpPr>
          <p:cNvPr id="66" name="Shape 64"/>
          <p:cNvSpPr/>
          <p:nvPr/>
        </p:nvSpPr>
        <p:spPr>
          <a:xfrm>
            <a:off x="9052560" y="1920240"/>
            <a:ext cx="2606040" cy="0"/>
          </a:xfrm>
          <a:prstGeom prst="line">
            <a:avLst/>
          </a:prstGeom>
          <a:noFill/>
          <a:ln w="19050">
            <a:solidFill>
              <a:srgbClr val="B42318"/>
            </a:solidFill>
            <a:prstDash val="solid"/>
          </a:ln>
        </p:spPr>
      </p:sp>
      <p:sp>
        <p:nvSpPr>
          <p:cNvPr id="67" name="Shape 65"/>
          <p:cNvSpPr/>
          <p:nvPr/>
        </p:nvSpPr>
        <p:spPr>
          <a:xfrm>
            <a:off x="9052560" y="2103120"/>
            <a:ext cx="2606040" cy="868680"/>
          </a:xfrm>
          <a:prstGeom prst="roundRect">
            <a:avLst>
              <a:gd name="adj" fmla="val 8421"/>
            </a:avLst>
          </a:prstGeom>
          <a:solidFill>
            <a:srgbClr val="F3F5F8"/>
          </a:solidFill>
          <a:ln w="12700">
            <a:solidFill>
              <a:srgbClr val="F3F5F8"/>
            </a:solidFill>
            <a:prstDash val="solid"/>
          </a:ln>
        </p:spPr>
      </p:sp>
      <p:sp>
        <p:nvSpPr>
          <p:cNvPr id="68" name="Shape 66"/>
          <p:cNvSpPr/>
          <p:nvPr/>
        </p:nvSpPr>
        <p:spPr>
          <a:xfrm>
            <a:off x="9180576" y="2331720"/>
            <a:ext cx="402336" cy="402336"/>
          </a:xfrm>
          <a:prstGeom prst="ellipse">
            <a:avLst/>
          </a:prstGeom>
          <a:solidFill>
            <a:srgbClr val="B42318"/>
          </a:solidFill>
          <a:ln w="12700">
            <a:solidFill>
              <a:srgbClr val="B42318"/>
            </a:solidFill>
            <a:prstDash val="solid"/>
          </a:ln>
        </p:spPr>
      </p:sp>
      <p:sp>
        <p:nvSpPr>
          <p:cNvPr id="69" name="Text 67"/>
          <p:cNvSpPr txBox="1"/>
          <p:nvPr/>
        </p:nvSpPr>
        <p:spPr>
          <a:xfrm>
            <a:off x="9180576" y="2331720"/>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12</a:t>
            </a:r>
            <a:endParaRPr lang="en-US" sz="1100" dirty="0"/>
          </a:p>
        </p:txBody>
      </p:sp>
      <p:sp>
        <p:nvSpPr>
          <p:cNvPr id="70" name="Text 68"/>
          <p:cNvSpPr txBox="1"/>
          <p:nvPr/>
        </p:nvSpPr>
        <p:spPr>
          <a:xfrm>
            <a:off x="9692640" y="2194560"/>
            <a:ext cx="1901952" cy="457200"/>
          </a:xfrm>
          <a:prstGeom prst="rect">
            <a:avLst/>
          </a:prstGeom>
          <a:noFill/>
          <a:ln/>
        </p:spPr>
        <p:txBody>
          <a:bodyPr wrap="square" lIns="0" tIns="0" rIns="0" bIns="0" rtlCol="0" anchor="ctr"/>
          <a:lstStyle/>
          <a:p>
            <a:pPr indent="0" marL="0">
              <a:buNone/>
            </a:pPr>
            <a:r>
              <a:rPr lang="en-US" sz="1200" b="1" dirty="0">
                <a:solidFill>
                  <a:srgbClr val="1F2937"/>
                </a:solidFill>
                <a:latin typeface="Calibri" pitchFamily="34" charset="0"/>
                <a:ea typeface="Calibri" pitchFamily="34" charset="-122"/>
                <a:cs typeface="Calibri" pitchFamily="34" charset="-120"/>
              </a:rPr>
              <a:t>Kubernetes CRD + operator</a:t>
            </a:r>
            <a:endParaRPr lang="en-US" sz="1200" dirty="0"/>
          </a:p>
        </p:txBody>
      </p:sp>
      <p:sp>
        <p:nvSpPr>
          <p:cNvPr id="71" name="Text 69"/>
          <p:cNvSpPr txBox="1"/>
          <p:nvPr/>
        </p:nvSpPr>
        <p:spPr>
          <a:xfrm>
            <a:off x="9692640" y="2670048"/>
            <a:ext cx="1920240" cy="228600"/>
          </a:xfrm>
          <a:prstGeom prst="rect">
            <a:avLst/>
          </a:prstGeom>
          <a:noFill/>
          <a:ln/>
        </p:spPr>
        <p:txBody>
          <a:bodyPr wrap="square" lIns="0" tIns="0" rIns="0" bIns="0" rtlCol="0" anchor="t"/>
          <a:lstStyle/>
          <a:p>
            <a:pPr indent="0" marL="0">
              <a:buNone/>
            </a:pPr>
            <a:r>
              <a:rPr lang="en-US" sz="800" dirty="0">
                <a:solidFill>
                  <a:srgbClr val="5B6675"/>
                </a:solidFill>
                <a:latin typeface="Courier New" pitchFamily="34" charset="0"/>
                <a:ea typeface="Courier New" pitchFamily="34" charset="-122"/>
                <a:cs typeface="Courier New" pitchFamily="34" charset="-120"/>
              </a:rPr>
              <a:t>k8s/manager.py</a:t>
            </a:r>
            <a:endParaRPr lang="en-US" sz="800" dirty="0"/>
          </a:p>
        </p:txBody>
      </p:sp>
      <p:sp>
        <p:nvSpPr>
          <p:cNvPr id="72" name="Text 70"/>
          <p:cNvSpPr txBox="1"/>
          <p:nvPr/>
        </p:nvSpPr>
        <p:spPr>
          <a:xfrm>
            <a:off x="548640" y="6419088"/>
            <a:ext cx="8229600" cy="228600"/>
          </a:xfrm>
          <a:prstGeom prst="rect">
            <a:avLst/>
          </a:prstGeom>
          <a:noFill/>
          <a:ln/>
        </p:spPr>
        <p:txBody>
          <a:bodyPr wrap="square" lIns="0" tIns="0" rIns="0" bIns="0" rtlCol="0" anchor="t"/>
          <a:lstStyle/>
          <a:p>
            <a:pPr indent="0" marL="0">
              <a:buNone/>
            </a:pPr>
            <a:r>
              <a:rPr lang="en-US" sz="900" dirty="0">
                <a:solidFill>
                  <a:srgbClr val="8A94A3"/>
                </a:solidFill>
                <a:latin typeface="Calibri" pitchFamily="34" charset="0"/>
                <a:ea typeface="Calibri" pitchFamily="34" charset="-122"/>
                <a:cs typeface="Calibri" pitchFamily="34" charset="-120"/>
              </a:rPr>
              <a:t>VIT Vellore  ·  BCSE303P Operating Systems Laboratory  ·  CHIMERA  ·  Review 2</a:t>
            </a:r>
            <a:endParaRPr lang="en-US" sz="900" dirty="0"/>
          </a:p>
        </p:txBody>
      </p:sp>
      <p:sp>
        <p:nvSpPr>
          <p:cNvPr id="73" name="Text 71"/>
          <p:cNvSpPr txBox="1"/>
          <p:nvPr/>
        </p:nvSpPr>
        <p:spPr>
          <a:xfrm>
            <a:off x="10725912" y="6419088"/>
            <a:ext cx="914400" cy="228600"/>
          </a:xfrm>
          <a:prstGeom prst="rect">
            <a:avLst/>
          </a:prstGeom>
          <a:noFill/>
          <a:ln/>
        </p:spPr>
        <p:txBody>
          <a:bodyPr wrap="square" lIns="0" tIns="0" rIns="0" bIns="0" rtlCol="0" anchor="t"/>
          <a:lstStyle/>
          <a:p>
            <a:pPr algn="r" indent="0" marL="0">
              <a:buNone/>
            </a:pPr>
            <a:r>
              <a:rPr lang="en-US" sz="900" dirty="0">
                <a:solidFill>
                  <a:srgbClr val="8A94A3"/>
                </a:solidFill>
                <a:latin typeface="Calibri" pitchFamily="34" charset="0"/>
                <a:ea typeface="Calibri" pitchFamily="34" charset="-122"/>
                <a:cs typeface="Calibri" pitchFamily="34" charset="-120"/>
              </a:rPr>
              <a:t>8 / 21</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300" kern="0" dirty="0">
                <a:solidFill>
                  <a:srgbClr val="C7811A"/>
                </a:solidFill>
                <a:latin typeface="Calibri" pitchFamily="34" charset="0"/>
                <a:ea typeface="Calibri" pitchFamily="34" charset="-122"/>
                <a:cs typeface="Calibri" pitchFamily="34" charset="-120"/>
              </a:rPr>
              <a:t>MODULE COMPLETION</a:t>
            </a:r>
            <a:endParaRPr lang="en-US" sz="11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rgbClr val="13223A"/>
                </a:solidFill>
                <a:latin typeface="Cambria" pitchFamily="34" charset="0"/>
                <a:ea typeface="Cambria" pitchFamily="34" charset="-122"/>
                <a:cs typeface="Cambria" pitchFamily="34" charset="-120"/>
              </a:rPr>
              <a:t>Module completion status</a:t>
            </a:r>
            <a:endParaRPr lang="en-US" sz="3000" dirty="0"/>
          </a:p>
        </p:txBody>
      </p:sp>
      <p:sp>
        <p:nvSpPr>
          <p:cNvPr id="4" name="Shape 2"/>
          <p:cNvSpPr/>
          <p:nvPr/>
        </p:nvSpPr>
        <p:spPr>
          <a:xfrm>
            <a:off x="548640" y="1508760"/>
            <a:ext cx="2587752" cy="1234440"/>
          </a:xfrm>
          <a:prstGeom prst="roundRect">
            <a:avLst>
              <a:gd name="adj" fmla="val 5926"/>
            </a:avLst>
          </a:prstGeom>
          <a:solidFill>
            <a:srgbClr val="F3F5F8"/>
          </a:solidFill>
          <a:ln w="12700">
            <a:solidFill>
              <a:srgbClr val="F3F5F8"/>
            </a:solidFill>
            <a:prstDash val="solid"/>
          </a:ln>
        </p:spPr>
      </p:sp>
      <p:sp>
        <p:nvSpPr>
          <p:cNvPr id="5" name="Text 3"/>
          <p:cNvSpPr txBox="1"/>
          <p:nvPr/>
        </p:nvSpPr>
        <p:spPr>
          <a:xfrm>
            <a:off x="777240" y="1600200"/>
            <a:ext cx="2194560" cy="640080"/>
          </a:xfrm>
          <a:prstGeom prst="rect">
            <a:avLst/>
          </a:prstGeom>
          <a:noFill/>
          <a:ln/>
        </p:spPr>
        <p:txBody>
          <a:bodyPr wrap="square" lIns="0" tIns="0" rIns="0" bIns="0" rtlCol="0" anchor="t"/>
          <a:lstStyle/>
          <a:p>
            <a:pPr indent="0" marL="0">
              <a:buNone/>
            </a:pPr>
            <a:r>
              <a:rPr lang="en-US" sz="3200" b="1" dirty="0">
                <a:solidFill>
                  <a:srgbClr val="13223A"/>
                </a:solidFill>
                <a:latin typeface="Cambria" pitchFamily="34" charset="0"/>
                <a:ea typeface="Cambria" pitchFamily="34" charset="-122"/>
                <a:cs typeface="Cambria" pitchFamily="34" charset="-120"/>
              </a:rPr>
              <a:t>10 / 12</a:t>
            </a:r>
            <a:endParaRPr lang="en-US" sz="3200" dirty="0"/>
          </a:p>
        </p:txBody>
      </p:sp>
      <p:sp>
        <p:nvSpPr>
          <p:cNvPr id="6" name="Text 4"/>
          <p:cNvSpPr txBox="1"/>
          <p:nvPr/>
        </p:nvSpPr>
        <p:spPr>
          <a:xfrm>
            <a:off x="777240" y="2240280"/>
            <a:ext cx="2194560" cy="411480"/>
          </a:xfrm>
          <a:prstGeom prst="rect">
            <a:avLst/>
          </a:prstGeom>
          <a:noFill/>
          <a:ln/>
        </p:spPr>
        <p:txBody>
          <a:bodyPr wrap="square" lIns="0" tIns="0" rIns="0" bIns="0" rtlCol="0" anchor="t"/>
          <a:lstStyle/>
          <a:p>
            <a:pPr indent="0" marL="0">
              <a:buNone/>
            </a:pPr>
            <a:r>
              <a:rPr lang="en-US" sz="1200" dirty="0">
                <a:solidFill>
                  <a:srgbClr val="5B6675"/>
                </a:solidFill>
                <a:latin typeface="Calibri" pitchFamily="34" charset="0"/>
                <a:ea typeface="Calibri" pitchFamily="34" charset="-122"/>
                <a:cs typeface="Calibri" pitchFamily="34" charset="-120"/>
              </a:rPr>
              <a:t>modules fully implemented and tested</a:t>
            </a:r>
            <a:endParaRPr lang="en-US" sz="1200" dirty="0"/>
          </a:p>
        </p:txBody>
      </p:sp>
      <p:sp>
        <p:nvSpPr>
          <p:cNvPr id="7" name="Shape 5"/>
          <p:cNvSpPr/>
          <p:nvPr/>
        </p:nvSpPr>
        <p:spPr>
          <a:xfrm>
            <a:off x="3383280" y="1508760"/>
            <a:ext cx="2587752" cy="1234440"/>
          </a:xfrm>
          <a:prstGeom prst="roundRect">
            <a:avLst>
              <a:gd name="adj" fmla="val 5926"/>
            </a:avLst>
          </a:prstGeom>
          <a:solidFill>
            <a:srgbClr val="F3F5F8"/>
          </a:solidFill>
          <a:ln w="12700">
            <a:solidFill>
              <a:srgbClr val="F3F5F8"/>
            </a:solidFill>
            <a:prstDash val="solid"/>
          </a:ln>
        </p:spPr>
      </p:sp>
      <p:sp>
        <p:nvSpPr>
          <p:cNvPr id="8" name="Text 6"/>
          <p:cNvSpPr txBox="1"/>
          <p:nvPr/>
        </p:nvSpPr>
        <p:spPr>
          <a:xfrm>
            <a:off x="3611880" y="1600200"/>
            <a:ext cx="2194560" cy="640080"/>
          </a:xfrm>
          <a:prstGeom prst="rect">
            <a:avLst/>
          </a:prstGeom>
          <a:noFill/>
          <a:ln/>
        </p:spPr>
        <p:txBody>
          <a:bodyPr wrap="square" lIns="0" tIns="0" rIns="0" bIns="0" rtlCol="0" anchor="t"/>
          <a:lstStyle/>
          <a:p>
            <a:pPr indent="0" marL="0">
              <a:buNone/>
            </a:pPr>
            <a:r>
              <a:rPr lang="en-US" sz="3200" b="1" dirty="0">
                <a:solidFill>
                  <a:srgbClr val="13223A"/>
                </a:solidFill>
                <a:latin typeface="Cambria" pitchFamily="34" charset="0"/>
                <a:ea typeface="Cambria" pitchFamily="34" charset="-122"/>
                <a:cs typeface="Cambria" pitchFamily="34" charset="-120"/>
              </a:rPr>
              <a:t>6 / 6</a:t>
            </a:r>
            <a:endParaRPr lang="en-US" sz="3200" dirty="0"/>
          </a:p>
        </p:txBody>
      </p:sp>
      <p:sp>
        <p:nvSpPr>
          <p:cNvPr id="9" name="Text 7"/>
          <p:cNvSpPr txBox="1"/>
          <p:nvPr/>
        </p:nvSpPr>
        <p:spPr>
          <a:xfrm>
            <a:off x="3611880" y="2240280"/>
            <a:ext cx="2194560" cy="411480"/>
          </a:xfrm>
          <a:prstGeom prst="rect">
            <a:avLst/>
          </a:prstGeom>
          <a:noFill/>
          <a:ln/>
        </p:spPr>
        <p:txBody>
          <a:bodyPr wrap="square" lIns="0" tIns="0" rIns="0" bIns="0" rtlCol="0" anchor="t"/>
          <a:lstStyle/>
          <a:p>
            <a:pPr indent="0" marL="0">
              <a:buNone/>
            </a:pPr>
            <a:r>
              <a:rPr lang="en-US" sz="1200" dirty="0">
                <a:solidFill>
                  <a:srgbClr val="5B6675"/>
                </a:solidFill>
                <a:latin typeface="Calibri" pitchFamily="34" charset="0"/>
                <a:ea typeface="Calibri" pitchFamily="34" charset="-122"/>
                <a:cs typeface="Calibri" pitchFamily="34" charset="-120"/>
              </a:rPr>
              <a:t>unit tests passing</a:t>
            </a:r>
            <a:endParaRPr lang="en-US" sz="1200" dirty="0"/>
          </a:p>
        </p:txBody>
      </p:sp>
      <p:sp>
        <p:nvSpPr>
          <p:cNvPr id="10" name="Shape 8"/>
          <p:cNvSpPr/>
          <p:nvPr/>
        </p:nvSpPr>
        <p:spPr>
          <a:xfrm>
            <a:off x="6217920" y="1508760"/>
            <a:ext cx="2587752" cy="1234440"/>
          </a:xfrm>
          <a:prstGeom prst="roundRect">
            <a:avLst>
              <a:gd name="adj" fmla="val 5926"/>
            </a:avLst>
          </a:prstGeom>
          <a:solidFill>
            <a:srgbClr val="F3F5F8"/>
          </a:solidFill>
          <a:ln w="12700">
            <a:solidFill>
              <a:srgbClr val="F3F5F8"/>
            </a:solidFill>
            <a:prstDash val="solid"/>
          </a:ln>
        </p:spPr>
      </p:sp>
      <p:sp>
        <p:nvSpPr>
          <p:cNvPr id="11" name="Text 9"/>
          <p:cNvSpPr txBox="1"/>
          <p:nvPr/>
        </p:nvSpPr>
        <p:spPr>
          <a:xfrm>
            <a:off x="6446520" y="1600200"/>
            <a:ext cx="2194560" cy="640080"/>
          </a:xfrm>
          <a:prstGeom prst="rect">
            <a:avLst/>
          </a:prstGeom>
          <a:noFill/>
          <a:ln/>
        </p:spPr>
        <p:txBody>
          <a:bodyPr wrap="square" lIns="0" tIns="0" rIns="0" bIns="0" rtlCol="0" anchor="t"/>
          <a:lstStyle/>
          <a:p>
            <a:pPr indent="0" marL="0">
              <a:buNone/>
            </a:pPr>
            <a:r>
              <a:rPr lang="en-US" sz="3200" b="1" dirty="0">
                <a:solidFill>
                  <a:srgbClr val="13223A"/>
                </a:solidFill>
                <a:latin typeface="Cambria" pitchFamily="34" charset="0"/>
                <a:ea typeface="Cambria" pitchFamily="34" charset="-122"/>
                <a:cs typeface="Cambria" pitchFamily="34" charset="-120"/>
              </a:rPr>
              <a:t>720</a:t>
            </a:r>
            <a:endParaRPr lang="en-US" sz="3200" dirty="0"/>
          </a:p>
        </p:txBody>
      </p:sp>
      <p:sp>
        <p:nvSpPr>
          <p:cNvPr id="12" name="Text 10"/>
          <p:cNvSpPr txBox="1"/>
          <p:nvPr/>
        </p:nvSpPr>
        <p:spPr>
          <a:xfrm>
            <a:off x="6446520" y="2240280"/>
            <a:ext cx="2194560" cy="411480"/>
          </a:xfrm>
          <a:prstGeom prst="rect">
            <a:avLst/>
          </a:prstGeom>
          <a:noFill/>
          <a:ln/>
        </p:spPr>
        <p:txBody>
          <a:bodyPr wrap="square" lIns="0" tIns="0" rIns="0" bIns="0" rtlCol="0" anchor="t"/>
          <a:lstStyle/>
          <a:p>
            <a:pPr indent="0" marL="0">
              <a:buNone/>
            </a:pPr>
            <a:r>
              <a:rPr lang="en-US" sz="1200" dirty="0">
                <a:solidFill>
                  <a:srgbClr val="5B6675"/>
                </a:solidFill>
                <a:latin typeface="Calibri" pitchFamily="34" charset="0"/>
                <a:ea typeface="Calibri" pitchFamily="34" charset="-122"/>
                <a:cs typeface="Calibri" pitchFamily="34" charset="-120"/>
              </a:rPr>
              <a:t>verified simulation runs on disk</a:t>
            </a:r>
            <a:endParaRPr lang="en-US" sz="1200" dirty="0"/>
          </a:p>
        </p:txBody>
      </p:sp>
      <p:sp>
        <p:nvSpPr>
          <p:cNvPr id="13" name="Shape 11"/>
          <p:cNvSpPr/>
          <p:nvPr/>
        </p:nvSpPr>
        <p:spPr>
          <a:xfrm>
            <a:off x="9052560" y="1508760"/>
            <a:ext cx="2587752" cy="1234440"/>
          </a:xfrm>
          <a:prstGeom prst="roundRect">
            <a:avLst>
              <a:gd name="adj" fmla="val 5926"/>
            </a:avLst>
          </a:prstGeom>
          <a:solidFill>
            <a:srgbClr val="F3F5F8"/>
          </a:solidFill>
          <a:ln w="12700">
            <a:solidFill>
              <a:srgbClr val="F3F5F8"/>
            </a:solidFill>
            <a:prstDash val="solid"/>
          </a:ln>
        </p:spPr>
      </p:sp>
      <p:sp>
        <p:nvSpPr>
          <p:cNvPr id="14" name="Text 12"/>
          <p:cNvSpPr txBox="1"/>
          <p:nvPr/>
        </p:nvSpPr>
        <p:spPr>
          <a:xfrm>
            <a:off x="9281160" y="1600200"/>
            <a:ext cx="2194560" cy="640080"/>
          </a:xfrm>
          <a:prstGeom prst="rect">
            <a:avLst/>
          </a:prstGeom>
          <a:noFill/>
          <a:ln/>
        </p:spPr>
        <p:txBody>
          <a:bodyPr wrap="square" lIns="0" tIns="0" rIns="0" bIns="0" rtlCol="0" anchor="t"/>
          <a:lstStyle/>
          <a:p>
            <a:pPr indent="0" marL="0">
              <a:buNone/>
            </a:pPr>
            <a:r>
              <a:rPr lang="en-US" sz="3200" b="1" dirty="0">
                <a:solidFill>
                  <a:srgbClr val="13223A"/>
                </a:solidFill>
                <a:latin typeface="Cambria" pitchFamily="34" charset="0"/>
                <a:ea typeface="Cambria" pitchFamily="34" charset="-122"/>
                <a:cs typeface="Cambria" pitchFamily="34" charset="-120"/>
              </a:rPr>
              <a:t>27</a:t>
            </a:r>
            <a:endParaRPr lang="en-US" sz="3200" dirty="0"/>
          </a:p>
        </p:txBody>
      </p:sp>
      <p:sp>
        <p:nvSpPr>
          <p:cNvPr id="15" name="Text 13"/>
          <p:cNvSpPr txBox="1"/>
          <p:nvPr/>
        </p:nvSpPr>
        <p:spPr>
          <a:xfrm>
            <a:off x="9281160" y="2240280"/>
            <a:ext cx="2194560" cy="411480"/>
          </a:xfrm>
          <a:prstGeom prst="rect">
            <a:avLst/>
          </a:prstGeom>
          <a:noFill/>
          <a:ln/>
        </p:spPr>
        <p:txBody>
          <a:bodyPr wrap="square" lIns="0" tIns="0" rIns="0" bIns="0" rtlCol="0" anchor="t"/>
          <a:lstStyle/>
          <a:p>
            <a:pPr indent="0" marL="0">
              <a:buNone/>
            </a:pPr>
            <a:r>
              <a:rPr lang="en-US" sz="1200" dirty="0">
                <a:solidFill>
                  <a:srgbClr val="5B6675"/>
                </a:solidFill>
                <a:latin typeface="Calibri" pitchFamily="34" charset="0"/>
                <a:ea typeface="Calibri" pitchFamily="34" charset="-122"/>
                <a:cs typeface="Calibri" pitchFamily="34" charset="-120"/>
              </a:rPr>
              <a:t>controller configurations compared</a:t>
            </a:r>
            <a:endParaRPr lang="en-US" sz="1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3017520"/>
          <a:ext cx="11091672" cy="914400"/>
        </p:xfrm>
        <a:graphic>
          <a:graphicData uri="http://schemas.openxmlformats.org/drawingml/2006/table">
            <a:tbl>
              <a:tblPr/>
              <a:tblGrid>
                <a:gridCol w="1554480"/>
                <a:gridCol w="2834640"/>
                <a:gridCol w="5330952"/>
                <a:gridCol w="1371600"/>
              </a:tblGrid>
              <a:tr h="438912">
                <a:tc>
                  <a:txBody>
                    <a:bodyPr/>
                    <a:lstStyle/>
                    <a:p>
                      <a:pPr indent="0" marL="0">
                        <a:buNone/>
                      </a:pPr>
                      <a:r>
                        <a:rPr lang="en-US" sz="1200" b="1" dirty="0">
                          <a:solidFill>
                            <a:srgbClr val="FFFFFF"/>
                          </a:solidFill>
                        </a:rPr>
                        <a:t>Module</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13223A"/>
                    </a:solidFill>
                  </a:tcPr>
                </a:tc>
                <a:tc>
                  <a:txBody>
                    <a:bodyPr/>
                    <a:lstStyle/>
                    <a:p>
                      <a:pPr indent="0" marL="0">
                        <a:buNone/>
                      </a:pPr>
                      <a:r>
                        <a:rPr lang="en-US" sz="1200" b="1" dirty="0">
                          <a:solidFill>
                            <a:srgbClr val="FFFFFF"/>
                          </a:solidFill>
                        </a:rPr>
                        <a:t>Component</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13223A"/>
                    </a:solidFill>
                  </a:tcPr>
                </a:tc>
                <a:tc>
                  <a:txBody>
                    <a:bodyPr/>
                    <a:lstStyle/>
                    <a:p>
                      <a:pPr indent="0" marL="0">
                        <a:buNone/>
                      </a:pPr>
                      <a:r>
                        <a:rPr lang="en-US" sz="1200" b="1" dirty="0">
                          <a:solidFill>
                            <a:srgbClr val="FFFFFF"/>
                          </a:solidFill>
                        </a:rPr>
                        <a:t>Evidence</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13223A"/>
                    </a:solidFill>
                  </a:tcPr>
                </a:tc>
                <a:tc>
                  <a:txBody>
                    <a:bodyPr/>
                    <a:lstStyle/>
                    <a:p>
                      <a:pPr indent="0" marL="0">
                        <a:buNone/>
                      </a:pPr>
                      <a:r>
                        <a:rPr lang="en-US" sz="1200" b="1" dirty="0">
                          <a:solidFill>
                            <a:srgbClr val="FFFFFF"/>
                          </a:solidFill>
                        </a:rPr>
                        <a:t>Status</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13223A"/>
                    </a:solidFill>
                  </a:tcPr>
                </a:tc>
              </a:tr>
              <a:tr h="438912">
                <a:tc>
                  <a:txBody>
                    <a:bodyPr/>
                    <a:lstStyle/>
                    <a:p>
                      <a:pPr indent="0" marL="0">
                        <a:buNone/>
                      </a:pPr>
                      <a:r>
                        <a:rPr lang="en-US" sz="1200" b="1" dirty="0">
                          <a:solidFill>
                            <a:srgbClr val="13223A"/>
                          </a:solidFill>
                        </a:rPr>
                        <a:t>Modules 1–4</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00" dirty="0">
                          <a:solidFill>
                            <a:srgbClr val="1F2937"/>
                          </a:solidFill>
                        </a:rPr>
                        <a:t>Data &amp; prediction pipeline</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00" dirty="0">
                          <a:solidFill>
                            <a:srgbClr val="5B6675"/>
                          </a:solidFill>
                        </a:rPr>
                        <a:t>Trained offline; strict train / calibrate / test split at 10–50–70–100 min</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algn="ctr" indent="0" marL="0">
                        <a:buNone/>
                      </a:pPr>
                      <a:r>
                        <a:rPr lang="en-US" sz="1200" b="1" dirty="0">
                          <a:solidFill>
                            <a:srgbClr val="FFFFFF"/>
                          </a:solidFill>
                        </a:rPr>
                        <a:t>Complete</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0F766E"/>
                    </a:solidFill>
                  </a:tcPr>
                </a:tc>
              </a:tr>
              <a:tr h="438912">
                <a:tc>
                  <a:txBody>
                    <a:bodyPr/>
                    <a:lstStyle/>
                    <a:p>
                      <a:pPr indent="0" marL="0">
                        <a:buNone/>
                      </a:pPr>
                      <a:r>
                        <a:rPr lang="en-US" sz="1200" b="1" dirty="0">
                          <a:solidFill>
                            <a:srgbClr val="13223A"/>
                          </a:solidFill>
                        </a:rPr>
                        <a:t>Modules 5–6</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rPr>
                        <a:t>LQR solver &amp; delay augmentation</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00" dirty="0">
                          <a:solidFill>
                            <a:srgbClr val="5B6675"/>
                          </a:solidFill>
                        </a:rPr>
                        <a:t>Riccati solution verified positive-definite</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FFFFFF"/>
                          </a:solidFill>
                        </a:rPr>
                        <a:t>Complete</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0F766E"/>
                    </a:solidFill>
                  </a:tcPr>
                </a:tc>
              </a:tr>
              <a:tr h="438912">
                <a:tc>
                  <a:txBody>
                    <a:bodyPr/>
                    <a:lstStyle/>
                    <a:p>
                      <a:pPr indent="0" marL="0">
                        <a:buNone/>
                      </a:pPr>
                      <a:r>
                        <a:rPr lang="en-US" sz="1200" b="1" dirty="0">
                          <a:solidFill>
                            <a:srgbClr val="13223A"/>
                          </a:solidFill>
                        </a:rPr>
                        <a:t>Module 7</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00" dirty="0">
                          <a:solidFill>
                            <a:srgbClr val="1F2937"/>
                          </a:solidFill>
                        </a:rPr>
                        <a:t>Lyapunov safety filter</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00" dirty="0">
                          <a:solidFill>
                            <a:srgbClr val="5B6675"/>
                          </a:solidFill>
                        </a:rPr>
                        <a:t>Runs correctly; measured impact on outcomes near zero</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algn="ctr" indent="0" marL="0">
                        <a:buNone/>
                      </a:pPr>
                      <a:r>
                        <a:rPr lang="en-US" sz="1200" b="1" dirty="0">
                          <a:solidFill>
                            <a:srgbClr val="FFFFFF"/>
                          </a:solidFill>
                        </a:rPr>
                        <a:t>Complete</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0F766E"/>
                    </a:solidFill>
                  </a:tcPr>
                </a:tc>
              </a:tr>
              <a:tr h="438912">
                <a:tc>
                  <a:txBody>
                    <a:bodyPr/>
                    <a:lstStyle/>
                    <a:p>
                      <a:pPr indent="0" marL="0">
                        <a:buNone/>
                      </a:pPr>
                      <a:r>
                        <a:rPr lang="en-US" sz="1200" b="1" dirty="0">
                          <a:solidFill>
                            <a:srgbClr val="13223A"/>
                          </a:solidFill>
                        </a:rPr>
                        <a:t>Module 8</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rPr>
                        <a:t>Cross-coupling penalty</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00" dirty="0">
                          <a:solidFill>
                            <a:srgbClr val="5B6675"/>
                          </a:solidFill>
                        </a:rPr>
                        <a:t>Implemented; ablation shows it currently costs 2 pp</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FFFFFF"/>
                          </a:solidFill>
                        </a:rPr>
                        <a:t>Complete</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0F766E"/>
                    </a:solidFill>
                  </a:tcPr>
                </a:tc>
              </a:tr>
              <a:tr h="438912">
                <a:tc>
                  <a:txBody>
                    <a:bodyPr/>
                    <a:lstStyle/>
                    <a:p>
                      <a:pPr indent="0" marL="0">
                        <a:buNone/>
                      </a:pPr>
                      <a:r>
                        <a:rPr lang="en-US" sz="1200" b="1" dirty="0">
                          <a:solidFill>
                            <a:srgbClr val="13223A"/>
                          </a:solidFill>
                        </a:rPr>
                        <a:t>Modules 9–11</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00" dirty="0">
                          <a:solidFill>
                            <a:srgbClr val="1F2937"/>
                          </a:solidFill>
                        </a:rPr>
                        <a:t>Simulator &amp; evaluation harness</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00" dirty="0">
                          <a:solidFill>
                            <a:srgbClr val="5B6675"/>
                          </a:solidFill>
                        </a:rPr>
                        <a:t>6 baselines incl. a faithful KOSMOS reimplementation</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algn="ctr" indent="0" marL="0">
                        <a:buNone/>
                      </a:pPr>
                      <a:r>
                        <a:rPr lang="en-US" sz="1200" b="1" dirty="0">
                          <a:solidFill>
                            <a:srgbClr val="FFFFFF"/>
                          </a:solidFill>
                        </a:rPr>
                        <a:t>Complete</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0F766E"/>
                    </a:solidFill>
                  </a:tcPr>
                </a:tc>
              </a:tr>
              <a:tr h="438912">
                <a:tc>
                  <a:txBody>
                    <a:bodyPr/>
                    <a:lstStyle/>
                    <a:p>
                      <a:pPr indent="0" marL="0">
                        <a:buNone/>
                      </a:pPr>
                      <a:r>
                        <a:rPr lang="en-US" sz="1200" b="1" dirty="0">
                          <a:solidFill>
                            <a:srgbClr val="13223A"/>
                          </a:solidFill>
                        </a:rPr>
                        <a:t>Module 12</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rPr>
                        <a:t>Kubernetes operator</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00" dirty="0">
                          <a:solidFill>
                            <a:srgbClr val="5B6675"/>
                          </a:solidFill>
                        </a:rPr>
                        <a:t>CRD, RBAC, Dockerfile done; Prometheus adapter still mocked</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FFFFFF"/>
                          </a:solidFill>
                        </a:rPr>
                        <a:t>Partial</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C7811A"/>
                    </a:solidFill>
                  </a:tcPr>
                </a:tc>
              </a:tr>
            </a:tbl>
          </a:graphicData>
        </a:graphic>
      </p:graphicFrame>
      <p:sp>
        <p:nvSpPr>
          <p:cNvPr id="17" name="Text 14"/>
          <p:cNvSpPr txBox="1"/>
          <p:nvPr/>
        </p:nvSpPr>
        <p:spPr>
          <a:xfrm>
            <a:off x="548640" y="6419088"/>
            <a:ext cx="8229600" cy="228600"/>
          </a:xfrm>
          <a:prstGeom prst="rect">
            <a:avLst/>
          </a:prstGeom>
          <a:noFill/>
          <a:ln/>
        </p:spPr>
        <p:txBody>
          <a:bodyPr wrap="square" lIns="0" tIns="0" rIns="0" bIns="0" rtlCol="0" anchor="t"/>
          <a:lstStyle/>
          <a:p>
            <a:pPr indent="0" marL="0">
              <a:buNone/>
            </a:pPr>
            <a:r>
              <a:rPr lang="en-US" sz="900" dirty="0">
                <a:solidFill>
                  <a:srgbClr val="8A94A3"/>
                </a:solidFill>
                <a:latin typeface="Calibri" pitchFamily="34" charset="0"/>
                <a:ea typeface="Calibri" pitchFamily="34" charset="-122"/>
                <a:cs typeface="Calibri" pitchFamily="34" charset="-120"/>
              </a:rPr>
              <a:t>VIT Vellore  ·  BCSE303P Operating Systems Laboratory  ·  CHIMERA  ·  Review 2</a:t>
            </a:r>
            <a:endParaRPr lang="en-US" sz="900" dirty="0"/>
          </a:p>
        </p:txBody>
      </p:sp>
      <p:sp>
        <p:nvSpPr>
          <p:cNvPr id="18" name="Text 15"/>
          <p:cNvSpPr txBox="1"/>
          <p:nvPr/>
        </p:nvSpPr>
        <p:spPr>
          <a:xfrm>
            <a:off x="10725912" y="6419088"/>
            <a:ext cx="914400" cy="228600"/>
          </a:xfrm>
          <a:prstGeom prst="rect">
            <a:avLst/>
          </a:prstGeom>
          <a:noFill/>
          <a:ln/>
        </p:spPr>
        <p:txBody>
          <a:bodyPr wrap="square" lIns="0" tIns="0" rIns="0" bIns="0" rtlCol="0" anchor="t"/>
          <a:lstStyle/>
          <a:p>
            <a:pPr algn="r" indent="0" marL="0">
              <a:buNone/>
            </a:pPr>
            <a:r>
              <a:rPr lang="en-US" sz="900" dirty="0">
                <a:solidFill>
                  <a:srgbClr val="8A94A3"/>
                </a:solidFill>
                <a:latin typeface="Calibri" pitchFamily="34" charset="0"/>
                <a:ea typeface="Calibri" pitchFamily="34" charset="-122"/>
                <a:cs typeface="Calibri" pitchFamily="34" charset="-120"/>
              </a:rPr>
              <a:t>9 / 21</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300" kern="0" dirty="0">
                <a:solidFill>
                  <a:srgbClr val="C7811A"/>
                </a:solidFill>
                <a:latin typeface="Calibri" pitchFamily="34" charset="0"/>
                <a:ea typeface="Calibri" pitchFamily="34" charset="-122"/>
                <a:cs typeface="Calibri" pitchFamily="34" charset="-120"/>
              </a:rPr>
              <a:t>RESULTS &amp; ANALYSIS</a:t>
            </a:r>
            <a:endParaRPr lang="en-US" sz="11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rgbClr val="13223A"/>
                </a:solidFill>
                <a:latin typeface="Cambria" pitchFamily="34" charset="0"/>
                <a:ea typeface="Cambria" pitchFamily="34" charset="-122"/>
                <a:cs typeface="Cambria" pitchFamily="34" charset="-120"/>
              </a:rPr>
              <a:t>Cost and quality must be read together</a:t>
            </a:r>
            <a:endParaRPr lang="en-US" sz="3000" dirty="0"/>
          </a:p>
        </p:txBody>
      </p:sp>
      <p:sp>
        <p:nvSpPr>
          <p:cNvPr id="4" name="Shape 2"/>
          <p:cNvSpPr/>
          <p:nvPr/>
        </p:nvSpPr>
        <p:spPr>
          <a:xfrm>
            <a:off x="548640" y="1508760"/>
            <a:ext cx="7680960" cy="4663440"/>
          </a:xfrm>
          <a:prstGeom prst="rect">
            <a:avLst/>
          </a:prstGeom>
          <a:solidFill>
            <a:srgbClr val="FFFFFF"/>
          </a:solidFill>
          <a:ln w="12700">
            <a:solidFill>
              <a:srgbClr val="D9DEE5"/>
            </a:solidFill>
            <a:prstDash val="solid"/>
          </a:ln>
        </p:spPr>
      </p:sp>
      <p:pic>
        <p:nvPicPr>
          <p:cNvPr id="5" name="Image 0" descr="img/image-8-1.png">    </p:cNvPr>
          <p:cNvPicPr>
            <a:picLocks noChangeAspect="1"/>
          </p:cNvPicPr>
          <p:nvPr/>
        </p:nvPicPr>
        <p:blipFill>
          <a:blip r:embed="rId1"/>
          <a:stretch>
            <a:fillRect/>
          </a:stretch>
        </p:blipFill>
        <p:spPr>
          <a:xfrm>
            <a:off x="640080" y="1801850"/>
            <a:ext cx="7498080" cy="4077259"/>
          </a:xfrm>
          <a:prstGeom prst="rect">
            <a:avLst/>
          </a:prstGeom>
        </p:spPr>
      </p:pic>
      <p:sp>
        <p:nvSpPr>
          <p:cNvPr id="6" name="Shape 3"/>
          <p:cNvSpPr/>
          <p:nvPr/>
        </p:nvSpPr>
        <p:spPr>
          <a:xfrm>
            <a:off x="8503920" y="1508760"/>
            <a:ext cx="3136392" cy="4663440"/>
          </a:xfrm>
          <a:prstGeom prst="roundRect">
            <a:avLst>
              <a:gd name="adj" fmla="val 2332"/>
            </a:avLst>
          </a:prstGeom>
          <a:solidFill>
            <a:srgbClr val="F3F5F8"/>
          </a:solidFill>
          <a:ln w="12700">
            <a:solidFill>
              <a:srgbClr val="F3F5F8"/>
            </a:solidFill>
            <a:prstDash val="solid"/>
          </a:ln>
        </p:spPr>
      </p:sp>
      <p:sp>
        <p:nvSpPr>
          <p:cNvPr id="7" name="Text 4"/>
          <p:cNvSpPr txBox="1"/>
          <p:nvPr/>
        </p:nvSpPr>
        <p:spPr>
          <a:xfrm>
            <a:off x="8732520" y="1737360"/>
            <a:ext cx="2743200" cy="548640"/>
          </a:xfrm>
          <a:prstGeom prst="rect">
            <a:avLst/>
          </a:prstGeom>
          <a:noFill/>
          <a:ln/>
        </p:spPr>
        <p:txBody>
          <a:bodyPr wrap="square" lIns="0" tIns="0" rIns="0" bIns="0" rtlCol="0" anchor="t"/>
          <a:lstStyle/>
          <a:p>
            <a:pPr indent="0" marL="0">
              <a:buNone/>
            </a:pPr>
            <a:r>
              <a:rPr lang="en-US" sz="3000" b="1" dirty="0">
                <a:solidFill>
                  <a:srgbClr val="0F766E"/>
                </a:solidFill>
                <a:latin typeface="Cambria" pitchFamily="34" charset="0"/>
                <a:ea typeface="Cambria" pitchFamily="34" charset="-122"/>
                <a:cs typeface="Cambria" pitchFamily="34" charset="-120"/>
              </a:rPr>
              <a:t>9.7 %</a:t>
            </a:r>
            <a:endParaRPr lang="en-US" sz="3000" dirty="0"/>
          </a:p>
        </p:txBody>
      </p:sp>
      <p:sp>
        <p:nvSpPr>
          <p:cNvPr id="8" name="Text 5"/>
          <p:cNvSpPr txBox="1"/>
          <p:nvPr/>
        </p:nvSpPr>
        <p:spPr>
          <a:xfrm>
            <a:off x="8732520" y="2267712"/>
            <a:ext cx="2743200" cy="320040"/>
          </a:xfrm>
          <a:prstGeom prst="rect">
            <a:avLst/>
          </a:prstGeom>
          <a:noFill/>
          <a:ln/>
        </p:spPr>
        <p:txBody>
          <a:bodyPr wrap="square" lIns="0" tIns="0" rIns="0" bIns="0" rtlCol="0" anchor="t"/>
          <a:lstStyle/>
          <a:p>
            <a:pPr indent="0" marL="0">
              <a:buNone/>
            </a:pPr>
            <a:r>
              <a:rPr lang="en-US" sz="1100" dirty="0">
                <a:solidFill>
                  <a:srgbClr val="5B6675"/>
                </a:solidFill>
                <a:latin typeface="Calibri" pitchFamily="34" charset="0"/>
                <a:ea typeface="Calibri" pitchFamily="34" charset="-122"/>
                <a:cs typeface="Calibri" pitchFamily="34" charset="-120"/>
              </a:rPr>
              <a:t>SLO violations (5 real traces)</a:t>
            </a:r>
            <a:endParaRPr lang="en-US" sz="1100" dirty="0"/>
          </a:p>
        </p:txBody>
      </p:sp>
      <p:sp>
        <p:nvSpPr>
          <p:cNvPr id="9" name="Text 6"/>
          <p:cNvSpPr txBox="1"/>
          <p:nvPr/>
        </p:nvSpPr>
        <p:spPr>
          <a:xfrm>
            <a:off x="8732520" y="2697480"/>
            <a:ext cx="2743200" cy="548640"/>
          </a:xfrm>
          <a:prstGeom prst="rect">
            <a:avLst/>
          </a:prstGeom>
          <a:noFill/>
          <a:ln/>
        </p:spPr>
        <p:txBody>
          <a:bodyPr wrap="square" lIns="0" tIns="0" rIns="0" bIns="0" rtlCol="0" anchor="t"/>
          <a:lstStyle/>
          <a:p>
            <a:pPr indent="0" marL="0">
              <a:buNone/>
            </a:pPr>
            <a:r>
              <a:rPr lang="en-US" sz="3000" b="1" dirty="0">
                <a:solidFill>
                  <a:srgbClr val="13223A"/>
                </a:solidFill>
                <a:latin typeface="Cambria" pitchFamily="34" charset="0"/>
                <a:ea typeface="Cambria" pitchFamily="34" charset="-122"/>
                <a:cs typeface="Cambria" pitchFamily="34" charset="-120"/>
              </a:rPr>
              <a:t>147</a:t>
            </a:r>
            <a:endParaRPr lang="en-US" sz="3000" dirty="0"/>
          </a:p>
        </p:txBody>
      </p:sp>
      <p:sp>
        <p:nvSpPr>
          <p:cNvPr id="10" name="Text 7"/>
          <p:cNvSpPr txBox="1"/>
          <p:nvPr/>
        </p:nvSpPr>
        <p:spPr>
          <a:xfrm>
            <a:off x="8732520" y="3227832"/>
            <a:ext cx="2743200" cy="320040"/>
          </a:xfrm>
          <a:prstGeom prst="rect">
            <a:avLst/>
          </a:prstGeom>
          <a:noFill/>
          <a:ln/>
        </p:spPr>
        <p:txBody>
          <a:bodyPr wrap="square" lIns="0" tIns="0" rIns="0" bIns="0" rtlCol="0" anchor="t"/>
          <a:lstStyle/>
          <a:p>
            <a:pPr indent="0" marL="0">
              <a:buNone/>
            </a:pPr>
            <a:r>
              <a:rPr lang="en-US" sz="1100" dirty="0">
                <a:solidFill>
                  <a:srgbClr val="5B6675"/>
                </a:solidFill>
                <a:latin typeface="Calibri" pitchFamily="34" charset="0"/>
                <a:ea typeface="Calibri" pitchFamily="34" charset="-122"/>
                <a:cs typeface="Calibri" pitchFamily="34" charset="-120"/>
              </a:rPr>
              <a:t>pod-minutes per run</a:t>
            </a:r>
            <a:endParaRPr lang="en-US" sz="1100" dirty="0"/>
          </a:p>
        </p:txBody>
      </p:sp>
      <p:sp>
        <p:nvSpPr>
          <p:cNvPr id="11" name="Text 8"/>
          <p:cNvSpPr txBox="1"/>
          <p:nvPr/>
        </p:nvSpPr>
        <p:spPr>
          <a:xfrm>
            <a:off x="8732520" y="3749040"/>
            <a:ext cx="2743200" cy="274320"/>
          </a:xfrm>
          <a:prstGeom prst="rect">
            <a:avLst/>
          </a:prstGeom>
          <a:noFill/>
          <a:ln/>
        </p:spPr>
        <p:txBody>
          <a:bodyPr wrap="square" lIns="0" tIns="0" rIns="0" bIns="0" rtlCol="0" anchor="t"/>
          <a:lstStyle/>
          <a:p>
            <a:pPr indent="0" marL="0">
              <a:buNone/>
            </a:pPr>
            <a:r>
              <a:rPr lang="en-US" sz="1000" b="1" spc="200" kern="0" dirty="0">
                <a:solidFill>
                  <a:srgbClr val="C7811A"/>
                </a:solidFill>
                <a:latin typeface="Calibri" pitchFamily="34" charset="0"/>
                <a:ea typeface="Calibri" pitchFamily="34" charset="-122"/>
                <a:cs typeface="Calibri" pitchFamily="34" charset="-120"/>
              </a:rPr>
              <a:t>READING THE RESULT</a:t>
            </a:r>
            <a:endParaRPr lang="en-US" sz="1000" dirty="0"/>
          </a:p>
        </p:txBody>
      </p:sp>
      <p:sp>
        <p:nvSpPr>
          <p:cNvPr id="12" name="Text 9"/>
          <p:cNvSpPr txBox="1"/>
          <p:nvPr/>
        </p:nvSpPr>
        <p:spPr>
          <a:xfrm>
            <a:off x="8732520" y="4069080"/>
            <a:ext cx="2743200" cy="196596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AAPA is slightly better on SLO but spends 85 % more resource; KOSMOS is cheaper but 39 % worse on SLO. No controller dominates — CHIMERA sits on the efficient frontier.</a:t>
            </a:r>
            <a:endParaRPr lang="en-US" sz="1200" dirty="0"/>
          </a:p>
        </p:txBody>
      </p:sp>
      <p:sp>
        <p:nvSpPr>
          <p:cNvPr id="13" name="Text 10"/>
          <p:cNvSpPr txBox="1"/>
          <p:nvPr/>
        </p:nvSpPr>
        <p:spPr>
          <a:xfrm>
            <a:off x="548640" y="6419088"/>
            <a:ext cx="8229600" cy="228600"/>
          </a:xfrm>
          <a:prstGeom prst="rect">
            <a:avLst/>
          </a:prstGeom>
          <a:noFill/>
          <a:ln/>
        </p:spPr>
        <p:txBody>
          <a:bodyPr wrap="square" lIns="0" tIns="0" rIns="0" bIns="0" rtlCol="0" anchor="t"/>
          <a:lstStyle/>
          <a:p>
            <a:pPr indent="0" marL="0">
              <a:buNone/>
            </a:pPr>
            <a:r>
              <a:rPr lang="en-US" sz="900" dirty="0">
                <a:solidFill>
                  <a:srgbClr val="8A94A3"/>
                </a:solidFill>
                <a:latin typeface="Calibri" pitchFamily="34" charset="0"/>
                <a:ea typeface="Calibri" pitchFamily="34" charset="-122"/>
                <a:cs typeface="Calibri" pitchFamily="34" charset="-120"/>
              </a:rPr>
              <a:t>VIT Vellore  ·  BCSE303P Operating Systems Laboratory  ·  CHIMERA  ·  Review 2</a:t>
            </a:r>
            <a:endParaRPr lang="en-US" sz="900" dirty="0"/>
          </a:p>
        </p:txBody>
      </p:sp>
      <p:sp>
        <p:nvSpPr>
          <p:cNvPr id="14" name="Text 11"/>
          <p:cNvSpPr txBox="1"/>
          <p:nvPr/>
        </p:nvSpPr>
        <p:spPr>
          <a:xfrm>
            <a:off x="10725912" y="6419088"/>
            <a:ext cx="914400" cy="228600"/>
          </a:xfrm>
          <a:prstGeom prst="rect">
            <a:avLst/>
          </a:prstGeom>
          <a:noFill/>
          <a:ln/>
        </p:spPr>
        <p:txBody>
          <a:bodyPr wrap="square" lIns="0" tIns="0" rIns="0" bIns="0" rtlCol="0" anchor="t"/>
          <a:lstStyle/>
          <a:p>
            <a:pPr algn="r" indent="0" marL="0">
              <a:buNone/>
            </a:pPr>
            <a:r>
              <a:rPr lang="en-US" sz="900" dirty="0">
                <a:solidFill>
                  <a:srgbClr val="8A94A3"/>
                </a:solidFill>
                <a:latin typeface="Calibri" pitchFamily="34" charset="0"/>
                <a:ea typeface="Calibri" pitchFamily="34" charset="-122"/>
                <a:cs typeface="Calibri" pitchFamily="34" charset="-120"/>
              </a:rPr>
              <a:t>10 / 21</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300" kern="0" dirty="0">
                <a:solidFill>
                  <a:srgbClr val="C7811A"/>
                </a:solidFill>
                <a:latin typeface="Calibri" pitchFamily="34" charset="0"/>
                <a:ea typeface="Calibri" pitchFamily="34" charset="-122"/>
                <a:cs typeface="Calibri" pitchFamily="34" charset="-120"/>
              </a:rPr>
              <a:t>RESULTS &amp; ANALYSIS</a:t>
            </a:r>
            <a:endParaRPr lang="en-US" sz="11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rgbClr val="13223A"/>
                </a:solidFill>
                <a:latin typeface="Cambria" pitchFamily="34" charset="0"/>
                <a:ea typeface="Cambria" pitchFamily="34" charset="-122"/>
                <a:cs typeface="Cambria" pitchFamily="34" charset="-120"/>
              </a:rPr>
              <a:t>Where the coordinated controller wins decisively</a:t>
            </a:r>
            <a:endParaRPr lang="en-US" sz="3000" dirty="0"/>
          </a:p>
        </p:txBody>
      </p:sp>
      <p:sp>
        <p:nvSpPr>
          <p:cNvPr id="4" name="Shape 2"/>
          <p:cNvSpPr/>
          <p:nvPr/>
        </p:nvSpPr>
        <p:spPr>
          <a:xfrm>
            <a:off x="548640" y="1508760"/>
            <a:ext cx="7680960" cy="4663440"/>
          </a:xfrm>
          <a:prstGeom prst="rect">
            <a:avLst/>
          </a:prstGeom>
          <a:solidFill>
            <a:srgbClr val="FFFFFF"/>
          </a:solidFill>
          <a:ln w="12700">
            <a:solidFill>
              <a:srgbClr val="D9DEE5"/>
            </a:solidFill>
            <a:prstDash val="solid"/>
          </a:ln>
        </p:spPr>
      </p:sp>
      <p:pic>
        <p:nvPicPr>
          <p:cNvPr id="5" name="Image 0" descr="img/image-9-1.png">    </p:cNvPr>
          <p:cNvPicPr>
            <a:picLocks noChangeAspect="1"/>
          </p:cNvPicPr>
          <p:nvPr/>
        </p:nvPicPr>
        <p:blipFill>
          <a:blip r:embed="rId1"/>
          <a:stretch>
            <a:fillRect/>
          </a:stretch>
        </p:blipFill>
        <p:spPr>
          <a:xfrm>
            <a:off x="640080" y="2087258"/>
            <a:ext cx="7498080" cy="3506443"/>
          </a:xfrm>
          <a:prstGeom prst="rect">
            <a:avLst/>
          </a:prstGeom>
        </p:spPr>
      </p:pic>
      <p:sp>
        <p:nvSpPr>
          <p:cNvPr id="6" name="Shape 3"/>
          <p:cNvSpPr/>
          <p:nvPr/>
        </p:nvSpPr>
        <p:spPr>
          <a:xfrm>
            <a:off x="8503920" y="1508760"/>
            <a:ext cx="3136392" cy="4663440"/>
          </a:xfrm>
          <a:prstGeom prst="roundRect">
            <a:avLst>
              <a:gd name="adj" fmla="val 2332"/>
            </a:avLst>
          </a:prstGeom>
          <a:solidFill>
            <a:srgbClr val="F3F5F8"/>
          </a:solidFill>
          <a:ln w="12700">
            <a:solidFill>
              <a:srgbClr val="F3F5F8"/>
            </a:solidFill>
            <a:prstDash val="solid"/>
          </a:ln>
        </p:spPr>
      </p:sp>
      <p:sp>
        <p:nvSpPr>
          <p:cNvPr id="7" name="Text 4"/>
          <p:cNvSpPr txBox="1"/>
          <p:nvPr/>
        </p:nvSpPr>
        <p:spPr>
          <a:xfrm>
            <a:off x="8732520" y="1737360"/>
            <a:ext cx="2743200" cy="548640"/>
          </a:xfrm>
          <a:prstGeom prst="rect">
            <a:avLst/>
          </a:prstGeom>
          <a:noFill/>
          <a:ln/>
        </p:spPr>
        <p:txBody>
          <a:bodyPr wrap="square" lIns="0" tIns="0" rIns="0" bIns="0" rtlCol="0" anchor="t"/>
          <a:lstStyle/>
          <a:p>
            <a:pPr indent="0" marL="0">
              <a:buNone/>
            </a:pPr>
            <a:r>
              <a:rPr lang="en-US" sz="3000" b="1" dirty="0">
                <a:solidFill>
                  <a:srgbClr val="0F766E"/>
                </a:solidFill>
                <a:latin typeface="Cambria" pitchFamily="34" charset="0"/>
                <a:ea typeface="Cambria" pitchFamily="34" charset="-122"/>
                <a:cs typeface="Cambria" pitchFamily="34" charset="-120"/>
              </a:rPr>
              <a:t>6×</a:t>
            </a:r>
            <a:endParaRPr lang="en-US" sz="3000" dirty="0"/>
          </a:p>
        </p:txBody>
      </p:sp>
      <p:sp>
        <p:nvSpPr>
          <p:cNvPr id="8" name="Text 5"/>
          <p:cNvSpPr txBox="1"/>
          <p:nvPr/>
        </p:nvSpPr>
        <p:spPr>
          <a:xfrm>
            <a:off x="8732520" y="2267712"/>
            <a:ext cx="2743200" cy="320040"/>
          </a:xfrm>
          <a:prstGeom prst="rect">
            <a:avLst/>
          </a:prstGeom>
          <a:noFill/>
          <a:ln/>
        </p:spPr>
        <p:txBody>
          <a:bodyPr wrap="square" lIns="0" tIns="0" rIns="0" bIns="0" rtlCol="0" anchor="t"/>
          <a:lstStyle/>
          <a:p>
            <a:pPr indent="0" marL="0">
              <a:buNone/>
            </a:pPr>
            <a:r>
              <a:rPr lang="en-US" sz="1100" dirty="0">
                <a:solidFill>
                  <a:srgbClr val="5B6675"/>
                </a:solidFill>
                <a:latin typeface="Calibri" pitchFamily="34" charset="0"/>
                <a:ea typeface="Calibri" pitchFamily="34" charset="-122"/>
                <a:cs typeface="Calibri" pitchFamily="34" charset="-120"/>
              </a:rPr>
              <a:t>better p99 than KOSMOS (3.6 s vs 21.6 s)</a:t>
            </a:r>
            <a:endParaRPr lang="en-US" sz="1100" dirty="0"/>
          </a:p>
        </p:txBody>
      </p:sp>
      <p:sp>
        <p:nvSpPr>
          <p:cNvPr id="9" name="Text 6"/>
          <p:cNvSpPr txBox="1"/>
          <p:nvPr/>
        </p:nvSpPr>
        <p:spPr>
          <a:xfrm>
            <a:off x="8732520" y="2697480"/>
            <a:ext cx="2743200" cy="548640"/>
          </a:xfrm>
          <a:prstGeom prst="rect">
            <a:avLst/>
          </a:prstGeom>
          <a:noFill/>
          <a:ln/>
        </p:spPr>
        <p:txBody>
          <a:bodyPr wrap="square" lIns="0" tIns="0" rIns="0" bIns="0" rtlCol="0" anchor="t"/>
          <a:lstStyle/>
          <a:p>
            <a:pPr indent="0" marL="0">
              <a:buNone/>
            </a:pPr>
            <a:r>
              <a:rPr lang="en-US" sz="3000" b="1" dirty="0">
                <a:solidFill>
                  <a:srgbClr val="0F766E"/>
                </a:solidFill>
                <a:latin typeface="Cambria" pitchFamily="34" charset="0"/>
                <a:ea typeface="Cambria" pitchFamily="34" charset="-122"/>
                <a:cs typeface="Cambria" pitchFamily="34" charset="-120"/>
              </a:rPr>
              <a:t>20×</a:t>
            </a:r>
            <a:endParaRPr lang="en-US" sz="3000" dirty="0"/>
          </a:p>
        </p:txBody>
      </p:sp>
      <p:sp>
        <p:nvSpPr>
          <p:cNvPr id="10" name="Text 7"/>
          <p:cNvSpPr txBox="1"/>
          <p:nvPr/>
        </p:nvSpPr>
        <p:spPr>
          <a:xfrm>
            <a:off x="8732520" y="3227832"/>
            <a:ext cx="2743200" cy="320040"/>
          </a:xfrm>
          <a:prstGeom prst="rect">
            <a:avLst/>
          </a:prstGeom>
          <a:noFill/>
          <a:ln/>
        </p:spPr>
        <p:txBody>
          <a:bodyPr wrap="square" lIns="0" tIns="0" rIns="0" bIns="0" rtlCol="0" anchor="t"/>
          <a:lstStyle/>
          <a:p>
            <a:pPr indent="0" marL="0">
              <a:buNone/>
            </a:pPr>
            <a:r>
              <a:rPr lang="en-US" sz="1100" dirty="0">
                <a:solidFill>
                  <a:srgbClr val="5B6675"/>
                </a:solidFill>
                <a:latin typeface="Calibri" pitchFamily="34" charset="0"/>
                <a:ea typeface="Calibri" pitchFamily="34" charset="-122"/>
                <a:cs typeface="Calibri" pitchFamily="34" charset="-120"/>
              </a:rPr>
              <a:t>fewer scaling actions (13 vs 261)</a:t>
            </a:r>
            <a:endParaRPr lang="en-US" sz="1100" dirty="0"/>
          </a:p>
        </p:txBody>
      </p:sp>
      <p:sp>
        <p:nvSpPr>
          <p:cNvPr id="11" name="Text 8"/>
          <p:cNvSpPr txBox="1"/>
          <p:nvPr/>
        </p:nvSpPr>
        <p:spPr>
          <a:xfrm>
            <a:off x="8732520" y="3749040"/>
            <a:ext cx="2743200" cy="274320"/>
          </a:xfrm>
          <a:prstGeom prst="rect">
            <a:avLst/>
          </a:prstGeom>
          <a:noFill/>
          <a:ln/>
        </p:spPr>
        <p:txBody>
          <a:bodyPr wrap="square" lIns="0" tIns="0" rIns="0" bIns="0" rtlCol="0" anchor="t"/>
          <a:lstStyle/>
          <a:p>
            <a:pPr indent="0" marL="0">
              <a:buNone/>
            </a:pPr>
            <a:r>
              <a:rPr lang="en-US" sz="1000" b="1" spc="200" kern="0" dirty="0">
                <a:solidFill>
                  <a:srgbClr val="C7811A"/>
                </a:solidFill>
                <a:latin typeface="Calibri" pitchFamily="34" charset="0"/>
                <a:ea typeface="Calibri" pitchFamily="34" charset="-122"/>
                <a:cs typeface="Calibri" pitchFamily="34" charset="-120"/>
              </a:rPr>
              <a:t>READING THE RESULT</a:t>
            </a:r>
            <a:endParaRPr lang="en-US" sz="1000" dirty="0"/>
          </a:p>
        </p:txBody>
      </p:sp>
      <p:sp>
        <p:nvSpPr>
          <p:cNvPr id="12" name="Text 9"/>
          <p:cNvSpPr txBox="1"/>
          <p:nvPr/>
        </p:nvSpPr>
        <p:spPr>
          <a:xfrm>
            <a:off x="8732520" y="4069080"/>
            <a:ext cx="2743200" cy="196596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Tail latency and actuation churn are where coordination pays. In a live cluster, that ratio separates a stable deployment from one thrashing its resource limits.</a:t>
            </a:r>
            <a:endParaRPr lang="en-US" sz="1200" dirty="0"/>
          </a:p>
        </p:txBody>
      </p:sp>
      <p:sp>
        <p:nvSpPr>
          <p:cNvPr id="13" name="Text 10"/>
          <p:cNvSpPr txBox="1"/>
          <p:nvPr/>
        </p:nvSpPr>
        <p:spPr>
          <a:xfrm>
            <a:off x="548640" y="6419088"/>
            <a:ext cx="8229600" cy="228600"/>
          </a:xfrm>
          <a:prstGeom prst="rect">
            <a:avLst/>
          </a:prstGeom>
          <a:noFill/>
          <a:ln/>
        </p:spPr>
        <p:txBody>
          <a:bodyPr wrap="square" lIns="0" tIns="0" rIns="0" bIns="0" rtlCol="0" anchor="t"/>
          <a:lstStyle/>
          <a:p>
            <a:pPr indent="0" marL="0">
              <a:buNone/>
            </a:pPr>
            <a:r>
              <a:rPr lang="en-US" sz="900" dirty="0">
                <a:solidFill>
                  <a:srgbClr val="8A94A3"/>
                </a:solidFill>
                <a:latin typeface="Calibri" pitchFamily="34" charset="0"/>
                <a:ea typeface="Calibri" pitchFamily="34" charset="-122"/>
                <a:cs typeface="Calibri" pitchFamily="34" charset="-120"/>
              </a:rPr>
              <a:t>VIT Vellore  ·  BCSE303P Operating Systems Laboratory  ·  CHIMERA  ·  Review 2</a:t>
            </a:r>
            <a:endParaRPr lang="en-US" sz="900" dirty="0"/>
          </a:p>
        </p:txBody>
      </p:sp>
      <p:sp>
        <p:nvSpPr>
          <p:cNvPr id="14" name="Text 11"/>
          <p:cNvSpPr txBox="1"/>
          <p:nvPr/>
        </p:nvSpPr>
        <p:spPr>
          <a:xfrm>
            <a:off x="10725912" y="6419088"/>
            <a:ext cx="914400" cy="228600"/>
          </a:xfrm>
          <a:prstGeom prst="rect">
            <a:avLst/>
          </a:prstGeom>
          <a:noFill/>
          <a:ln/>
        </p:spPr>
        <p:txBody>
          <a:bodyPr wrap="square" lIns="0" tIns="0" rIns="0" bIns="0" rtlCol="0" anchor="t"/>
          <a:lstStyle/>
          <a:p>
            <a:pPr algn="r" indent="0" marL="0">
              <a:buNone/>
            </a:pPr>
            <a:r>
              <a:rPr lang="en-US" sz="900" dirty="0">
                <a:solidFill>
                  <a:srgbClr val="8A94A3"/>
                </a:solidFill>
                <a:latin typeface="Calibri" pitchFamily="34" charset="0"/>
                <a:ea typeface="Calibri" pitchFamily="34" charset="-122"/>
                <a:cs typeface="Calibri" pitchFamily="34" charset="-120"/>
              </a:rPr>
              <a:t>11 / 21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300" kern="0" dirty="0">
                <a:solidFill>
                  <a:srgbClr val="C7811A"/>
                </a:solidFill>
                <a:latin typeface="Calibri" pitchFamily="34" charset="0"/>
                <a:ea typeface="Calibri" pitchFamily="34" charset="-122"/>
                <a:cs typeface="Calibri" pitchFamily="34" charset="-120"/>
              </a:rPr>
              <a:t>RESULTS &amp; ANALYSIS</a:t>
            </a:r>
            <a:endParaRPr lang="en-US" sz="11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rgbClr val="13223A"/>
                </a:solidFill>
                <a:latin typeface="Cambria" pitchFamily="34" charset="0"/>
                <a:ea typeface="Cambria" pitchFamily="34" charset="-122"/>
                <a:cs typeface="Cambria" pitchFamily="34" charset="-120"/>
              </a:rPr>
              <a:t>Ablation: which modules earn their place</a:t>
            </a:r>
            <a:endParaRPr lang="en-US" sz="3000" dirty="0"/>
          </a:p>
        </p:txBody>
      </p:sp>
      <p:sp>
        <p:nvSpPr>
          <p:cNvPr id="4" name="Shape 2"/>
          <p:cNvSpPr/>
          <p:nvPr/>
        </p:nvSpPr>
        <p:spPr>
          <a:xfrm>
            <a:off x="548640" y="1508760"/>
            <a:ext cx="7680960" cy="4663440"/>
          </a:xfrm>
          <a:prstGeom prst="rect">
            <a:avLst/>
          </a:prstGeom>
          <a:solidFill>
            <a:srgbClr val="FFFFFF"/>
          </a:solidFill>
          <a:ln w="12700">
            <a:solidFill>
              <a:srgbClr val="D9DEE5"/>
            </a:solidFill>
            <a:prstDash val="solid"/>
          </a:ln>
        </p:spPr>
      </p:sp>
      <p:pic>
        <p:nvPicPr>
          <p:cNvPr id="5" name="Image 0" descr="img/image-10-1.png">    </p:cNvPr>
          <p:cNvPicPr>
            <a:picLocks noChangeAspect="1"/>
          </p:cNvPicPr>
          <p:nvPr/>
        </p:nvPicPr>
        <p:blipFill>
          <a:blip r:embed="rId1"/>
          <a:stretch>
            <a:fillRect/>
          </a:stretch>
        </p:blipFill>
        <p:spPr>
          <a:xfrm>
            <a:off x="640080" y="1966979"/>
            <a:ext cx="7498080" cy="3747001"/>
          </a:xfrm>
          <a:prstGeom prst="rect">
            <a:avLst/>
          </a:prstGeom>
        </p:spPr>
      </p:pic>
      <p:sp>
        <p:nvSpPr>
          <p:cNvPr id="6" name="Shape 3"/>
          <p:cNvSpPr/>
          <p:nvPr/>
        </p:nvSpPr>
        <p:spPr>
          <a:xfrm>
            <a:off x="8503920" y="1508760"/>
            <a:ext cx="3136392" cy="4663440"/>
          </a:xfrm>
          <a:prstGeom prst="roundRect">
            <a:avLst>
              <a:gd name="adj" fmla="val 2332"/>
            </a:avLst>
          </a:prstGeom>
          <a:solidFill>
            <a:srgbClr val="F3F5F8"/>
          </a:solidFill>
          <a:ln w="12700">
            <a:solidFill>
              <a:srgbClr val="F3F5F8"/>
            </a:solidFill>
            <a:prstDash val="solid"/>
          </a:ln>
        </p:spPr>
      </p:sp>
      <p:sp>
        <p:nvSpPr>
          <p:cNvPr id="7" name="Text 4"/>
          <p:cNvSpPr txBox="1"/>
          <p:nvPr/>
        </p:nvSpPr>
        <p:spPr>
          <a:xfrm>
            <a:off x="8732520" y="1737360"/>
            <a:ext cx="2743200" cy="548640"/>
          </a:xfrm>
          <a:prstGeom prst="rect">
            <a:avLst/>
          </a:prstGeom>
          <a:noFill/>
          <a:ln/>
        </p:spPr>
        <p:txBody>
          <a:bodyPr wrap="square" lIns="0" tIns="0" rIns="0" bIns="0" rtlCol="0" anchor="t"/>
          <a:lstStyle/>
          <a:p>
            <a:pPr indent="0" marL="0">
              <a:buNone/>
            </a:pPr>
            <a:r>
              <a:rPr lang="en-US" sz="3000" b="1" dirty="0">
                <a:solidFill>
                  <a:srgbClr val="B42318"/>
                </a:solidFill>
                <a:latin typeface="Cambria" pitchFamily="34" charset="0"/>
                <a:ea typeface="Cambria" pitchFamily="34" charset="-122"/>
                <a:cs typeface="Cambria" pitchFamily="34" charset="-120"/>
              </a:rPr>
              <a:t>+10.9 pp</a:t>
            </a:r>
            <a:endParaRPr lang="en-US" sz="3000" dirty="0"/>
          </a:p>
        </p:txBody>
      </p:sp>
      <p:sp>
        <p:nvSpPr>
          <p:cNvPr id="8" name="Text 5"/>
          <p:cNvSpPr txBox="1"/>
          <p:nvPr/>
        </p:nvSpPr>
        <p:spPr>
          <a:xfrm>
            <a:off x="8732520" y="2267712"/>
            <a:ext cx="2743200" cy="320040"/>
          </a:xfrm>
          <a:prstGeom prst="rect">
            <a:avLst/>
          </a:prstGeom>
          <a:noFill/>
          <a:ln/>
        </p:spPr>
        <p:txBody>
          <a:bodyPr wrap="square" lIns="0" tIns="0" rIns="0" bIns="0" rtlCol="0" anchor="t"/>
          <a:lstStyle/>
          <a:p>
            <a:pPr indent="0" marL="0">
              <a:buNone/>
            </a:pPr>
            <a:r>
              <a:rPr lang="en-US" sz="1100" dirty="0">
                <a:solidFill>
                  <a:srgbClr val="5B6675"/>
                </a:solidFill>
                <a:latin typeface="Calibri" pitchFamily="34" charset="0"/>
                <a:ea typeface="Calibri" pitchFamily="34" charset="-122"/>
                <a:cs typeface="Calibri" pitchFamily="34" charset="-120"/>
              </a:rPr>
              <a:t>SLO cost of removing delay augmentation</a:t>
            </a:r>
            <a:endParaRPr lang="en-US" sz="1100" dirty="0"/>
          </a:p>
        </p:txBody>
      </p:sp>
      <p:sp>
        <p:nvSpPr>
          <p:cNvPr id="9" name="Text 6"/>
          <p:cNvSpPr txBox="1"/>
          <p:nvPr/>
        </p:nvSpPr>
        <p:spPr>
          <a:xfrm>
            <a:off x="8732520" y="2697480"/>
            <a:ext cx="2743200" cy="548640"/>
          </a:xfrm>
          <a:prstGeom prst="rect">
            <a:avLst/>
          </a:prstGeom>
          <a:noFill/>
          <a:ln/>
        </p:spPr>
        <p:txBody>
          <a:bodyPr wrap="square" lIns="0" tIns="0" rIns="0" bIns="0" rtlCol="0" anchor="t"/>
          <a:lstStyle/>
          <a:p>
            <a:pPr indent="0" marL="0">
              <a:buNone/>
            </a:pPr>
            <a:r>
              <a:rPr lang="en-US" sz="3000" b="1" dirty="0">
                <a:solidFill>
                  <a:srgbClr val="C7811A"/>
                </a:solidFill>
                <a:latin typeface="Cambria" pitchFamily="34" charset="0"/>
                <a:ea typeface="Cambria" pitchFamily="34" charset="-122"/>
                <a:cs typeface="Cambria" pitchFamily="34" charset="-120"/>
              </a:rPr>
              <a:t>+3.4 pp</a:t>
            </a:r>
            <a:endParaRPr lang="en-US" sz="3000" dirty="0"/>
          </a:p>
        </p:txBody>
      </p:sp>
      <p:sp>
        <p:nvSpPr>
          <p:cNvPr id="10" name="Text 7"/>
          <p:cNvSpPr txBox="1"/>
          <p:nvPr/>
        </p:nvSpPr>
        <p:spPr>
          <a:xfrm>
            <a:off x="8732520" y="3227832"/>
            <a:ext cx="2743200" cy="320040"/>
          </a:xfrm>
          <a:prstGeom prst="rect">
            <a:avLst/>
          </a:prstGeom>
          <a:noFill/>
          <a:ln/>
        </p:spPr>
        <p:txBody>
          <a:bodyPr wrap="square" lIns="0" tIns="0" rIns="0" bIns="0" rtlCol="0" anchor="t"/>
          <a:lstStyle/>
          <a:p>
            <a:pPr indent="0" marL="0">
              <a:buNone/>
            </a:pPr>
            <a:r>
              <a:rPr lang="en-US" sz="1100" dirty="0">
                <a:solidFill>
                  <a:srgbClr val="5B6675"/>
                </a:solidFill>
                <a:latin typeface="Calibri" pitchFamily="34" charset="0"/>
                <a:ea typeface="Calibri" pitchFamily="34" charset="-122"/>
                <a:cs typeface="Calibri" pitchFamily="34" charset="-120"/>
              </a:rPr>
              <a:t>cost of removing CQR uncertainty</a:t>
            </a:r>
            <a:endParaRPr lang="en-US" sz="1100" dirty="0"/>
          </a:p>
        </p:txBody>
      </p:sp>
      <p:sp>
        <p:nvSpPr>
          <p:cNvPr id="11" name="Text 8"/>
          <p:cNvSpPr txBox="1"/>
          <p:nvPr/>
        </p:nvSpPr>
        <p:spPr>
          <a:xfrm>
            <a:off x="8732520" y="3749040"/>
            <a:ext cx="2743200" cy="274320"/>
          </a:xfrm>
          <a:prstGeom prst="rect">
            <a:avLst/>
          </a:prstGeom>
          <a:noFill/>
          <a:ln/>
        </p:spPr>
        <p:txBody>
          <a:bodyPr wrap="square" lIns="0" tIns="0" rIns="0" bIns="0" rtlCol="0" anchor="t"/>
          <a:lstStyle/>
          <a:p>
            <a:pPr indent="0" marL="0">
              <a:buNone/>
            </a:pPr>
            <a:r>
              <a:rPr lang="en-US" sz="1000" b="1" spc="200" kern="0" dirty="0">
                <a:solidFill>
                  <a:srgbClr val="C7811A"/>
                </a:solidFill>
                <a:latin typeface="Calibri" pitchFamily="34" charset="0"/>
                <a:ea typeface="Calibri" pitchFamily="34" charset="-122"/>
                <a:cs typeface="Calibri" pitchFamily="34" charset="-120"/>
              </a:rPr>
              <a:t>READING THE RESULT</a:t>
            </a:r>
            <a:endParaRPr lang="en-US" sz="1000" dirty="0"/>
          </a:p>
        </p:txBody>
      </p:sp>
      <p:sp>
        <p:nvSpPr>
          <p:cNvPr id="12" name="Text 9"/>
          <p:cNvSpPr txBox="1"/>
          <p:nvPr/>
        </p:nvSpPr>
        <p:spPr>
          <a:xfrm>
            <a:off x="8732520" y="4069080"/>
            <a:ext cx="2743200" cy="196596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Delay-state augmentation is the single largest contribution. Two components do not yet pay for themselves: the Lyapunov filter shows no measurable effect and the coupling penalty costs 2.1 points.</a:t>
            </a:r>
            <a:endParaRPr lang="en-US" sz="1200" dirty="0"/>
          </a:p>
        </p:txBody>
      </p:sp>
      <p:sp>
        <p:nvSpPr>
          <p:cNvPr id="13" name="Text 10"/>
          <p:cNvSpPr txBox="1"/>
          <p:nvPr/>
        </p:nvSpPr>
        <p:spPr>
          <a:xfrm>
            <a:off x="548640" y="6419088"/>
            <a:ext cx="8229600" cy="228600"/>
          </a:xfrm>
          <a:prstGeom prst="rect">
            <a:avLst/>
          </a:prstGeom>
          <a:noFill/>
          <a:ln/>
        </p:spPr>
        <p:txBody>
          <a:bodyPr wrap="square" lIns="0" tIns="0" rIns="0" bIns="0" rtlCol="0" anchor="t"/>
          <a:lstStyle/>
          <a:p>
            <a:pPr indent="0" marL="0">
              <a:buNone/>
            </a:pPr>
            <a:r>
              <a:rPr lang="en-US" sz="900" dirty="0">
                <a:solidFill>
                  <a:srgbClr val="8A94A3"/>
                </a:solidFill>
                <a:latin typeface="Calibri" pitchFamily="34" charset="0"/>
                <a:ea typeface="Calibri" pitchFamily="34" charset="-122"/>
                <a:cs typeface="Calibri" pitchFamily="34" charset="-120"/>
              </a:rPr>
              <a:t>VIT Vellore  ·  BCSE303P Operating Systems Laboratory  ·  CHIMERA  ·  Review 2</a:t>
            </a:r>
            <a:endParaRPr lang="en-US" sz="900" dirty="0"/>
          </a:p>
        </p:txBody>
      </p:sp>
      <p:sp>
        <p:nvSpPr>
          <p:cNvPr id="14" name="Text 11"/>
          <p:cNvSpPr txBox="1"/>
          <p:nvPr/>
        </p:nvSpPr>
        <p:spPr>
          <a:xfrm>
            <a:off x="10725912" y="6419088"/>
            <a:ext cx="914400" cy="228600"/>
          </a:xfrm>
          <a:prstGeom prst="rect">
            <a:avLst/>
          </a:prstGeom>
          <a:noFill/>
          <a:ln/>
        </p:spPr>
        <p:txBody>
          <a:bodyPr wrap="square" lIns="0" tIns="0" rIns="0" bIns="0" rtlCol="0" anchor="t"/>
          <a:lstStyle/>
          <a:p>
            <a:pPr algn="r" indent="0" marL="0">
              <a:buNone/>
            </a:pPr>
            <a:r>
              <a:rPr lang="en-US" sz="900" dirty="0">
                <a:solidFill>
                  <a:srgbClr val="8A94A3"/>
                </a:solidFill>
                <a:latin typeface="Calibri" pitchFamily="34" charset="0"/>
                <a:ea typeface="Calibri" pitchFamily="34" charset="-122"/>
                <a:cs typeface="Calibri" pitchFamily="34" charset="-120"/>
              </a:rPr>
              <a:t>12 / 21</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300" kern="0" dirty="0">
                <a:solidFill>
                  <a:srgbClr val="C7811A"/>
                </a:solidFill>
                <a:latin typeface="Calibri" pitchFamily="34" charset="0"/>
                <a:ea typeface="Calibri" pitchFamily="34" charset="-122"/>
                <a:cs typeface="Calibri" pitchFamily="34" charset="-120"/>
              </a:rPr>
              <a:t>RELATED WORK</a:t>
            </a:r>
            <a:endParaRPr lang="en-US" sz="11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rgbClr val="13223A"/>
                </a:solidFill>
                <a:latin typeface="Cambria" pitchFamily="34" charset="0"/>
                <a:ea typeface="Cambria" pitchFamily="34" charset="-122"/>
                <a:cs typeface="Cambria" pitchFamily="34" charset="-120"/>
              </a:rPr>
              <a:t>Positioning against existing autoscalers</a:t>
            </a:r>
            <a:endParaRPr lang="en-US" sz="3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1672" cy="914400"/>
        </p:xfrm>
        <a:graphic>
          <a:graphicData uri="http://schemas.openxmlformats.org/drawingml/2006/table">
            <a:tbl>
              <a:tblPr/>
              <a:tblGrid>
                <a:gridCol w="2651760"/>
                <a:gridCol w="4572000"/>
                <a:gridCol w="3867912"/>
              </a:tblGrid>
              <a:tr h="585216">
                <a:tc>
                  <a:txBody>
                    <a:bodyPr/>
                    <a:lstStyle/>
                    <a:p>
                      <a:pPr indent="0" marL="0">
                        <a:buNone/>
                      </a:pPr>
                      <a:r>
                        <a:rPr lang="en-US" sz="1250" b="1" dirty="0">
                          <a:solidFill>
                            <a:srgbClr val="FFFFFF"/>
                          </a:solidFill>
                        </a:rPr>
                        <a:t>System</a:t>
                      </a:r>
                      <a:endParaRPr lang="en-US" sz="1250" dirty="0"/>
                    </a:p>
                  </a:txBody>
                  <a:tcPr marL="109728" marR="109728"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13223A"/>
                    </a:solidFill>
                  </a:tcPr>
                </a:tc>
                <a:tc>
                  <a:txBody>
                    <a:bodyPr/>
                    <a:lstStyle/>
                    <a:p>
                      <a:pPr indent="0" marL="0">
                        <a:buNone/>
                      </a:pPr>
                      <a:r>
                        <a:rPr lang="en-US" sz="1250" b="1" dirty="0">
                          <a:solidFill>
                            <a:srgbClr val="FFFFFF"/>
                          </a:solidFill>
                        </a:rPr>
                        <a:t>Approach</a:t>
                      </a:r>
                      <a:endParaRPr lang="en-US" sz="1250" dirty="0"/>
                    </a:p>
                  </a:txBody>
                  <a:tcPr marL="109728" marR="109728"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13223A"/>
                    </a:solidFill>
                  </a:tcPr>
                </a:tc>
                <a:tc>
                  <a:txBody>
                    <a:bodyPr/>
                    <a:lstStyle/>
                    <a:p>
                      <a:pPr indent="0" marL="0">
                        <a:buNone/>
                      </a:pPr>
                      <a:r>
                        <a:rPr lang="en-US" sz="1250" b="1" dirty="0">
                          <a:solidFill>
                            <a:srgbClr val="FFFFFF"/>
                          </a:solidFill>
                        </a:rPr>
                        <a:t>How CHIMERA differs</a:t>
                      </a:r>
                      <a:endParaRPr lang="en-US" sz="1250" dirty="0"/>
                    </a:p>
                  </a:txBody>
                  <a:tcPr marL="109728" marR="109728"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13223A"/>
                    </a:solidFill>
                  </a:tcPr>
                </a:tc>
              </a:tr>
              <a:tr h="585216">
                <a:tc>
                  <a:txBody>
                    <a:bodyPr/>
                    <a:lstStyle/>
                    <a:p>
                      <a:pPr indent="0" marL="0">
                        <a:buNone/>
                      </a:pPr>
                      <a:r>
                        <a:rPr lang="en-US" sz="1250" b="1" dirty="0">
                          <a:solidFill>
                            <a:srgbClr val="13223A"/>
                          </a:solidFill>
                        </a:rPr>
                        <a:t>Kubernetes HPA / VPA</a:t>
                      </a:r>
                      <a:endParaRPr lang="en-US" sz="1250" dirty="0"/>
                    </a:p>
                  </a:txBody>
                  <a:tcPr marL="109728" marR="109728"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50" dirty="0">
                          <a:solidFill>
                            <a:srgbClr val="1F2937"/>
                          </a:solidFill>
                        </a:rPr>
                        <a:t>Industry defaults: HPA adds pods reactively; VPA resizes CPU with a fixed pod count.</a:t>
                      </a:r>
                      <a:endParaRPr lang="en-US" sz="1250" dirty="0"/>
                    </a:p>
                  </a:txBody>
                  <a:tcPr marL="109728" marR="109728"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50" b="1" dirty="0">
                          <a:solidFill>
                            <a:srgbClr val="0F766E"/>
                          </a:solidFill>
                        </a:rPr>
                        <a:t>Drives both levers from one law; run together, HPA + VPA fight.</a:t>
                      </a:r>
                      <a:endParaRPr lang="en-US" sz="1250" dirty="0"/>
                    </a:p>
                  </a:txBody>
                  <a:tcPr marL="109728" marR="109728"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r>
              <a:tr h="585216">
                <a:tc>
                  <a:txBody>
                    <a:bodyPr/>
                    <a:lstStyle/>
                    <a:p>
                      <a:pPr indent="0" marL="0">
                        <a:buNone/>
                      </a:pPr>
                      <a:r>
                        <a:rPr lang="en-US" sz="1250" b="1" dirty="0">
                          <a:solidFill>
                            <a:srgbClr val="13223A"/>
                          </a:solidFill>
                        </a:rPr>
                        <a:t>AAPA</a:t>
                      </a:r>
                      <a:endParaRPr lang="en-US" sz="1250" dirty="0"/>
                    </a:p>
                  </a:txBody>
                  <a:tcPr marL="109728" marR="109728"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50" dirty="0">
                          <a:solidFill>
                            <a:srgbClr val="1F2937"/>
                          </a:solidFill>
                        </a:rPr>
                        <a:t>Predictive, pods only; the paper this project builds on.</a:t>
                      </a:r>
                      <a:endParaRPr lang="en-US" sz="1250" dirty="0"/>
                    </a:p>
                  </a:txBody>
                  <a:tcPr marL="109728" marR="109728"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50" b="1" dirty="0">
                          <a:solidFill>
                            <a:srgbClr val="0F766E"/>
                          </a:solidFill>
                        </a:rPr>
                        <a:t>Adds the vertical axis and models the 20 s boot delay.</a:t>
                      </a:r>
                      <a:endParaRPr lang="en-US" sz="1250" dirty="0"/>
                    </a:p>
                  </a:txBody>
                  <a:tcPr marL="109728" marR="109728"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r>
              <a:tr h="585216">
                <a:tc>
                  <a:txBody>
                    <a:bodyPr/>
                    <a:lstStyle/>
                    <a:p>
                      <a:pPr indent="0" marL="0">
                        <a:buNone/>
                      </a:pPr>
                      <a:r>
                        <a:rPr lang="en-US" sz="1250" b="1" dirty="0">
                          <a:solidFill>
                            <a:srgbClr val="13223A"/>
                          </a:solidFill>
                        </a:rPr>
                        <a:t>KOSMOS (2021)</a:t>
                      </a:r>
                      <a:endParaRPr lang="en-US" sz="1250" dirty="0"/>
                    </a:p>
                  </a:txBody>
                  <a:tcPr marL="109728" marR="109728"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50" dirty="0">
                          <a:solidFill>
                            <a:srgbClr val="1F2937"/>
                          </a:solidFill>
                        </a:rPr>
                        <a:t>Both scaling directions, but two separate control laws.</a:t>
                      </a:r>
                      <a:endParaRPr lang="en-US" sz="1250" dirty="0"/>
                    </a:p>
                  </a:txBody>
                  <a:tcPr marL="109728" marR="109728"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50" b="1" dirty="0">
                          <a:solidFill>
                            <a:srgbClr val="0F766E"/>
                          </a:solidFill>
                        </a:rPr>
                        <a:t>One coordinated law — 6× better tail, 20× fewer actions.</a:t>
                      </a:r>
                      <a:endParaRPr lang="en-US" sz="1250" dirty="0"/>
                    </a:p>
                  </a:txBody>
                  <a:tcPr marL="109728" marR="109728"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r>
              <a:tr h="585216">
                <a:tc>
                  <a:txBody>
                    <a:bodyPr/>
                    <a:lstStyle/>
                    <a:p>
                      <a:pPr indent="0" marL="0">
                        <a:buNone/>
                      </a:pPr>
                      <a:r>
                        <a:rPr lang="en-US" sz="1250" b="1" dirty="0">
                          <a:solidFill>
                            <a:srgbClr val="13223A"/>
                          </a:solidFill>
                        </a:rPr>
                        <a:t>GKE Multidimensional Pod Autoscaler</a:t>
                      </a:r>
                      <a:endParaRPr lang="en-US" sz="1250" dirty="0"/>
                    </a:p>
                  </a:txBody>
                  <a:tcPr marL="109728" marR="109728"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50" dirty="0">
                          <a:solidFill>
                            <a:srgbClr val="1F2937"/>
                          </a:solidFill>
                        </a:rPr>
                        <a:t>Avoids loop conflict by giving each loop a different metric (CPU vs memory).</a:t>
                      </a:r>
                      <a:endParaRPr lang="en-US" sz="1250" dirty="0"/>
                    </a:p>
                  </a:txBody>
                  <a:tcPr marL="109728" marR="109728"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50" b="1" dirty="0">
                          <a:solidFill>
                            <a:srgbClr val="0F766E"/>
                          </a:solidFill>
                        </a:rPr>
                        <a:t>Coordinates both loops on the same resource.</a:t>
                      </a:r>
                      <a:endParaRPr lang="en-US" sz="1250" dirty="0"/>
                    </a:p>
                  </a:txBody>
                  <a:tcPr marL="109728" marR="109728"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r>
              <a:tr h="585216">
                <a:tc>
                  <a:txBody>
                    <a:bodyPr/>
                    <a:lstStyle/>
                    <a:p>
                      <a:pPr indent="0" marL="0">
                        <a:buNone/>
                      </a:pPr>
                      <a:r>
                        <a:rPr lang="en-US" sz="1250" b="1" dirty="0">
                          <a:solidFill>
                            <a:srgbClr val="13223A"/>
                          </a:solidFill>
                        </a:rPr>
                        <a:t>ADAPT</a:t>
                      </a:r>
                      <a:endParaRPr lang="en-US" sz="1250" dirty="0"/>
                    </a:p>
                  </a:txBody>
                  <a:tcPr marL="109728" marR="109728"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50" dirty="0">
                          <a:solidFill>
                            <a:srgbClr val="1F2937"/>
                          </a:solidFill>
                        </a:rPr>
                        <a:t>Delay-aware, pods only; solves a fresh optimisation every step.</a:t>
                      </a:r>
                      <a:endParaRPr lang="en-US" sz="1250" dirty="0"/>
                    </a:p>
                  </a:txBody>
                  <a:tcPr marL="109728" marR="109728"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50" b="1" dirty="0">
                          <a:solidFill>
                            <a:srgbClr val="0F766E"/>
                          </a:solidFill>
                        </a:rPr>
                        <a:t>Gain K is computed once, up front.</a:t>
                      </a:r>
                      <a:endParaRPr lang="en-US" sz="1250" dirty="0"/>
                    </a:p>
                  </a:txBody>
                  <a:tcPr marL="109728" marR="109728"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r>
              <a:tr h="585216">
                <a:tc>
                  <a:txBody>
                    <a:bodyPr/>
                    <a:lstStyle/>
                    <a:p>
                      <a:pPr indent="0" marL="0">
                        <a:buNone/>
                      </a:pPr>
                      <a:r>
                        <a:rPr lang="en-US" sz="1250" b="1" dirty="0">
                          <a:solidFill>
                            <a:srgbClr val="13223A"/>
                          </a:solidFill>
                        </a:rPr>
                        <a:t>OptScaler, BACC</a:t>
                      </a:r>
                      <a:endParaRPr lang="en-US" sz="1250" dirty="0"/>
                    </a:p>
                  </a:txBody>
                  <a:tcPr marL="109728" marR="109728"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50" dirty="0">
                          <a:solidFill>
                            <a:srgbClr val="1F2937"/>
                          </a:solidFill>
                        </a:rPr>
                        <a:t>Use confidence intervals, pods only; interval feeds a budget.</a:t>
                      </a:r>
                      <a:endParaRPr lang="en-US" sz="1250" dirty="0"/>
                    </a:p>
                  </a:txBody>
                  <a:tcPr marL="109728" marR="109728"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50" b="1" dirty="0">
                          <a:solidFill>
                            <a:srgbClr val="0F766E"/>
                          </a:solidFill>
                        </a:rPr>
                        <a:t>Interval feeds a Lyapunov stability constraint.</a:t>
                      </a:r>
                      <a:endParaRPr lang="en-US" sz="1250" dirty="0"/>
                    </a:p>
                  </a:txBody>
                  <a:tcPr marL="109728" marR="109728"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r>
              <a:tr h="585216">
                <a:tc>
                  <a:txBody>
                    <a:bodyPr/>
                    <a:lstStyle/>
                    <a:p>
                      <a:pPr indent="0" marL="0">
                        <a:buNone/>
                      </a:pPr>
                      <a:r>
                        <a:rPr lang="en-US" sz="1250" b="1" dirty="0">
                          <a:solidFill>
                            <a:srgbClr val="13223A"/>
                          </a:solidFill>
                        </a:rPr>
                        <a:t>Two related patents</a:t>
                      </a:r>
                      <a:endParaRPr lang="en-US" sz="1250" dirty="0"/>
                    </a:p>
                  </a:txBody>
                  <a:tcPr marL="109728" marR="109728"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50" dirty="0">
                          <a:solidFill>
                            <a:srgbClr val="1F2937"/>
                          </a:solidFill>
                        </a:rPr>
                        <a:t>Pick one axis or the other using threshold rules.</a:t>
                      </a:r>
                      <a:endParaRPr lang="en-US" sz="1250" dirty="0"/>
                    </a:p>
                  </a:txBody>
                  <a:tcPr marL="109728" marR="109728"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50" b="1" dirty="0">
                          <a:solidFill>
                            <a:srgbClr val="0F766E"/>
                          </a:solidFill>
                        </a:rPr>
                        <a:t>Drives both axes at once from a control law.</a:t>
                      </a:r>
                      <a:endParaRPr lang="en-US" sz="1250" dirty="0"/>
                    </a:p>
                  </a:txBody>
                  <a:tcPr marL="109728" marR="109728"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r>
            </a:tbl>
          </a:graphicData>
        </a:graphic>
      </p:graphicFrame>
      <p:sp>
        <p:nvSpPr>
          <p:cNvPr id="5" name="Text 2"/>
          <p:cNvSpPr txBox="1"/>
          <p:nvPr/>
        </p:nvSpPr>
        <p:spPr>
          <a:xfrm>
            <a:off x="548640" y="6419088"/>
            <a:ext cx="8229600" cy="228600"/>
          </a:xfrm>
          <a:prstGeom prst="rect">
            <a:avLst/>
          </a:prstGeom>
          <a:noFill/>
          <a:ln/>
        </p:spPr>
        <p:txBody>
          <a:bodyPr wrap="square" lIns="0" tIns="0" rIns="0" bIns="0" rtlCol="0" anchor="t"/>
          <a:lstStyle/>
          <a:p>
            <a:pPr indent="0" marL="0">
              <a:buNone/>
            </a:pPr>
            <a:r>
              <a:rPr lang="en-US" sz="900" dirty="0">
                <a:solidFill>
                  <a:srgbClr val="8A94A3"/>
                </a:solidFill>
                <a:latin typeface="Calibri" pitchFamily="34" charset="0"/>
                <a:ea typeface="Calibri" pitchFamily="34" charset="-122"/>
                <a:cs typeface="Calibri" pitchFamily="34" charset="-120"/>
              </a:rPr>
              <a:t>VIT Vellore  ·  BCSE303P Operating Systems Laboratory  ·  CHIMERA  ·  Review 2</a:t>
            </a:r>
            <a:endParaRPr lang="en-US" sz="900" dirty="0"/>
          </a:p>
        </p:txBody>
      </p:sp>
      <p:sp>
        <p:nvSpPr>
          <p:cNvPr id="6" name="Text 3"/>
          <p:cNvSpPr txBox="1"/>
          <p:nvPr/>
        </p:nvSpPr>
        <p:spPr>
          <a:xfrm>
            <a:off x="10725912" y="6419088"/>
            <a:ext cx="914400" cy="228600"/>
          </a:xfrm>
          <a:prstGeom prst="rect">
            <a:avLst/>
          </a:prstGeom>
          <a:noFill/>
          <a:ln/>
        </p:spPr>
        <p:txBody>
          <a:bodyPr wrap="square" lIns="0" tIns="0" rIns="0" bIns="0" rtlCol="0" anchor="t"/>
          <a:lstStyle/>
          <a:p>
            <a:pPr algn="r" indent="0" marL="0">
              <a:buNone/>
            </a:pPr>
            <a:r>
              <a:rPr lang="en-US" sz="900" dirty="0">
                <a:solidFill>
                  <a:srgbClr val="8A94A3"/>
                </a:solidFill>
                <a:latin typeface="Calibri" pitchFamily="34" charset="0"/>
                <a:ea typeface="Calibri" pitchFamily="34" charset="-122"/>
                <a:cs typeface="Calibri" pitchFamily="34" charset="-120"/>
              </a:rPr>
              <a:t>13 / 21</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300" kern="0" dirty="0">
                <a:solidFill>
                  <a:srgbClr val="C7811A"/>
                </a:solidFill>
                <a:latin typeface="Calibri" pitchFamily="34" charset="0"/>
                <a:ea typeface="Calibri" pitchFamily="34" charset="-122"/>
                <a:cs typeface="Calibri" pitchFamily="34" charset="-120"/>
              </a:rPr>
              <a:t>ENGINEERING VERIFICATION</a:t>
            </a:r>
            <a:endParaRPr lang="en-US" sz="11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rgbClr val="13223A"/>
                </a:solidFill>
                <a:latin typeface="Cambria" pitchFamily="34" charset="0"/>
                <a:ea typeface="Cambria" pitchFamily="34" charset="-122"/>
                <a:cs typeface="Cambria" pitchFamily="34" charset="-120"/>
              </a:rPr>
              <a:t>Defects found and fixed during verification</a:t>
            </a:r>
            <a:endParaRPr lang="en-US" sz="3000" dirty="0"/>
          </a:p>
        </p:txBody>
      </p:sp>
      <p:sp>
        <p:nvSpPr>
          <p:cNvPr id="4" name="Text 2"/>
          <p:cNvSpPr txBox="1"/>
          <p:nvPr/>
        </p:nvSpPr>
        <p:spPr>
          <a:xfrm>
            <a:off x="548640" y="1463040"/>
            <a:ext cx="10972800" cy="365760"/>
          </a:xfrm>
          <a:prstGeom prst="rect">
            <a:avLst/>
          </a:prstGeom>
          <a:noFill/>
          <a:ln/>
        </p:spPr>
        <p:txBody>
          <a:bodyPr wrap="square" lIns="0" tIns="0" rIns="0" bIns="0" rtlCol="0" anchor="t"/>
          <a:lstStyle/>
          <a:p>
            <a:pPr indent="0" marL="0">
              <a:buNone/>
            </a:pPr>
            <a:r>
              <a:rPr lang="en-US" sz="1400" i="1" dirty="0">
                <a:solidFill>
                  <a:srgbClr val="5B6675"/>
                </a:solidFill>
                <a:latin typeface="Calibri" pitchFamily="34" charset="0"/>
                <a:ea typeface="Calibri" pitchFamily="34" charset="-122"/>
                <a:cs typeface="Calibri" pitchFamily="34" charset="-120"/>
              </a:rPr>
              <a:t>Three of these were discovered by auditing our own results rather than by a failing test. Each one changed the published numbers.</a:t>
            </a:r>
            <a:endParaRPr lang="en-US" sz="1400" dirty="0"/>
          </a:p>
        </p:txBody>
      </p:sp>
      <p:sp>
        <p:nvSpPr>
          <p:cNvPr id="5" name="Shape 3"/>
          <p:cNvSpPr/>
          <p:nvPr/>
        </p:nvSpPr>
        <p:spPr>
          <a:xfrm>
            <a:off x="548640" y="2057400"/>
            <a:ext cx="5422392" cy="1920240"/>
          </a:xfrm>
          <a:prstGeom prst="roundRect">
            <a:avLst>
              <a:gd name="adj" fmla="val 3810"/>
            </a:avLst>
          </a:prstGeom>
          <a:solidFill>
            <a:srgbClr val="F3F5F8"/>
          </a:solidFill>
          <a:ln w="12700">
            <a:solidFill>
              <a:srgbClr val="F3F5F8"/>
            </a:solidFill>
            <a:prstDash val="solid"/>
          </a:ln>
        </p:spPr>
      </p:sp>
      <p:sp>
        <p:nvSpPr>
          <p:cNvPr id="6" name="Shape 4"/>
          <p:cNvSpPr/>
          <p:nvPr/>
        </p:nvSpPr>
        <p:spPr>
          <a:xfrm>
            <a:off x="777240" y="2286000"/>
            <a:ext cx="411480" cy="411480"/>
          </a:xfrm>
          <a:prstGeom prst="ellipse">
            <a:avLst/>
          </a:prstGeom>
          <a:solidFill>
            <a:srgbClr val="B42318"/>
          </a:solidFill>
          <a:ln w="12700">
            <a:solidFill>
              <a:srgbClr val="B42318"/>
            </a:solidFill>
            <a:prstDash val="solid"/>
          </a:ln>
        </p:spPr>
      </p:sp>
      <p:sp>
        <p:nvSpPr>
          <p:cNvPr id="7" name="Text 5"/>
          <p:cNvSpPr txBox="1"/>
          <p:nvPr/>
        </p:nvSpPr>
        <p:spPr>
          <a:xfrm>
            <a:off x="777240" y="2286000"/>
            <a:ext cx="41148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txBox="1"/>
          <p:nvPr/>
        </p:nvSpPr>
        <p:spPr>
          <a:xfrm>
            <a:off x="1371600" y="2286000"/>
            <a:ext cx="4389120" cy="411480"/>
          </a:xfrm>
          <a:prstGeom prst="rect">
            <a:avLst/>
          </a:prstGeom>
          <a:noFill/>
          <a:ln/>
        </p:spPr>
        <p:txBody>
          <a:bodyPr wrap="square" lIns="0" tIns="0" rIns="0" bIns="0" rtlCol="0" anchor="ctr"/>
          <a:lstStyle/>
          <a:p>
            <a:pPr indent="0" marL="0">
              <a:buNone/>
            </a:pPr>
            <a:r>
              <a:rPr lang="en-US" sz="1600" b="1" dirty="0">
                <a:solidFill>
                  <a:srgbClr val="13223A"/>
                </a:solidFill>
                <a:latin typeface="Cambria" pitchFamily="34" charset="0"/>
                <a:ea typeface="Cambria" pitchFamily="34" charset="-122"/>
                <a:cs typeface="Cambria" pitchFamily="34" charset="-120"/>
              </a:rPr>
              <a:t>Pod warm-up delay</a:t>
            </a:r>
            <a:endParaRPr lang="en-US" sz="1600" dirty="0"/>
          </a:p>
        </p:txBody>
      </p:sp>
      <p:sp>
        <p:nvSpPr>
          <p:cNvPr id="9" name="Text 7"/>
          <p:cNvSpPr txBox="1"/>
          <p:nvPr/>
        </p:nvSpPr>
        <p:spPr>
          <a:xfrm>
            <a:off x="1371600" y="2788920"/>
            <a:ext cx="4389120" cy="548640"/>
          </a:xfrm>
          <a:prstGeom prst="rect">
            <a:avLst/>
          </a:prstGeom>
          <a:noFill/>
          <a:ln/>
        </p:spPr>
        <p:txBody>
          <a:bodyPr wrap="square" lIns="0" tIns="0" rIns="0" bIns="0" rtlCol="0" anchor="t"/>
          <a:lstStyle/>
          <a:p>
            <a:pPr indent="0" marL="0">
              <a:buNone/>
            </a:pPr>
            <a:r>
              <a:rPr lang="en-US" sz="1200" b="1" dirty="0">
                <a:solidFill>
                  <a:srgbClr val="B42318"/>
                </a:solidFill>
                <a:latin typeface="Calibri" pitchFamily="34" charset="0"/>
                <a:ea typeface="Calibri" pitchFamily="34" charset="-122"/>
                <a:cs typeface="Calibri" pitchFamily="34" charset="-120"/>
              </a:rPr>
              <a:t>Defect  </a:t>
            </a:r>
            <a:pPr indent="0" marL="0">
              <a:buNone/>
            </a:pPr>
            <a:r>
              <a:rPr lang="en-US" sz="1200" dirty="0">
                <a:solidFill>
                  <a:srgbClr val="1F2937"/>
                </a:solidFill>
                <a:latin typeface="Calibri" pitchFamily="34" charset="0"/>
                <a:ea typeface="Calibri" pitchFamily="34" charset="-122"/>
                <a:cs typeface="Calibri" pitchFamily="34" charset="-120"/>
              </a:rPr>
              <a:t>New replicas became ready in 0.1 s instead of the real 20 s, giving every horizontal baseline near-instant capacity.</a:t>
            </a:r>
            <a:endParaRPr lang="en-US" sz="1200" dirty="0"/>
          </a:p>
        </p:txBody>
      </p:sp>
      <p:sp>
        <p:nvSpPr>
          <p:cNvPr id="10" name="Text 8"/>
          <p:cNvSpPr txBox="1"/>
          <p:nvPr/>
        </p:nvSpPr>
        <p:spPr>
          <a:xfrm>
            <a:off x="1371600" y="3355848"/>
            <a:ext cx="4389120" cy="502920"/>
          </a:xfrm>
          <a:prstGeom prst="rect">
            <a:avLst/>
          </a:prstGeom>
          <a:noFill/>
          <a:ln/>
        </p:spPr>
        <p:txBody>
          <a:bodyPr wrap="square" lIns="0" tIns="0" rIns="0" bIns="0" rtlCol="0" anchor="t"/>
          <a:lstStyle/>
          <a:p>
            <a:pPr indent="0" marL="0">
              <a:buNone/>
            </a:pPr>
            <a:r>
              <a:rPr lang="en-US" sz="1200" b="1" dirty="0">
                <a:solidFill>
                  <a:srgbClr val="0F766E"/>
                </a:solidFill>
                <a:latin typeface="Calibri" pitchFamily="34" charset="0"/>
                <a:ea typeface="Calibri" pitchFamily="34" charset="-122"/>
                <a:cs typeface="Calibri" pitchFamily="34" charset="-120"/>
              </a:rPr>
              <a:t>Fix  </a:t>
            </a:r>
            <a:pPr indent="0" marL="0">
              <a:buNone/>
            </a:pPr>
            <a:r>
              <a:rPr lang="en-US" sz="1200" dirty="0">
                <a:solidFill>
                  <a:srgbClr val="1F2937"/>
                </a:solidFill>
                <a:latin typeface="Calibri" pitchFamily="34" charset="0"/>
                <a:ea typeface="Calibri" pitchFamily="34" charset="-122"/>
                <a:cs typeface="Calibri" pitchFamily="34" charset="-120"/>
              </a:rPr>
              <a:t>Pods now constructed with an explicit 20 s startup_time.</a:t>
            </a:r>
            <a:endParaRPr lang="en-US" sz="1200" dirty="0"/>
          </a:p>
        </p:txBody>
      </p:sp>
      <p:sp>
        <p:nvSpPr>
          <p:cNvPr id="11" name="Shape 9"/>
          <p:cNvSpPr/>
          <p:nvPr/>
        </p:nvSpPr>
        <p:spPr>
          <a:xfrm>
            <a:off x="6217920" y="2057400"/>
            <a:ext cx="5422392" cy="1920240"/>
          </a:xfrm>
          <a:prstGeom prst="roundRect">
            <a:avLst>
              <a:gd name="adj" fmla="val 3810"/>
            </a:avLst>
          </a:prstGeom>
          <a:solidFill>
            <a:srgbClr val="F3F5F8"/>
          </a:solidFill>
          <a:ln w="12700">
            <a:solidFill>
              <a:srgbClr val="F3F5F8"/>
            </a:solidFill>
            <a:prstDash val="solid"/>
          </a:ln>
        </p:spPr>
      </p:sp>
      <p:sp>
        <p:nvSpPr>
          <p:cNvPr id="12" name="Shape 10"/>
          <p:cNvSpPr/>
          <p:nvPr/>
        </p:nvSpPr>
        <p:spPr>
          <a:xfrm>
            <a:off x="6446520" y="2286000"/>
            <a:ext cx="411480" cy="411480"/>
          </a:xfrm>
          <a:prstGeom prst="ellipse">
            <a:avLst/>
          </a:prstGeom>
          <a:solidFill>
            <a:srgbClr val="B42318"/>
          </a:solidFill>
          <a:ln w="12700">
            <a:solidFill>
              <a:srgbClr val="B42318"/>
            </a:solidFill>
            <a:prstDash val="solid"/>
          </a:ln>
        </p:spPr>
      </p:sp>
      <p:sp>
        <p:nvSpPr>
          <p:cNvPr id="13" name="Text 11"/>
          <p:cNvSpPr txBox="1"/>
          <p:nvPr/>
        </p:nvSpPr>
        <p:spPr>
          <a:xfrm>
            <a:off x="6446520" y="2286000"/>
            <a:ext cx="41148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Text 12"/>
          <p:cNvSpPr txBox="1"/>
          <p:nvPr/>
        </p:nvSpPr>
        <p:spPr>
          <a:xfrm>
            <a:off x="7040880" y="2286000"/>
            <a:ext cx="4389120" cy="411480"/>
          </a:xfrm>
          <a:prstGeom prst="rect">
            <a:avLst/>
          </a:prstGeom>
          <a:noFill/>
          <a:ln/>
        </p:spPr>
        <p:txBody>
          <a:bodyPr wrap="square" lIns="0" tIns="0" rIns="0" bIns="0" rtlCol="0" anchor="ctr"/>
          <a:lstStyle/>
          <a:p>
            <a:pPr indent="0" marL="0">
              <a:buNone/>
            </a:pPr>
            <a:r>
              <a:rPr lang="en-US" sz="1600" b="1" dirty="0">
                <a:solidFill>
                  <a:srgbClr val="13223A"/>
                </a:solidFill>
                <a:latin typeface="Cambria" pitchFamily="34" charset="0"/>
                <a:ea typeface="Cambria" pitchFamily="34" charset="-122"/>
                <a:cs typeface="Cambria" pitchFamily="34" charset="-120"/>
              </a:rPr>
              <a:t>Baseline headroom confound</a:t>
            </a:r>
            <a:endParaRPr lang="en-US" sz="1600" dirty="0"/>
          </a:p>
        </p:txBody>
      </p:sp>
      <p:sp>
        <p:nvSpPr>
          <p:cNvPr id="15" name="Text 13"/>
          <p:cNvSpPr txBox="1"/>
          <p:nvPr/>
        </p:nvSpPr>
        <p:spPr>
          <a:xfrm>
            <a:off x="7040880" y="2788920"/>
            <a:ext cx="4389120" cy="548640"/>
          </a:xfrm>
          <a:prstGeom prst="rect">
            <a:avLst/>
          </a:prstGeom>
          <a:noFill/>
          <a:ln/>
        </p:spPr>
        <p:txBody>
          <a:bodyPr wrap="square" lIns="0" tIns="0" rIns="0" bIns="0" rtlCol="0" anchor="t"/>
          <a:lstStyle/>
          <a:p>
            <a:pPr indent="0" marL="0">
              <a:buNone/>
            </a:pPr>
            <a:r>
              <a:rPr lang="en-US" sz="1200" b="1" dirty="0">
                <a:solidFill>
                  <a:srgbClr val="B42318"/>
                </a:solidFill>
                <a:latin typeface="Calibri" pitchFamily="34" charset="0"/>
                <a:ea typeface="Calibri" pitchFamily="34" charset="-122"/>
                <a:cs typeface="Calibri" pitchFamily="34" charset="-120"/>
              </a:rPr>
              <a:t>Defect  </a:t>
            </a:r>
            <a:pPr indent="0" marL="0">
              <a:buNone/>
            </a:pPr>
            <a:r>
              <a:rPr lang="en-US" sz="1200" dirty="0">
                <a:solidFill>
                  <a:srgbClr val="1F2937"/>
                </a:solidFill>
                <a:latin typeface="Calibri" pitchFamily="34" charset="0"/>
                <a:ea typeface="Calibri" pitchFamily="34" charset="-122"/>
                <a:cs typeface="Calibri" pitchFamily="34" charset="-120"/>
              </a:rPr>
              <a:t>Horizontal-only baselines started at 1.5 cores/pod while CHIMERA started at 0.5 — a 3× advantage.</a:t>
            </a:r>
            <a:endParaRPr lang="en-US" sz="1200" dirty="0"/>
          </a:p>
        </p:txBody>
      </p:sp>
      <p:sp>
        <p:nvSpPr>
          <p:cNvPr id="16" name="Text 14"/>
          <p:cNvSpPr txBox="1"/>
          <p:nvPr/>
        </p:nvSpPr>
        <p:spPr>
          <a:xfrm>
            <a:off x="7040880" y="3355848"/>
            <a:ext cx="4389120" cy="502920"/>
          </a:xfrm>
          <a:prstGeom prst="rect">
            <a:avLst/>
          </a:prstGeom>
          <a:noFill/>
          <a:ln/>
        </p:spPr>
        <p:txBody>
          <a:bodyPr wrap="square" lIns="0" tIns="0" rIns="0" bIns="0" rtlCol="0" anchor="t"/>
          <a:lstStyle/>
          <a:p>
            <a:pPr indent="0" marL="0">
              <a:buNone/>
            </a:pPr>
            <a:r>
              <a:rPr lang="en-US" sz="1200" b="1" dirty="0">
                <a:solidFill>
                  <a:srgbClr val="0F766E"/>
                </a:solidFill>
                <a:latin typeface="Calibri" pitchFamily="34" charset="0"/>
                <a:ea typeface="Calibri" pitchFamily="34" charset="-122"/>
                <a:cs typeface="Calibri" pitchFamily="34" charset="-120"/>
              </a:rPr>
              <a:t>Fix  </a:t>
            </a:r>
            <a:pPr indent="0" marL="0">
              <a:buNone/>
            </a:pPr>
            <a:r>
              <a:rPr lang="en-US" sz="1200" dirty="0">
                <a:solidFill>
                  <a:srgbClr val="1F2937"/>
                </a:solidFill>
                <a:latin typeface="Calibri" pitchFamily="34" charset="0"/>
                <a:ea typeface="Calibri" pitchFamily="34" charset="-122"/>
                <a:cs typeface="Calibri" pitchFamily="34" charset="-120"/>
              </a:rPr>
              <a:t>All controllers initialise from the same v_min; 1.5-core variants kept as a separate study.</a:t>
            </a:r>
            <a:endParaRPr lang="en-US" sz="1200" dirty="0"/>
          </a:p>
        </p:txBody>
      </p:sp>
      <p:sp>
        <p:nvSpPr>
          <p:cNvPr id="17" name="Shape 15"/>
          <p:cNvSpPr/>
          <p:nvPr/>
        </p:nvSpPr>
        <p:spPr>
          <a:xfrm>
            <a:off x="548640" y="4160520"/>
            <a:ext cx="5422392" cy="1920240"/>
          </a:xfrm>
          <a:prstGeom prst="roundRect">
            <a:avLst>
              <a:gd name="adj" fmla="val 3810"/>
            </a:avLst>
          </a:prstGeom>
          <a:solidFill>
            <a:srgbClr val="F3F5F8"/>
          </a:solidFill>
          <a:ln w="12700">
            <a:solidFill>
              <a:srgbClr val="F3F5F8"/>
            </a:solidFill>
            <a:prstDash val="solid"/>
          </a:ln>
        </p:spPr>
      </p:sp>
      <p:sp>
        <p:nvSpPr>
          <p:cNvPr id="18" name="Shape 16"/>
          <p:cNvSpPr/>
          <p:nvPr/>
        </p:nvSpPr>
        <p:spPr>
          <a:xfrm>
            <a:off x="777240" y="4389120"/>
            <a:ext cx="411480" cy="411480"/>
          </a:xfrm>
          <a:prstGeom prst="ellipse">
            <a:avLst/>
          </a:prstGeom>
          <a:solidFill>
            <a:srgbClr val="B42318"/>
          </a:solidFill>
          <a:ln w="12700">
            <a:solidFill>
              <a:srgbClr val="B42318"/>
            </a:solidFill>
            <a:prstDash val="solid"/>
          </a:ln>
        </p:spPr>
      </p:sp>
      <p:sp>
        <p:nvSpPr>
          <p:cNvPr id="19" name="Text 17"/>
          <p:cNvSpPr txBox="1"/>
          <p:nvPr/>
        </p:nvSpPr>
        <p:spPr>
          <a:xfrm>
            <a:off x="777240" y="4389120"/>
            <a:ext cx="41148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0" name="Text 18"/>
          <p:cNvSpPr txBox="1"/>
          <p:nvPr/>
        </p:nvSpPr>
        <p:spPr>
          <a:xfrm>
            <a:off x="1371600" y="4389120"/>
            <a:ext cx="4389120" cy="411480"/>
          </a:xfrm>
          <a:prstGeom prst="rect">
            <a:avLst/>
          </a:prstGeom>
          <a:noFill/>
          <a:ln/>
        </p:spPr>
        <p:txBody>
          <a:bodyPr wrap="square" lIns="0" tIns="0" rIns="0" bIns="0" rtlCol="0" anchor="ctr"/>
          <a:lstStyle/>
          <a:p>
            <a:pPr indent="0" marL="0">
              <a:buNone/>
            </a:pPr>
            <a:r>
              <a:rPr lang="en-US" sz="1600" b="1" dirty="0">
                <a:solidFill>
                  <a:srgbClr val="13223A"/>
                </a:solidFill>
                <a:latin typeface="Cambria" pitchFamily="34" charset="0"/>
                <a:ea typeface="Cambria" pitchFamily="34" charset="-122"/>
                <a:cs typeface="Cambria" pitchFamily="34" charset="-120"/>
              </a:rPr>
              <a:t>CQR calibration leakage</a:t>
            </a:r>
            <a:endParaRPr lang="en-US" sz="1600" dirty="0"/>
          </a:p>
        </p:txBody>
      </p:sp>
      <p:sp>
        <p:nvSpPr>
          <p:cNvPr id="21" name="Text 19"/>
          <p:cNvSpPr txBox="1"/>
          <p:nvPr/>
        </p:nvSpPr>
        <p:spPr>
          <a:xfrm>
            <a:off x="1371600" y="4892040"/>
            <a:ext cx="4389120" cy="548640"/>
          </a:xfrm>
          <a:prstGeom prst="rect">
            <a:avLst/>
          </a:prstGeom>
          <a:noFill/>
          <a:ln/>
        </p:spPr>
        <p:txBody>
          <a:bodyPr wrap="square" lIns="0" tIns="0" rIns="0" bIns="0" rtlCol="0" anchor="t"/>
          <a:lstStyle/>
          <a:p>
            <a:pPr indent="0" marL="0">
              <a:buNone/>
            </a:pPr>
            <a:r>
              <a:rPr lang="en-US" sz="1200" b="1" dirty="0">
                <a:solidFill>
                  <a:srgbClr val="B42318"/>
                </a:solidFill>
                <a:latin typeface="Calibri" pitchFamily="34" charset="0"/>
                <a:ea typeface="Calibri" pitchFamily="34" charset="-122"/>
                <a:cs typeface="Calibri" pitchFamily="34" charset="-120"/>
              </a:rPr>
              <a:t>Defect  </a:t>
            </a:r>
            <a:pPr indent="0" marL="0">
              <a:buNone/>
            </a:pPr>
            <a:r>
              <a:rPr lang="en-US" sz="1200" dirty="0">
                <a:solidFill>
                  <a:srgbClr val="1F2937"/>
                </a:solidFill>
                <a:latin typeface="Calibri" pitchFamily="34" charset="0"/>
                <a:ea typeface="Calibri" pitchFamily="34" charset="-122"/>
                <a:cs typeface="Calibri" pitchFamily="34" charset="-120"/>
              </a:rPr>
              <a:t>The conformal calibration window overlapped the test window, inflating coverage above 98 %.</a:t>
            </a:r>
            <a:endParaRPr lang="en-US" sz="1200" dirty="0"/>
          </a:p>
        </p:txBody>
      </p:sp>
      <p:sp>
        <p:nvSpPr>
          <p:cNvPr id="22" name="Text 20"/>
          <p:cNvSpPr txBox="1"/>
          <p:nvPr/>
        </p:nvSpPr>
        <p:spPr>
          <a:xfrm>
            <a:off x="1371600" y="5458968"/>
            <a:ext cx="4389120" cy="502920"/>
          </a:xfrm>
          <a:prstGeom prst="rect">
            <a:avLst/>
          </a:prstGeom>
          <a:noFill/>
          <a:ln/>
        </p:spPr>
        <p:txBody>
          <a:bodyPr wrap="square" lIns="0" tIns="0" rIns="0" bIns="0" rtlCol="0" anchor="t"/>
          <a:lstStyle/>
          <a:p>
            <a:pPr indent="0" marL="0">
              <a:buNone/>
            </a:pPr>
            <a:r>
              <a:rPr lang="en-US" sz="1200" b="1" dirty="0">
                <a:solidFill>
                  <a:srgbClr val="0F766E"/>
                </a:solidFill>
                <a:latin typeface="Calibri" pitchFamily="34" charset="0"/>
                <a:ea typeface="Calibri" pitchFamily="34" charset="-122"/>
                <a:cs typeface="Calibri" pitchFamily="34" charset="-120"/>
              </a:rPr>
              <a:t>Fix  </a:t>
            </a:r>
            <a:pPr indent="0" marL="0">
              <a:buNone/>
            </a:pPr>
            <a:r>
              <a:rPr lang="en-US" sz="1200" dirty="0">
                <a:solidFill>
                  <a:srgbClr val="1F2937"/>
                </a:solidFill>
                <a:latin typeface="Calibri" pitchFamily="34" charset="0"/>
                <a:ea typeface="Calibri" pitchFamily="34" charset="-122"/>
                <a:cs typeface="Calibri" pitchFamily="34" charset="-120"/>
              </a:rPr>
              <a:t>Strict disjoint partitions: train 10–50, calibrate 50–70, test 70–100 min.</a:t>
            </a:r>
            <a:endParaRPr lang="en-US" sz="1200" dirty="0"/>
          </a:p>
        </p:txBody>
      </p:sp>
      <p:sp>
        <p:nvSpPr>
          <p:cNvPr id="23" name="Shape 21"/>
          <p:cNvSpPr/>
          <p:nvPr/>
        </p:nvSpPr>
        <p:spPr>
          <a:xfrm>
            <a:off x="6217920" y="4160520"/>
            <a:ext cx="5422392" cy="1920240"/>
          </a:xfrm>
          <a:prstGeom prst="roundRect">
            <a:avLst>
              <a:gd name="adj" fmla="val 3810"/>
            </a:avLst>
          </a:prstGeom>
          <a:solidFill>
            <a:srgbClr val="F3F5F8"/>
          </a:solidFill>
          <a:ln w="12700">
            <a:solidFill>
              <a:srgbClr val="F3F5F8"/>
            </a:solidFill>
            <a:prstDash val="solid"/>
          </a:ln>
        </p:spPr>
      </p:sp>
      <p:sp>
        <p:nvSpPr>
          <p:cNvPr id="24" name="Shape 22"/>
          <p:cNvSpPr/>
          <p:nvPr/>
        </p:nvSpPr>
        <p:spPr>
          <a:xfrm>
            <a:off x="6446520" y="4389120"/>
            <a:ext cx="411480" cy="411480"/>
          </a:xfrm>
          <a:prstGeom prst="ellipse">
            <a:avLst/>
          </a:prstGeom>
          <a:solidFill>
            <a:srgbClr val="B42318"/>
          </a:solidFill>
          <a:ln w="12700">
            <a:solidFill>
              <a:srgbClr val="B42318"/>
            </a:solidFill>
            <a:prstDash val="solid"/>
          </a:ln>
        </p:spPr>
      </p:sp>
      <p:sp>
        <p:nvSpPr>
          <p:cNvPr id="25" name="Text 23"/>
          <p:cNvSpPr txBox="1"/>
          <p:nvPr/>
        </p:nvSpPr>
        <p:spPr>
          <a:xfrm>
            <a:off x="6446520" y="4389120"/>
            <a:ext cx="41148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6" name="Text 24"/>
          <p:cNvSpPr txBox="1"/>
          <p:nvPr/>
        </p:nvSpPr>
        <p:spPr>
          <a:xfrm>
            <a:off x="7040880" y="4389120"/>
            <a:ext cx="4389120" cy="411480"/>
          </a:xfrm>
          <a:prstGeom prst="rect">
            <a:avLst/>
          </a:prstGeom>
          <a:noFill/>
          <a:ln/>
        </p:spPr>
        <p:txBody>
          <a:bodyPr wrap="square" lIns="0" tIns="0" rIns="0" bIns="0" rtlCol="0" anchor="ctr"/>
          <a:lstStyle/>
          <a:p>
            <a:pPr indent="0" marL="0">
              <a:buNone/>
            </a:pPr>
            <a:r>
              <a:rPr lang="en-US" sz="1600" b="1" dirty="0">
                <a:solidFill>
                  <a:srgbClr val="13223A"/>
                </a:solidFill>
                <a:latin typeface="Cambria" pitchFamily="34" charset="0"/>
                <a:ea typeface="Cambria" pitchFamily="34" charset="-122"/>
                <a:cs typeface="Cambria" pitchFamily="34" charset="-120"/>
              </a:rPr>
              <a:t>DARE solver crash</a:t>
            </a:r>
            <a:endParaRPr lang="en-US" sz="1600" dirty="0"/>
          </a:p>
        </p:txBody>
      </p:sp>
      <p:sp>
        <p:nvSpPr>
          <p:cNvPr id="27" name="Text 25"/>
          <p:cNvSpPr txBox="1"/>
          <p:nvPr/>
        </p:nvSpPr>
        <p:spPr>
          <a:xfrm>
            <a:off x="7040880" y="4892040"/>
            <a:ext cx="4389120" cy="548640"/>
          </a:xfrm>
          <a:prstGeom prst="rect">
            <a:avLst/>
          </a:prstGeom>
          <a:noFill/>
          <a:ln/>
        </p:spPr>
        <p:txBody>
          <a:bodyPr wrap="square" lIns="0" tIns="0" rIns="0" bIns="0" rtlCol="0" anchor="t"/>
          <a:lstStyle/>
          <a:p>
            <a:pPr indent="0" marL="0">
              <a:buNone/>
            </a:pPr>
            <a:r>
              <a:rPr lang="en-US" sz="1200" b="1" dirty="0">
                <a:solidFill>
                  <a:srgbClr val="B42318"/>
                </a:solidFill>
                <a:latin typeface="Calibri" pitchFamily="34" charset="0"/>
                <a:ea typeface="Calibri" pitchFamily="34" charset="-122"/>
                <a:cs typeface="Calibri" pitchFamily="34" charset="-120"/>
              </a:rPr>
              <a:t>Defect  </a:t>
            </a:r>
            <a:pPr indent="0" marL="0">
              <a:buNone/>
            </a:pPr>
            <a:r>
              <a:rPr lang="en-US" sz="1200" dirty="0">
                <a:solidFill>
                  <a:srgbClr val="1F2937"/>
                </a:solidFill>
                <a:latin typeface="Calibri" pitchFamily="34" charset="0"/>
                <a:ea typeface="Calibri" pitchFamily="34" charset="-122"/>
                <a:cs typeface="Calibri" pitchFamily="34" charset="-120"/>
              </a:rPr>
              <a:t>scipy's Riccati solver threw on extreme parameter sweeps and killed the whole run.</a:t>
            </a:r>
            <a:endParaRPr lang="en-US" sz="1200" dirty="0"/>
          </a:p>
        </p:txBody>
      </p:sp>
      <p:sp>
        <p:nvSpPr>
          <p:cNvPr id="28" name="Text 26"/>
          <p:cNvSpPr txBox="1"/>
          <p:nvPr/>
        </p:nvSpPr>
        <p:spPr>
          <a:xfrm>
            <a:off x="7040880" y="5458968"/>
            <a:ext cx="4389120" cy="502920"/>
          </a:xfrm>
          <a:prstGeom prst="rect">
            <a:avLst/>
          </a:prstGeom>
          <a:noFill/>
          <a:ln/>
        </p:spPr>
        <p:txBody>
          <a:bodyPr wrap="square" lIns="0" tIns="0" rIns="0" bIns="0" rtlCol="0" anchor="t"/>
          <a:lstStyle/>
          <a:p>
            <a:pPr indent="0" marL="0">
              <a:buNone/>
            </a:pPr>
            <a:r>
              <a:rPr lang="en-US" sz="1200" b="1" dirty="0">
                <a:solidFill>
                  <a:srgbClr val="0F766E"/>
                </a:solidFill>
                <a:latin typeface="Calibri" pitchFamily="34" charset="0"/>
                <a:ea typeface="Calibri" pitchFamily="34" charset="-122"/>
                <a:cs typeface="Calibri" pitchFamily="34" charset="-120"/>
              </a:rPr>
              <a:t>Fix  </a:t>
            </a:r>
            <a:pPr indent="0" marL="0">
              <a:buNone/>
            </a:pPr>
            <a:r>
              <a:rPr lang="en-US" sz="1200" dirty="0">
                <a:solidFill>
                  <a:srgbClr val="1F2937"/>
                </a:solidFill>
                <a:latin typeface="Calibri" pitchFamily="34" charset="0"/>
                <a:ea typeface="Calibri" pitchFamily="34" charset="-122"/>
                <a:cs typeface="Calibri" pitchFamily="34" charset="-120"/>
              </a:rPr>
              <a:t>Falls back to analytical gains; 720 consecutive runs with no crash.</a:t>
            </a:r>
            <a:endParaRPr lang="en-US" sz="1200" dirty="0"/>
          </a:p>
        </p:txBody>
      </p:sp>
      <p:sp>
        <p:nvSpPr>
          <p:cNvPr id="29" name="Text 27"/>
          <p:cNvSpPr txBox="1"/>
          <p:nvPr/>
        </p:nvSpPr>
        <p:spPr>
          <a:xfrm>
            <a:off x="548640" y="6419088"/>
            <a:ext cx="8229600" cy="228600"/>
          </a:xfrm>
          <a:prstGeom prst="rect">
            <a:avLst/>
          </a:prstGeom>
          <a:noFill/>
          <a:ln/>
        </p:spPr>
        <p:txBody>
          <a:bodyPr wrap="square" lIns="0" tIns="0" rIns="0" bIns="0" rtlCol="0" anchor="t"/>
          <a:lstStyle/>
          <a:p>
            <a:pPr indent="0" marL="0">
              <a:buNone/>
            </a:pPr>
            <a:r>
              <a:rPr lang="en-US" sz="900" dirty="0">
                <a:solidFill>
                  <a:srgbClr val="8A94A3"/>
                </a:solidFill>
                <a:latin typeface="Calibri" pitchFamily="34" charset="0"/>
                <a:ea typeface="Calibri" pitchFamily="34" charset="-122"/>
                <a:cs typeface="Calibri" pitchFamily="34" charset="-120"/>
              </a:rPr>
              <a:t>VIT Vellore  ·  BCSE303P Operating Systems Laboratory  ·  CHIMERA  ·  Review 2</a:t>
            </a:r>
            <a:endParaRPr lang="en-US" sz="900" dirty="0"/>
          </a:p>
        </p:txBody>
      </p:sp>
      <p:sp>
        <p:nvSpPr>
          <p:cNvPr id="30" name="Text 28"/>
          <p:cNvSpPr txBox="1"/>
          <p:nvPr/>
        </p:nvSpPr>
        <p:spPr>
          <a:xfrm>
            <a:off x="10725912" y="6419088"/>
            <a:ext cx="914400" cy="228600"/>
          </a:xfrm>
          <a:prstGeom prst="rect">
            <a:avLst/>
          </a:prstGeom>
          <a:noFill/>
          <a:ln/>
        </p:spPr>
        <p:txBody>
          <a:bodyPr wrap="square" lIns="0" tIns="0" rIns="0" bIns="0" rtlCol="0" anchor="t"/>
          <a:lstStyle/>
          <a:p>
            <a:pPr algn="r" indent="0" marL="0">
              <a:buNone/>
            </a:pPr>
            <a:r>
              <a:rPr lang="en-US" sz="900" dirty="0">
                <a:solidFill>
                  <a:srgbClr val="8A94A3"/>
                </a:solidFill>
                <a:latin typeface="Calibri" pitchFamily="34" charset="0"/>
                <a:ea typeface="Calibri" pitchFamily="34" charset="-122"/>
                <a:cs typeface="Calibri" pitchFamily="34" charset="-120"/>
              </a:rPr>
              <a:t>14 / 21</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300" kern="0" dirty="0">
                <a:solidFill>
                  <a:srgbClr val="C7811A"/>
                </a:solidFill>
                <a:latin typeface="Calibri" pitchFamily="34" charset="0"/>
                <a:ea typeface="Calibri" pitchFamily="34" charset="-122"/>
                <a:cs typeface="Calibri" pitchFamily="34" charset="-120"/>
              </a:rPr>
              <a:t>KUBERNETES INTEGRATION</a:t>
            </a:r>
            <a:endParaRPr lang="en-US" sz="11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rgbClr val="13223A"/>
                </a:solidFill>
                <a:latin typeface="Cambria" pitchFamily="34" charset="0"/>
                <a:ea typeface="Cambria" pitchFamily="34" charset="-122"/>
                <a:cs typeface="Cambria" pitchFamily="34" charset="-120"/>
              </a:rPr>
              <a:t>From simulator to cluster</a:t>
            </a:r>
            <a:endParaRPr lang="en-US" sz="3000" dirty="0"/>
          </a:p>
        </p:txBody>
      </p:sp>
      <p:sp>
        <p:nvSpPr>
          <p:cNvPr id="4" name="Shape 2"/>
          <p:cNvSpPr/>
          <p:nvPr/>
        </p:nvSpPr>
        <p:spPr>
          <a:xfrm>
            <a:off x="548640" y="1554480"/>
            <a:ext cx="3502152" cy="2103120"/>
          </a:xfrm>
          <a:prstGeom prst="roundRect">
            <a:avLst>
              <a:gd name="adj" fmla="val 3478"/>
            </a:avLst>
          </a:prstGeom>
          <a:solidFill>
            <a:srgbClr val="F3F5F8"/>
          </a:solidFill>
          <a:ln w="12700">
            <a:solidFill>
              <a:srgbClr val="F3F5F8"/>
            </a:solidFill>
            <a:prstDash val="solid"/>
          </a:ln>
        </p:spPr>
      </p:sp>
      <p:sp>
        <p:nvSpPr>
          <p:cNvPr id="5" name="Shape 3"/>
          <p:cNvSpPr/>
          <p:nvPr/>
        </p:nvSpPr>
        <p:spPr>
          <a:xfrm>
            <a:off x="777240" y="1783080"/>
            <a:ext cx="1188720" cy="274320"/>
          </a:xfrm>
          <a:prstGeom prst="roundRect">
            <a:avLst>
              <a:gd name="adj" fmla="val 50000"/>
            </a:avLst>
          </a:prstGeom>
          <a:solidFill>
            <a:srgbClr val="0F766E"/>
          </a:solidFill>
          <a:ln w="12700">
            <a:solidFill>
              <a:srgbClr val="0F766E"/>
            </a:solidFill>
            <a:prstDash val="solid"/>
          </a:ln>
        </p:spPr>
      </p:sp>
      <p:sp>
        <p:nvSpPr>
          <p:cNvPr id="6" name="Text 4"/>
          <p:cNvSpPr txBox="1"/>
          <p:nvPr/>
        </p:nvSpPr>
        <p:spPr>
          <a:xfrm>
            <a:off x="777240" y="1783080"/>
            <a:ext cx="11887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Complete</a:t>
            </a:r>
            <a:endParaRPr lang="en-US" sz="1000" dirty="0"/>
          </a:p>
        </p:txBody>
      </p:sp>
      <p:sp>
        <p:nvSpPr>
          <p:cNvPr id="7" name="Text 5"/>
          <p:cNvSpPr txBox="1"/>
          <p:nvPr/>
        </p:nvSpPr>
        <p:spPr>
          <a:xfrm>
            <a:off x="777240" y="2194560"/>
            <a:ext cx="3063240" cy="411480"/>
          </a:xfrm>
          <a:prstGeom prst="rect">
            <a:avLst/>
          </a:prstGeom>
          <a:noFill/>
          <a:ln/>
        </p:spPr>
        <p:txBody>
          <a:bodyPr wrap="square" lIns="0" tIns="0" rIns="0" bIns="0" rtlCol="0" anchor="t"/>
          <a:lstStyle/>
          <a:p>
            <a:pPr indent="0" marL="0">
              <a:buNone/>
            </a:pPr>
            <a:r>
              <a:rPr lang="en-US" sz="1550" b="1" dirty="0">
                <a:solidFill>
                  <a:srgbClr val="13223A"/>
                </a:solidFill>
                <a:latin typeface="Cambria" pitchFamily="34" charset="0"/>
                <a:ea typeface="Cambria" pitchFamily="34" charset="-122"/>
                <a:cs typeface="Cambria" pitchFamily="34" charset="-120"/>
              </a:rPr>
              <a:t>CustomResourceDefinition</a:t>
            </a:r>
            <a:endParaRPr lang="en-US" sz="1550" dirty="0"/>
          </a:p>
        </p:txBody>
      </p:sp>
      <p:sp>
        <p:nvSpPr>
          <p:cNvPr id="8" name="Text 6"/>
          <p:cNvSpPr txBox="1"/>
          <p:nvPr/>
        </p:nvSpPr>
        <p:spPr>
          <a:xfrm>
            <a:off x="777240" y="2606040"/>
            <a:ext cx="3063240" cy="96012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chimeraautoscalers.autoscaling.k8s.io declares LQR weights, resource bounds and safety margins as a first-class cluster object.</a:t>
            </a:r>
            <a:endParaRPr lang="en-US" sz="1200" dirty="0"/>
          </a:p>
        </p:txBody>
      </p:sp>
      <p:sp>
        <p:nvSpPr>
          <p:cNvPr id="9" name="Shape 7"/>
          <p:cNvSpPr/>
          <p:nvPr/>
        </p:nvSpPr>
        <p:spPr>
          <a:xfrm>
            <a:off x="4297680" y="1554480"/>
            <a:ext cx="3502152" cy="2103120"/>
          </a:xfrm>
          <a:prstGeom prst="roundRect">
            <a:avLst>
              <a:gd name="adj" fmla="val 3478"/>
            </a:avLst>
          </a:prstGeom>
          <a:solidFill>
            <a:srgbClr val="F3F5F8"/>
          </a:solidFill>
          <a:ln w="12700">
            <a:solidFill>
              <a:srgbClr val="F3F5F8"/>
            </a:solidFill>
            <a:prstDash val="solid"/>
          </a:ln>
        </p:spPr>
      </p:sp>
      <p:sp>
        <p:nvSpPr>
          <p:cNvPr id="10" name="Shape 8"/>
          <p:cNvSpPr/>
          <p:nvPr/>
        </p:nvSpPr>
        <p:spPr>
          <a:xfrm>
            <a:off x="4526280" y="1783080"/>
            <a:ext cx="1188720" cy="274320"/>
          </a:xfrm>
          <a:prstGeom prst="roundRect">
            <a:avLst>
              <a:gd name="adj" fmla="val 50000"/>
            </a:avLst>
          </a:prstGeom>
          <a:solidFill>
            <a:srgbClr val="0F766E"/>
          </a:solidFill>
          <a:ln w="12700">
            <a:solidFill>
              <a:srgbClr val="0F766E"/>
            </a:solidFill>
            <a:prstDash val="solid"/>
          </a:ln>
        </p:spPr>
      </p:sp>
      <p:sp>
        <p:nvSpPr>
          <p:cNvPr id="11" name="Text 9"/>
          <p:cNvSpPr txBox="1"/>
          <p:nvPr/>
        </p:nvSpPr>
        <p:spPr>
          <a:xfrm>
            <a:off x="4526280" y="1783080"/>
            <a:ext cx="11887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Complete</a:t>
            </a:r>
            <a:endParaRPr lang="en-US" sz="1000" dirty="0"/>
          </a:p>
        </p:txBody>
      </p:sp>
      <p:sp>
        <p:nvSpPr>
          <p:cNvPr id="12" name="Text 10"/>
          <p:cNvSpPr txBox="1"/>
          <p:nvPr/>
        </p:nvSpPr>
        <p:spPr>
          <a:xfrm>
            <a:off x="4526280" y="2194560"/>
            <a:ext cx="3063240" cy="411480"/>
          </a:xfrm>
          <a:prstGeom prst="rect">
            <a:avLst/>
          </a:prstGeom>
          <a:noFill/>
          <a:ln/>
        </p:spPr>
        <p:txBody>
          <a:bodyPr wrap="square" lIns="0" tIns="0" rIns="0" bIns="0" rtlCol="0" anchor="t"/>
          <a:lstStyle/>
          <a:p>
            <a:pPr indent="0" marL="0">
              <a:buNone/>
            </a:pPr>
            <a:r>
              <a:rPr lang="en-US" sz="1550" b="1" dirty="0">
                <a:solidFill>
                  <a:srgbClr val="13223A"/>
                </a:solidFill>
                <a:latin typeface="Cambria" pitchFamily="34" charset="0"/>
                <a:ea typeface="Cambria" pitchFamily="34" charset="-122"/>
                <a:cs typeface="Cambria" pitchFamily="34" charset="-120"/>
              </a:rPr>
              <a:t>RBAC + controller manifest</a:t>
            </a:r>
            <a:endParaRPr lang="en-US" sz="1550" dirty="0"/>
          </a:p>
        </p:txBody>
      </p:sp>
      <p:sp>
        <p:nvSpPr>
          <p:cNvPr id="13" name="Text 11"/>
          <p:cNvSpPr txBox="1"/>
          <p:nvPr/>
        </p:nvSpPr>
        <p:spPr>
          <a:xfrm>
            <a:off x="4526280" y="2606040"/>
            <a:ext cx="3063240" cy="96012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Operator granted patch rights on deployments and their pod templates.</a:t>
            </a:r>
            <a:endParaRPr lang="en-US" sz="1200" dirty="0"/>
          </a:p>
        </p:txBody>
      </p:sp>
      <p:sp>
        <p:nvSpPr>
          <p:cNvPr id="14" name="Shape 12"/>
          <p:cNvSpPr/>
          <p:nvPr/>
        </p:nvSpPr>
        <p:spPr>
          <a:xfrm>
            <a:off x="8046720" y="1554480"/>
            <a:ext cx="3502152" cy="2103120"/>
          </a:xfrm>
          <a:prstGeom prst="roundRect">
            <a:avLst>
              <a:gd name="adj" fmla="val 3478"/>
            </a:avLst>
          </a:prstGeom>
          <a:solidFill>
            <a:srgbClr val="F3F5F8"/>
          </a:solidFill>
          <a:ln w="12700">
            <a:solidFill>
              <a:srgbClr val="F3F5F8"/>
            </a:solidFill>
            <a:prstDash val="solid"/>
          </a:ln>
        </p:spPr>
      </p:sp>
      <p:sp>
        <p:nvSpPr>
          <p:cNvPr id="15" name="Shape 13"/>
          <p:cNvSpPr/>
          <p:nvPr/>
        </p:nvSpPr>
        <p:spPr>
          <a:xfrm>
            <a:off x="8275320" y="1783080"/>
            <a:ext cx="1188720" cy="274320"/>
          </a:xfrm>
          <a:prstGeom prst="roundRect">
            <a:avLst>
              <a:gd name="adj" fmla="val 50000"/>
            </a:avLst>
          </a:prstGeom>
          <a:solidFill>
            <a:srgbClr val="0F766E"/>
          </a:solidFill>
          <a:ln w="12700">
            <a:solidFill>
              <a:srgbClr val="0F766E"/>
            </a:solidFill>
            <a:prstDash val="solid"/>
          </a:ln>
        </p:spPr>
      </p:sp>
      <p:sp>
        <p:nvSpPr>
          <p:cNvPr id="16" name="Text 14"/>
          <p:cNvSpPr txBox="1"/>
          <p:nvPr/>
        </p:nvSpPr>
        <p:spPr>
          <a:xfrm>
            <a:off x="8275320" y="1783080"/>
            <a:ext cx="11887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Complete</a:t>
            </a:r>
            <a:endParaRPr lang="en-US" sz="1000" dirty="0"/>
          </a:p>
        </p:txBody>
      </p:sp>
      <p:sp>
        <p:nvSpPr>
          <p:cNvPr id="17" name="Text 15"/>
          <p:cNvSpPr txBox="1"/>
          <p:nvPr/>
        </p:nvSpPr>
        <p:spPr>
          <a:xfrm>
            <a:off x="8275320" y="2194560"/>
            <a:ext cx="3063240" cy="411480"/>
          </a:xfrm>
          <a:prstGeom prst="rect">
            <a:avLst/>
          </a:prstGeom>
          <a:noFill/>
          <a:ln/>
        </p:spPr>
        <p:txBody>
          <a:bodyPr wrap="square" lIns="0" tIns="0" rIns="0" bIns="0" rtlCol="0" anchor="t"/>
          <a:lstStyle/>
          <a:p>
            <a:pPr indent="0" marL="0">
              <a:buNone/>
            </a:pPr>
            <a:r>
              <a:rPr lang="en-US" sz="1550" b="1" dirty="0">
                <a:solidFill>
                  <a:srgbClr val="13223A"/>
                </a:solidFill>
                <a:latin typeface="Cambria" pitchFamily="34" charset="0"/>
                <a:ea typeface="Cambria" pitchFamily="34" charset="-122"/>
                <a:cs typeface="Cambria" pitchFamily="34" charset="-120"/>
              </a:rPr>
              <a:t>Container image</a:t>
            </a:r>
            <a:endParaRPr lang="en-US" sz="1550" dirty="0"/>
          </a:p>
        </p:txBody>
      </p:sp>
      <p:sp>
        <p:nvSpPr>
          <p:cNvPr id="18" name="Text 16"/>
          <p:cNvSpPr txBox="1"/>
          <p:nvPr/>
        </p:nvSpPr>
        <p:spPr>
          <a:xfrm>
            <a:off x="8275320" y="2606040"/>
            <a:ext cx="3063240" cy="96012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Multi-stage Dockerfile packaging the operator and trained CQR models.</a:t>
            </a:r>
            <a:endParaRPr lang="en-US" sz="1200" dirty="0"/>
          </a:p>
        </p:txBody>
      </p:sp>
      <p:sp>
        <p:nvSpPr>
          <p:cNvPr id="19" name="Shape 17"/>
          <p:cNvSpPr/>
          <p:nvPr/>
        </p:nvSpPr>
        <p:spPr>
          <a:xfrm>
            <a:off x="548640" y="3886200"/>
            <a:ext cx="3502152" cy="2103120"/>
          </a:xfrm>
          <a:prstGeom prst="roundRect">
            <a:avLst>
              <a:gd name="adj" fmla="val 3478"/>
            </a:avLst>
          </a:prstGeom>
          <a:solidFill>
            <a:srgbClr val="F3F5F8"/>
          </a:solidFill>
          <a:ln w="12700">
            <a:solidFill>
              <a:srgbClr val="F3F5F8"/>
            </a:solidFill>
            <a:prstDash val="solid"/>
          </a:ln>
        </p:spPr>
      </p:sp>
      <p:sp>
        <p:nvSpPr>
          <p:cNvPr id="20" name="Shape 18"/>
          <p:cNvSpPr/>
          <p:nvPr/>
        </p:nvSpPr>
        <p:spPr>
          <a:xfrm>
            <a:off x="777240" y="4114800"/>
            <a:ext cx="1188720" cy="274320"/>
          </a:xfrm>
          <a:prstGeom prst="roundRect">
            <a:avLst>
              <a:gd name="adj" fmla="val 50000"/>
            </a:avLst>
          </a:prstGeom>
          <a:solidFill>
            <a:srgbClr val="C7811A"/>
          </a:solidFill>
          <a:ln w="12700">
            <a:solidFill>
              <a:srgbClr val="C7811A"/>
            </a:solidFill>
            <a:prstDash val="solid"/>
          </a:ln>
        </p:spPr>
      </p:sp>
      <p:sp>
        <p:nvSpPr>
          <p:cNvPr id="21" name="Text 19"/>
          <p:cNvSpPr txBox="1"/>
          <p:nvPr/>
        </p:nvSpPr>
        <p:spPr>
          <a:xfrm>
            <a:off x="777240" y="4114800"/>
            <a:ext cx="11887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Prototype</a:t>
            </a:r>
            <a:endParaRPr lang="en-US" sz="1000" dirty="0"/>
          </a:p>
        </p:txBody>
      </p:sp>
      <p:sp>
        <p:nvSpPr>
          <p:cNvPr id="22" name="Text 20"/>
          <p:cNvSpPr txBox="1"/>
          <p:nvPr/>
        </p:nvSpPr>
        <p:spPr>
          <a:xfrm>
            <a:off x="777240" y="4526280"/>
            <a:ext cx="3063240" cy="411480"/>
          </a:xfrm>
          <a:prstGeom prst="rect">
            <a:avLst/>
          </a:prstGeom>
          <a:noFill/>
          <a:ln/>
        </p:spPr>
        <p:txBody>
          <a:bodyPr wrap="square" lIns="0" tIns="0" rIns="0" bIns="0" rtlCol="0" anchor="t"/>
          <a:lstStyle/>
          <a:p>
            <a:pPr indent="0" marL="0">
              <a:buNone/>
            </a:pPr>
            <a:r>
              <a:rPr lang="en-US" sz="1550" b="1" dirty="0">
                <a:solidFill>
                  <a:srgbClr val="13223A"/>
                </a:solidFill>
                <a:latin typeface="Cambria" pitchFamily="34" charset="0"/>
                <a:ea typeface="Cambria" pitchFamily="34" charset="-122"/>
                <a:cs typeface="Cambria" pitchFamily="34" charset="-120"/>
              </a:rPr>
              <a:t>Reconciler loop</a:t>
            </a:r>
            <a:endParaRPr lang="en-US" sz="1550" dirty="0"/>
          </a:p>
        </p:txBody>
      </p:sp>
      <p:sp>
        <p:nvSpPr>
          <p:cNvPr id="23" name="Text 21"/>
          <p:cNvSpPr txBox="1"/>
          <p:nvPr/>
        </p:nvSpPr>
        <p:spPr>
          <a:xfrm>
            <a:off x="777240" y="4937760"/>
            <a:ext cx="3063240" cy="96012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Watches CR events, reads current limits, runs the control law, patches replicas and CPU limits.</a:t>
            </a:r>
            <a:endParaRPr lang="en-US" sz="1200" dirty="0"/>
          </a:p>
        </p:txBody>
      </p:sp>
      <p:sp>
        <p:nvSpPr>
          <p:cNvPr id="24" name="Shape 22"/>
          <p:cNvSpPr/>
          <p:nvPr/>
        </p:nvSpPr>
        <p:spPr>
          <a:xfrm>
            <a:off x="4297680" y="3886200"/>
            <a:ext cx="3502152" cy="2103120"/>
          </a:xfrm>
          <a:prstGeom prst="roundRect">
            <a:avLst>
              <a:gd name="adj" fmla="val 3478"/>
            </a:avLst>
          </a:prstGeom>
          <a:solidFill>
            <a:srgbClr val="F3F5F8"/>
          </a:solidFill>
          <a:ln w="12700">
            <a:solidFill>
              <a:srgbClr val="F3F5F8"/>
            </a:solidFill>
            <a:prstDash val="solid"/>
          </a:ln>
        </p:spPr>
      </p:sp>
      <p:sp>
        <p:nvSpPr>
          <p:cNvPr id="25" name="Shape 23"/>
          <p:cNvSpPr/>
          <p:nvPr/>
        </p:nvSpPr>
        <p:spPr>
          <a:xfrm>
            <a:off x="4526280" y="4114800"/>
            <a:ext cx="1188720" cy="274320"/>
          </a:xfrm>
          <a:prstGeom prst="roundRect">
            <a:avLst>
              <a:gd name="adj" fmla="val 50000"/>
            </a:avLst>
          </a:prstGeom>
          <a:solidFill>
            <a:srgbClr val="B42318"/>
          </a:solidFill>
          <a:ln w="12700">
            <a:solidFill>
              <a:srgbClr val="B42318"/>
            </a:solidFill>
            <a:prstDash val="solid"/>
          </a:ln>
        </p:spPr>
      </p:sp>
      <p:sp>
        <p:nvSpPr>
          <p:cNvPr id="26" name="Text 24"/>
          <p:cNvSpPr txBox="1"/>
          <p:nvPr/>
        </p:nvSpPr>
        <p:spPr>
          <a:xfrm>
            <a:off x="4526280" y="4114800"/>
            <a:ext cx="11887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Mocked</a:t>
            </a:r>
            <a:endParaRPr lang="en-US" sz="1000" dirty="0"/>
          </a:p>
        </p:txBody>
      </p:sp>
      <p:sp>
        <p:nvSpPr>
          <p:cNvPr id="27" name="Text 25"/>
          <p:cNvSpPr txBox="1"/>
          <p:nvPr/>
        </p:nvSpPr>
        <p:spPr>
          <a:xfrm>
            <a:off x="4526280" y="4526280"/>
            <a:ext cx="3063240" cy="411480"/>
          </a:xfrm>
          <a:prstGeom prst="rect">
            <a:avLst/>
          </a:prstGeom>
          <a:noFill/>
          <a:ln/>
        </p:spPr>
        <p:txBody>
          <a:bodyPr wrap="square" lIns="0" tIns="0" rIns="0" bIns="0" rtlCol="0" anchor="t"/>
          <a:lstStyle/>
          <a:p>
            <a:pPr indent="0" marL="0">
              <a:buNone/>
            </a:pPr>
            <a:r>
              <a:rPr lang="en-US" sz="1550" b="1" dirty="0">
                <a:solidFill>
                  <a:srgbClr val="13223A"/>
                </a:solidFill>
                <a:latin typeface="Cambria" pitchFamily="34" charset="0"/>
                <a:ea typeface="Cambria" pitchFamily="34" charset="-122"/>
                <a:cs typeface="Cambria" pitchFamily="34" charset="-120"/>
              </a:rPr>
              <a:t>Prometheus adapter</a:t>
            </a:r>
            <a:endParaRPr lang="en-US" sz="1550" dirty="0"/>
          </a:p>
        </p:txBody>
      </p:sp>
      <p:sp>
        <p:nvSpPr>
          <p:cNvPr id="28" name="Text 26"/>
          <p:cNvSpPr txBox="1"/>
          <p:nvPr/>
        </p:nvSpPr>
        <p:spPr>
          <a:xfrm>
            <a:off x="4526280" y="4937760"/>
            <a:ext cx="3063240" cy="96012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Telemetry currently returns synthetic load; the PromQL client is the next task.</a:t>
            </a:r>
            <a:endParaRPr lang="en-US" sz="1200" dirty="0"/>
          </a:p>
        </p:txBody>
      </p:sp>
      <p:sp>
        <p:nvSpPr>
          <p:cNvPr id="29" name="Shape 27"/>
          <p:cNvSpPr/>
          <p:nvPr/>
        </p:nvSpPr>
        <p:spPr>
          <a:xfrm>
            <a:off x="8046720" y="3886200"/>
            <a:ext cx="3502152" cy="2103120"/>
          </a:xfrm>
          <a:prstGeom prst="roundRect">
            <a:avLst>
              <a:gd name="adj" fmla="val 3478"/>
            </a:avLst>
          </a:prstGeom>
          <a:solidFill>
            <a:srgbClr val="F3F5F8"/>
          </a:solidFill>
          <a:ln w="12700">
            <a:solidFill>
              <a:srgbClr val="F3F5F8"/>
            </a:solidFill>
            <a:prstDash val="solid"/>
          </a:ln>
        </p:spPr>
      </p:sp>
      <p:sp>
        <p:nvSpPr>
          <p:cNvPr id="30" name="Shape 28"/>
          <p:cNvSpPr/>
          <p:nvPr/>
        </p:nvSpPr>
        <p:spPr>
          <a:xfrm>
            <a:off x="8275320" y="4114800"/>
            <a:ext cx="1188720" cy="274320"/>
          </a:xfrm>
          <a:prstGeom prst="roundRect">
            <a:avLst>
              <a:gd name="adj" fmla="val 50000"/>
            </a:avLst>
          </a:prstGeom>
          <a:solidFill>
            <a:srgbClr val="6B7280"/>
          </a:solidFill>
          <a:ln w="12700">
            <a:solidFill>
              <a:srgbClr val="6B7280"/>
            </a:solidFill>
            <a:prstDash val="solid"/>
          </a:ln>
        </p:spPr>
      </p:sp>
      <p:sp>
        <p:nvSpPr>
          <p:cNvPr id="31" name="Text 29"/>
          <p:cNvSpPr txBox="1"/>
          <p:nvPr/>
        </p:nvSpPr>
        <p:spPr>
          <a:xfrm>
            <a:off x="8275320" y="4114800"/>
            <a:ext cx="11887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Not started</a:t>
            </a:r>
            <a:endParaRPr lang="en-US" sz="1000" dirty="0"/>
          </a:p>
        </p:txBody>
      </p:sp>
      <p:sp>
        <p:nvSpPr>
          <p:cNvPr id="32" name="Text 30"/>
          <p:cNvSpPr txBox="1"/>
          <p:nvPr/>
        </p:nvSpPr>
        <p:spPr>
          <a:xfrm>
            <a:off x="8275320" y="4526280"/>
            <a:ext cx="3063240" cy="411480"/>
          </a:xfrm>
          <a:prstGeom prst="rect">
            <a:avLst/>
          </a:prstGeom>
          <a:noFill/>
          <a:ln/>
        </p:spPr>
        <p:txBody>
          <a:bodyPr wrap="square" lIns="0" tIns="0" rIns="0" bIns="0" rtlCol="0" anchor="t"/>
          <a:lstStyle/>
          <a:p>
            <a:pPr indent="0" marL="0">
              <a:buNone/>
            </a:pPr>
            <a:r>
              <a:rPr lang="en-US" sz="1550" b="1" dirty="0">
                <a:solidFill>
                  <a:srgbClr val="13223A"/>
                </a:solidFill>
                <a:latin typeface="Cambria" pitchFamily="34" charset="0"/>
                <a:ea typeface="Cambria" pitchFamily="34" charset="-122"/>
                <a:cs typeface="Cambria" pitchFamily="34" charset="-120"/>
              </a:rPr>
              <a:t>In-place resize on a live cluster</a:t>
            </a:r>
            <a:endParaRPr lang="en-US" sz="1550" dirty="0"/>
          </a:p>
        </p:txBody>
      </p:sp>
      <p:sp>
        <p:nvSpPr>
          <p:cNvPr id="33" name="Text 31"/>
          <p:cNvSpPr txBox="1"/>
          <p:nvPr/>
        </p:nvSpPr>
        <p:spPr>
          <a:xfrm>
            <a:off x="8275320" y="4937760"/>
            <a:ext cx="3063240" cy="96012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Requires the InPlacePodVerticalScaling feature gate on Kubernetes ≥ 1.27.</a:t>
            </a:r>
            <a:endParaRPr lang="en-US" sz="1200" dirty="0"/>
          </a:p>
        </p:txBody>
      </p:sp>
      <p:sp>
        <p:nvSpPr>
          <p:cNvPr id="34" name="Text 32"/>
          <p:cNvSpPr txBox="1"/>
          <p:nvPr/>
        </p:nvSpPr>
        <p:spPr>
          <a:xfrm>
            <a:off x="548640" y="6419088"/>
            <a:ext cx="8229600" cy="228600"/>
          </a:xfrm>
          <a:prstGeom prst="rect">
            <a:avLst/>
          </a:prstGeom>
          <a:noFill/>
          <a:ln/>
        </p:spPr>
        <p:txBody>
          <a:bodyPr wrap="square" lIns="0" tIns="0" rIns="0" bIns="0" rtlCol="0" anchor="t"/>
          <a:lstStyle/>
          <a:p>
            <a:pPr indent="0" marL="0">
              <a:buNone/>
            </a:pPr>
            <a:r>
              <a:rPr lang="en-US" sz="900" dirty="0">
                <a:solidFill>
                  <a:srgbClr val="8A94A3"/>
                </a:solidFill>
                <a:latin typeface="Calibri" pitchFamily="34" charset="0"/>
                <a:ea typeface="Calibri" pitchFamily="34" charset="-122"/>
                <a:cs typeface="Calibri" pitchFamily="34" charset="-120"/>
              </a:rPr>
              <a:t>VIT Vellore  ·  BCSE303P Operating Systems Laboratory  ·  CHIMERA  ·  Review 2</a:t>
            </a:r>
            <a:endParaRPr lang="en-US" sz="900" dirty="0"/>
          </a:p>
        </p:txBody>
      </p:sp>
      <p:sp>
        <p:nvSpPr>
          <p:cNvPr id="35" name="Text 33"/>
          <p:cNvSpPr txBox="1"/>
          <p:nvPr/>
        </p:nvSpPr>
        <p:spPr>
          <a:xfrm>
            <a:off x="10725912" y="6419088"/>
            <a:ext cx="914400" cy="228600"/>
          </a:xfrm>
          <a:prstGeom prst="rect">
            <a:avLst/>
          </a:prstGeom>
          <a:noFill/>
          <a:ln/>
        </p:spPr>
        <p:txBody>
          <a:bodyPr wrap="square" lIns="0" tIns="0" rIns="0" bIns="0" rtlCol="0" anchor="t"/>
          <a:lstStyle/>
          <a:p>
            <a:pPr algn="r" indent="0" marL="0">
              <a:buNone/>
            </a:pPr>
            <a:r>
              <a:rPr lang="en-US" sz="900" dirty="0">
                <a:solidFill>
                  <a:srgbClr val="8A94A3"/>
                </a:solidFill>
                <a:latin typeface="Calibri" pitchFamily="34" charset="0"/>
                <a:ea typeface="Calibri" pitchFamily="34" charset="-122"/>
                <a:cs typeface="Calibri" pitchFamily="34" charset="-120"/>
              </a:rPr>
              <a:t>15 / 21</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300" kern="0" dirty="0">
                <a:solidFill>
                  <a:srgbClr val="C7811A"/>
                </a:solidFill>
                <a:latin typeface="Calibri" pitchFamily="34" charset="0"/>
                <a:ea typeface="Calibri" pitchFamily="34" charset="-122"/>
                <a:cs typeface="Calibri" pitchFamily="34" charset="-120"/>
              </a:rPr>
              <a:t>OUTPUTS</a:t>
            </a:r>
            <a:endParaRPr lang="en-US" sz="11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rgbClr val="13223A"/>
                </a:solidFill>
                <a:latin typeface="Cambria" pitchFamily="34" charset="0"/>
                <a:ea typeface="Cambria" pitchFamily="34" charset="-122"/>
                <a:cs typeface="Cambria" pitchFamily="34" charset="-120"/>
              </a:rPr>
              <a:t>Test suite and the live demonstration run</a:t>
            </a:r>
            <a:endParaRPr lang="en-US" sz="3000" dirty="0"/>
          </a:p>
        </p:txBody>
      </p:sp>
      <p:pic>
        <p:nvPicPr>
          <p:cNvPr id="4" name="Image 0" descr="img/image-13-1.png">    </p:cNvPr>
          <p:cNvPicPr>
            <a:picLocks noChangeAspect="1"/>
          </p:cNvPicPr>
          <p:nvPr/>
        </p:nvPicPr>
        <p:blipFill>
          <a:blip r:embed="rId1"/>
          <a:stretch>
            <a:fillRect/>
          </a:stretch>
        </p:blipFill>
        <p:spPr>
          <a:xfrm>
            <a:off x="548640" y="1600200"/>
            <a:ext cx="5440680" cy="2540229"/>
          </a:xfrm>
          <a:prstGeom prst="rect">
            <a:avLst/>
          </a:prstGeom>
        </p:spPr>
      </p:pic>
      <p:pic>
        <p:nvPicPr>
          <p:cNvPr id="5" name="Image 1" descr="img/demo_run.png">    </p:cNvPr>
          <p:cNvPicPr>
            <a:picLocks noChangeAspect="1"/>
          </p:cNvPicPr>
          <p:nvPr/>
        </p:nvPicPr>
        <p:blipFill>
          <a:blip r:embed="rId2"/>
          <a:stretch>
            <a:fillRect/>
          </a:stretch>
        </p:blipFill>
        <p:spPr>
          <a:xfrm>
            <a:off x="6199632" y="1600200"/>
            <a:ext cx="5440680" cy="2824968"/>
          </a:xfrm>
          <a:prstGeom prst="rect">
            <a:avLst/>
          </a:prstGeom>
        </p:spPr>
      </p:pic>
      <p:sp>
        <p:nvSpPr>
          <p:cNvPr id="6" name="Text 2"/>
          <p:cNvSpPr txBox="1"/>
          <p:nvPr/>
        </p:nvSpPr>
        <p:spPr>
          <a:xfrm>
            <a:off x="548640" y="4323309"/>
            <a:ext cx="5440680" cy="640080"/>
          </a:xfrm>
          <a:prstGeom prst="rect">
            <a:avLst/>
          </a:prstGeom>
          <a:noFill/>
          <a:ln/>
        </p:spPr>
        <p:txBody>
          <a:bodyPr wrap="square" lIns="0" tIns="0" rIns="0" bIns="0" rtlCol="0" anchor="t"/>
          <a:lstStyle/>
          <a:p>
            <a:pPr indent="0" marL="0">
              <a:buNone/>
            </a:pPr>
            <a:r>
              <a:rPr lang="en-US" sz="1250" b="1" dirty="0">
                <a:solidFill>
                  <a:srgbClr val="13223A"/>
                </a:solidFill>
                <a:latin typeface="Calibri" pitchFamily="34" charset="0"/>
                <a:ea typeface="Calibri" pitchFamily="34" charset="-122"/>
                <a:cs typeface="Calibri" pitchFamily="34" charset="-120"/>
              </a:rPr>
              <a:t>Unit tests  </a:t>
            </a:r>
            <a:pPr indent="0" marL="0">
              <a:buNone/>
            </a:pPr>
            <a:r>
              <a:rPr lang="en-US" sz="1250" dirty="0">
                <a:solidFill>
                  <a:srgbClr val="1F2937"/>
                </a:solidFill>
                <a:latin typeface="Calibri" pitchFamily="34" charset="0"/>
                <a:ea typeface="Calibri" pitchFamily="34" charset="-122"/>
                <a:cs typeface="Calibri" pitchFamily="34" charset="-120"/>
              </a:rPr>
              <a:t>All six pass: Riccati solve, Lyapunov drift, coupling penalty, CQR bounds, ADWIN, REI.</a:t>
            </a:r>
            <a:endParaRPr lang="en-US" sz="1250" dirty="0"/>
          </a:p>
        </p:txBody>
      </p:sp>
      <p:sp>
        <p:nvSpPr>
          <p:cNvPr id="7" name="Text 3"/>
          <p:cNvSpPr txBox="1"/>
          <p:nvPr/>
        </p:nvSpPr>
        <p:spPr>
          <a:xfrm>
            <a:off x="6199632" y="4608048"/>
            <a:ext cx="5440680" cy="914400"/>
          </a:xfrm>
          <a:prstGeom prst="rect">
            <a:avLst/>
          </a:prstGeom>
          <a:noFill/>
          <a:ln/>
        </p:spPr>
        <p:txBody>
          <a:bodyPr wrap="square" lIns="0" tIns="0" rIns="0" bIns="0" rtlCol="0" anchor="t"/>
          <a:lstStyle/>
          <a:p>
            <a:pPr indent="0" marL="0">
              <a:buNone/>
            </a:pPr>
            <a:r>
              <a:rPr lang="en-US" sz="1250" b="1" dirty="0">
                <a:solidFill>
                  <a:srgbClr val="13223A"/>
                </a:solidFill>
                <a:latin typeface="Calibri" pitchFamily="34" charset="0"/>
                <a:ea typeface="Calibri" pitchFamily="34" charset="-122"/>
                <a:cs typeface="Calibri" pitchFamily="34" charset="-120"/>
              </a:rPr>
              <a:t>demo_run.py  </a:t>
            </a:r>
            <a:pPr indent="0" marL="0">
              <a:buNone/>
            </a:pPr>
            <a:r>
              <a:rPr lang="en-US" sz="1250" dirty="0">
                <a:solidFill>
                  <a:srgbClr val="1F2937"/>
                </a:solidFill>
                <a:latin typeface="Calibri" pitchFamily="34" charset="0"/>
                <a:ea typeface="Calibri" pitchFamily="34" charset="-122"/>
                <a:cs typeface="Calibri" pitchFamily="34" charset="-120"/>
              </a:rPr>
              <a:t>Real trace w_0004, seed 42: 4.8 points fewer SLO violations than HPA with less than half the pods (4.1 vs 9.0 on average), at comparable CPU (151.5 vs 135.4 CPU-minutes).</a:t>
            </a:r>
            <a:endParaRPr lang="en-US" sz="1250" dirty="0"/>
          </a:p>
        </p:txBody>
      </p:sp>
      <p:sp>
        <p:nvSpPr>
          <p:cNvPr id="8" name="Text 4"/>
          <p:cNvSpPr txBox="1"/>
          <p:nvPr/>
        </p:nvSpPr>
        <p:spPr>
          <a:xfrm>
            <a:off x="548640" y="6419088"/>
            <a:ext cx="8229600" cy="228600"/>
          </a:xfrm>
          <a:prstGeom prst="rect">
            <a:avLst/>
          </a:prstGeom>
          <a:noFill/>
          <a:ln/>
        </p:spPr>
        <p:txBody>
          <a:bodyPr wrap="square" lIns="0" tIns="0" rIns="0" bIns="0" rtlCol="0" anchor="t"/>
          <a:lstStyle/>
          <a:p>
            <a:pPr indent="0" marL="0">
              <a:buNone/>
            </a:pPr>
            <a:r>
              <a:rPr lang="en-US" sz="900" dirty="0">
                <a:solidFill>
                  <a:srgbClr val="8A94A3"/>
                </a:solidFill>
                <a:latin typeface="Calibri" pitchFamily="34" charset="0"/>
                <a:ea typeface="Calibri" pitchFamily="34" charset="-122"/>
                <a:cs typeface="Calibri" pitchFamily="34" charset="-120"/>
              </a:rPr>
              <a:t>VIT Vellore  ·  BCSE303P Operating Systems Laboratory  ·  CHIMERA  ·  Review 2</a:t>
            </a:r>
            <a:endParaRPr lang="en-US" sz="900" dirty="0"/>
          </a:p>
        </p:txBody>
      </p:sp>
      <p:sp>
        <p:nvSpPr>
          <p:cNvPr id="9" name="Text 5"/>
          <p:cNvSpPr txBox="1"/>
          <p:nvPr/>
        </p:nvSpPr>
        <p:spPr>
          <a:xfrm>
            <a:off x="10725912" y="6419088"/>
            <a:ext cx="914400" cy="228600"/>
          </a:xfrm>
          <a:prstGeom prst="rect">
            <a:avLst/>
          </a:prstGeom>
          <a:noFill/>
          <a:ln/>
        </p:spPr>
        <p:txBody>
          <a:bodyPr wrap="square" lIns="0" tIns="0" rIns="0" bIns="0" rtlCol="0" anchor="t"/>
          <a:lstStyle/>
          <a:p>
            <a:pPr algn="r" indent="0" marL="0">
              <a:buNone/>
            </a:pPr>
            <a:r>
              <a:rPr lang="en-US" sz="900" dirty="0">
                <a:solidFill>
                  <a:srgbClr val="8A94A3"/>
                </a:solidFill>
                <a:latin typeface="Calibri" pitchFamily="34" charset="0"/>
                <a:ea typeface="Calibri" pitchFamily="34" charset="-122"/>
                <a:cs typeface="Calibri" pitchFamily="34" charset="-120"/>
              </a:rPr>
              <a:t>16 / 21</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300" kern="0" dirty="0">
                <a:solidFill>
                  <a:srgbClr val="C7811A"/>
                </a:solidFill>
                <a:latin typeface="Calibri" pitchFamily="34" charset="0"/>
                <a:ea typeface="Calibri" pitchFamily="34" charset="-122"/>
                <a:cs typeface="Calibri" pitchFamily="34" charset="-120"/>
              </a:rPr>
              <a:t>OUTPUTS</a:t>
            </a:r>
            <a:endParaRPr lang="en-US" sz="11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rgbClr val="13223A"/>
                </a:solidFill>
                <a:latin typeface="Cambria" pitchFamily="34" charset="0"/>
                <a:ea typeface="Cambria" pitchFamily="34" charset="-122"/>
                <a:cs typeface="Cambria" pitchFamily="34" charset="-120"/>
              </a:rPr>
              <a:t>Results database and cluster objects</a:t>
            </a:r>
            <a:endParaRPr lang="en-US" sz="3000" dirty="0"/>
          </a:p>
        </p:txBody>
      </p:sp>
      <p:pic>
        <p:nvPicPr>
          <p:cNvPr id="4" name="Image 0" descr="img/image-14-1.png">    </p:cNvPr>
          <p:cNvPicPr>
            <a:picLocks noChangeAspect="1"/>
          </p:cNvPicPr>
          <p:nvPr/>
        </p:nvPicPr>
        <p:blipFill>
          <a:blip r:embed="rId1"/>
          <a:stretch>
            <a:fillRect/>
          </a:stretch>
        </p:blipFill>
        <p:spPr>
          <a:xfrm>
            <a:off x="548640" y="1600200"/>
            <a:ext cx="6309360" cy="2239823"/>
          </a:xfrm>
          <a:prstGeom prst="rect">
            <a:avLst/>
          </a:prstGeom>
        </p:spPr>
      </p:pic>
      <p:pic>
        <p:nvPicPr>
          <p:cNvPr id="5" name="Image 1" descr="img/image-14-2.png">    </p:cNvPr>
          <p:cNvPicPr>
            <a:picLocks noChangeAspect="1"/>
          </p:cNvPicPr>
          <p:nvPr/>
        </p:nvPicPr>
        <p:blipFill>
          <a:blip r:embed="rId2"/>
          <a:stretch>
            <a:fillRect/>
          </a:stretch>
        </p:blipFill>
        <p:spPr>
          <a:xfrm>
            <a:off x="7114032" y="1600200"/>
            <a:ext cx="4526280" cy="3223771"/>
          </a:xfrm>
          <a:prstGeom prst="rect">
            <a:avLst/>
          </a:prstGeom>
        </p:spPr>
      </p:pic>
      <p:sp>
        <p:nvSpPr>
          <p:cNvPr id="6" name="Text 2"/>
          <p:cNvSpPr txBox="1"/>
          <p:nvPr/>
        </p:nvSpPr>
        <p:spPr>
          <a:xfrm>
            <a:off x="548640" y="4022903"/>
            <a:ext cx="6309360" cy="731520"/>
          </a:xfrm>
          <a:prstGeom prst="rect">
            <a:avLst/>
          </a:prstGeom>
          <a:noFill/>
          <a:ln/>
        </p:spPr>
        <p:txBody>
          <a:bodyPr wrap="square" lIns="0" tIns="0" rIns="0" bIns="0" rtlCol="0" anchor="t"/>
          <a:lstStyle/>
          <a:p>
            <a:pPr indent="0" marL="0">
              <a:buNone/>
            </a:pPr>
            <a:r>
              <a:rPr lang="en-US" sz="1250" b="1" dirty="0">
                <a:solidFill>
                  <a:srgbClr val="13223A"/>
                </a:solidFill>
                <a:latin typeface="Calibri" pitchFamily="34" charset="0"/>
                <a:ea typeface="Calibri" pitchFamily="34" charset="-122"/>
                <a:cs typeface="Calibri" pitchFamily="34" charset="-120"/>
              </a:rPr>
              <a:t>results_FINAL_verified.csv  </a:t>
            </a:r>
            <a:pPr indent="0" marL="0">
              <a:buNone/>
            </a:pPr>
            <a:r>
              <a:rPr lang="en-US" sz="1250" dirty="0">
                <a:solidFill>
                  <a:srgbClr val="1F2937"/>
                </a:solidFill>
                <a:latin typeface="Calibri" pitchFamily="34" charset="0"/>
                <a:ea typeface="Calibri" pitchFamily="34" charset="-122"/>
                <a:cs typeface="Calibri" pitchFamily="34" charset="-120"/>
              </a:rPr>
              <a:t>Real-trace means per configuration from the 720-run evaluation — the source of every number in this deck.</a:t>
            </a:r>
            <a:endParaRPr lang="en-US" sz="1250" dirty="0"/>
          </a:p>
        </p:txBody>
      </p:sp>
      <p:sp>
        <p:nvSpPr>
          <p:cNvPr id="7" name="Text 3"/>
          <p:cNvSpPr txBox="1"/>
          <p:nvPr/>
        </p:nvSpPr>
        <p:spPr>
          <a:xfrm>
            <a:off x="7114032" y="5006851"/>
            <a:ext cx="4526280" cy="731520"/>
          </a:xfrm>
          <a:prstGeom prst="rect">
            <a:avLst/>
          </a:prstGeom>
          <a:noFill/>
          <a:ln/>
        </p:spPr>
        <p:txBody>
          <a:bodyPr wrap="square" lIns="0" tIns="0" rIns="0" bIns="0" rtlCol="0" anchor="t"/>
          <a:lstStyle/>
          <a:p>
            <a:pPr indent="0" marL="0">
              <a:buNone/>
            </a:pPr>
            <a:r>
              <a:rPr lang="en-US" sz="1250" b="1" dirty="0">
                <a:solidFill>
                  <a:srgbClr val="13223A"/>
                </a:solidFill>
                <a:latin typeface="Calibri" pitchFamily="34" charset="0"/>
                <a:ea typeface="Calibri" pitchFamily="34" charset="-122"/>
                <a:cs typeface="Calibri" pitchFamily="34" charset="-120"/>
              </a:rPr>
              <a:t>Custom resource  </a:t>
            </a:r>
            <a:pPr indent="0" marL="0">
              <a:buNone/>
            </a:pPr>
            <a:r>
              <a:rPr lang="en-US" sz="1250" dirty="0">
                <a:solidFill>
                  <a:srgbClr val="1F2937"/>
                </a:solidFill>
                <a:latin typeface="Calibri" pitchFamily="34" charset="0"/>
                <a:ea typeface="Calibri" pitchFamily="34" charset="-122"/>
                <a:cs typeface="Calibri" pitchFamily="34" charset="-120"/>
              </a:rPr>
              <a:t>chimeraautoscalers.autoscaling.k8s.io — LQR weights and bounds as a cluster object.</a:t>
            </a:r>
            <a:endParaRPr lang="en-US" sz="1250" dirty="0"/>
          </a:p>
        </p:txBody>
      </p:sp>
      <p:sp>
        <p:nvSpPr>
          <p:cNvPr id="8" name="Shape 4"/>
          <p:cNvSpPr/>
          <p:nvPr/>
        </p:nvSpPr>
        <p:spPr>
          <a:xfrm>
            <a:off x="548640" y="4663440"/>
            <a:ext cx="1463040" cy="1280160"/>
          </a:xfrm>
          <a:prstGeom prst="roundRect">
            <a:avLst>
              <a:gd name="adj" fmla="val 5714"/>
            </a:avLst>
          </a:prstGeom>
          <a:solidFill>
            <a:srgbClr val="F3F5F8"/>
          </a:solidFill>
          <a:ln w="12700">
            <a:solidFill>
              <a:srgbClr val="F3F5F8"/>
            </a:solidFill>
            <a:prstDash val="solid"/>
          </a:ln>
        </p:spPr>
      </p:sp>
      <p:sp>
        <p:nvSpPr>
          <p:cNvPr id="9" name="Text 5"/>
          <p:cNvSpPr txBox="1"/>
          <p:nvPr/>
        </p:nvSpPr>
        <p:spPr>
          <a:xfrm>
            <a:off x="731520" y="4800600"/>
            <a:ext cx="1188720" cy="594360"/>
          </a:xfrm>
          <a:prstGeom prst="rect">
            <a:avLst/>
          </a:prstGeom>
          <a:noFill/>
          <a:ln/>
        </p:spPr>
        <p:txBody>
          <a:bodyPr wrap="square" lIns="0" tIns="0" rIns="0" bIns="0" rtlCol="0" anchor="t"/>
          <a:lstStyle/>
          <a:p>
            <a:pPr indent="0" marL="0">
              <a:buNone/>
            </a:pPr>
            <a:r>
              <a:rPr lang="en-US" sz="2800" b="1" dirty="0">
                <a:solidFill>
                  <a:srgbClr val="13223A"/>
                </a:solidFill>
                <a:latin typeface="Cambria" pitchFamily="34" charset="0"/>
                <a:ea typeface="Cambria" pitchFamily="34" charset="-122"/>
                <a:cs typeface="Cambria" pitchFamily="34" charset="-120"/>
              </a:rPr>
              <a:t>720</a:t>
            </a:r>
            <a:endParaRPr lang="en-US" sz="2800" dirty="0"/>
          </a:p>
        </p:txBody>
      </p:sp>
      <p:sp>
        <p:nvSpPr>
          <p:cNvPr id="10" name="Text 6"/>
          <p:cNvSpPr txBox="1"/>
          <p:nvPr/>
        </p:nvSpPr>
        <p:spPr>
          <a:xfrm>
            <a:off x="731520" y="5394960"/>
            <a:ext cx="1188720" cy="320040"/>
          </a:xfrm>
          <a:prstGeom prst="rect">
            <a:avLst/>
          </a:prstGeom>
          <a:noFill/>
          <a:ln/>
        </p:spPr>
        <p:txBody>
          <a:bodyPr wrap="square" lIns="0" tIns="0" rIns="0" bIns="0" rtlCol="0" anchor="t"/>
          <a:lstStyle/>
          <a:p>
            <a:pPr indent="0" marL="0">
              <a:buNone/>
            </a:pPr>
            <a:r>
              <a:rPr lang="en-US" sz="1200" dirty="0">
                <a:solidFill>
                  <a:srgbClr val="5B6675"/>
                </a:solidFill>
                <a:latin typeface="Calibri" pitchFamily="34" charset="0"/>
                <a:ea typeface="Calibri" pitchFamily="34" charset="-122"/>
                <a:cs typeface="Calibri" pitchFamily="34" charset="-120"/>
              </a:rPr>
              <a:t>rows</a:t>
            </a:r>
            <a:endParaRPr lang="en-US" sz="1200" dirty="0"/>
          </a:p>
        </p:txBody>
      </p:sp>
      <p:sp>
        <p:nvSpPr>
          <p:cNvPr id="11" name="Shape 7"/>
          <p:cNvSpPr/>
          <p:nvPr/>
        </p:nvSpPr>
        <p:spPr>
          <a:xfrm>
            <a:off x="2167128" y="4663440"/>
            <a:ext cx="1463040" cy="1280160"/>
          </a:xfrm>
          <a:prstGeom prst="roundRect">
            <a:avLst>
              <a:gd name="adj" fmla="val 5714"/>
            </a:avLst>
          </a:prstGeom>
          <a:solidFill>
            <a:srgbClr val="F3F5F8"/>
          </a:solidFill>
          <a:ln w="12700">
            <a:solidFill>
              <a:srgbClr val="F3F5F8"/>
            </a:solidFill>
            <a:prstDash val="solid"/>
          </a:ln>
        </p:spPr>
      </p:sp>
      <p:sp>
        <p:nvSpPr>
          <p:cNvPr id="12" name="Text 8"/>
          <p:cNvSpPr txBox="1"/>
          <p:nvPr/>
        </p:nvSpPr>
        <p:spPr>
          <a:xfrm>
            <a:off x="2350008" y="4800600"/>
            <a:ext cx="1188720" cy="594360"/>
          </a:xfrm>
          <a:prstGeom prst="rect">
            <a:avLst/>
          </a:prstGeom>
          <a:noFill/>
          <a:ln/>
        </p:spPr>
        <p:txBody>
          <a:bodyPr wrap="square" lIns="0" tIns="0" rIns="0" bIns="0" rtlCol="0" anchor="t"/>
          <a:lstStyle/>
          <a:p>
            <a:pPr indent="0" marL="0">
              <a:buNone/>
            </a:pPr>
            <a:r>
              <a:rPr lang="en-US" sz="2800" b="1" dirty="0">
                <a:solidFill>
                  <a:srgbClr val="13223A"/>
                </a:solidFill>
                <a:latin typeface="Cambria" pitchFamily="34" charset="0"/>
                <a:ea typeface="Cambria" pitchFamily="34" charset="-122"/>
                <a:cs typeface="Cambria" pitchFamily="34" charset="-120"/>
              </a:rPr>
              <a:t>27</a:t>
            </a:r>
            <a:endParaRPr lang="en-US" sz="2800" dirty="0"/>
          </a:p>
        </p:txBody>
      </p:sp>
      <p:sp>
        <p:nvSpPr>
          <p:cNvPr id="13" name="Text 9"/>
          <p:cNvSpPr txBox="1"/>
          <p:nvPr/>
        </p:nvSpPr>
        <p:spPr>
          <a:xfrm>
            <a:off x="2350008" y="5394960"/>
            <a:ext cx="1188720" cy="320040"/>
          </a:xfrm>
          <a:prstGeom prst="rect">
            <a:avLst/>
          </a:prstGeom>
          <a:noFill/>
          <a:ln/>
        </p:spPr>
        <p:txBody>
          <a:bodyPr wrap="square" lIns="0" tIns="0" rIns="0" bIns="0" rtlCol="0" anchor="t"/>
          <a:lstStyle/>
          <a:p>
            <a:pPr indent="0" marL="0">
              <a:buNone/>
            </a:pPr>
            <a:r>
              <a:rPr lang="en-US" sz="1200" dirty="0">
                <a:solidFill>
                  <a:srgbClr val="5B6675"/>
                </a:solidFill>
                <a:latin typeface="Calibri" pitchFamily="34" charset="0"/>
                <a:ea typeface="Calibri" pitchFamily="34" charset="-122"/>
                <a:cs typeface="Calibri" pitchFamily="34" charset="-120"/>
              </a:rPr>
              <a:t>configurations</a:t>
            </a:r>
            <a:endParaRPr lang="en-US" sz="1200" dirty="0"/>
          </a:p>
        </p:txBody>
      </p:sp>
      <p:sp>
        <p:nvSpPr>
          <p:cNvPr id="14" name="Shape 10"/>
          <p:cNvSpPr/>
          <p:nvPr/>
        </p:nvSpPr>
        <p:spPr>
          <a:xfrm>
            <a:off x="3785616" y="4663440"/>
            <a:ext cx="1463040" cy="1280160"/>
          </a:xfrm>
          <a:prstGeom prst="roundRect">
            <a:avLst>
              <a:gd name="adj" fmla="val 5714"/>
            </a:avLst>
          </a:prstGeom>
          <a:solidFill>
            <a:srgbClr val="F3F5F8"/>
          </a:solidFill>
          <a:ln w="12700">
            <a:solidFill>
              <a:srgbClr val="F3F5F8"/>
            </a:solidFill>
            <a:prstDash val="solid"/>
          </a:ln>
        </p:spPr>
      </p:sp>
      <p:sp>
        <p:nvSpPr>
          <p:cNvPr id="15" name="Text 11"/>
          <p:cNvSpPr txBox="1"/>
          <p:nvPr/>
        </p:nvSpPr>
        <p:spPr>
          <a:xfrm>
            <a:off x="3968496" y="4800600"/>
            <a:ext cx="1188720" cy="594360"/>
          </a:xfrm>
          <a:prstGeom prst="rect">
            <a:avLst/>
          </a:prstGeom>
          <a:noFill/>
          <a:ln/>
        </p:spPr>
        <p:txBody>
          <a:bodyPr wrap="square" lIns="0" tIns="0" rIns="0" bIns="0" rtlCol="0" anchor="t"/>
          <a:lstStyle/>
          <a:p>
            <a:pPr indent="0" marL="0">
              <a:buNone/>
            </a:pPr>
            <a:r>
              <a:rPr lang="en-US" sz="2800" b="1" dirty="0">
                <a:solidFill>
                  <a:srgbClr val="13223A"/>
                </a:solidFill>
                <a:latin typeface="Cambria" pitchFamily="34" charset="0"/>
                <a:ea typeface="Cambria" pitchFamily="34" charset="-122"/>
                <a:cs typeface="Cambria" pitchFamily="34" charset="-120"/>
              </a:rPr>
              <a:t>9</a:t>
            </a:r>
            <a:endParaRPr lang="en-US" sz="2800" dirty="0"/>
          </a:p>
        </p:txBody>
      </p:sp>
      <p:sp>
        <p:nvSpPr>
          <p:cNvPr id="16" name="Text 12"/>
          <p:cNvSpPr txBox="1"/>
          <p:nvPr/>
        </p:nvSpPr>
        <p:spPr>
          <a:xfrm>
            <a:off x="3968496" y="5394960"/>
            <a:ext cx="1188720" cy="320040"/>
          </a:xfrm>
          <a:prstGeom prst="rect">
            <a:avLst/>
          </a:prstGeom>
          <a:noFill/>
          <a:ln/>
        </p:spPr>
        <p:txBody>
          <a:bodyPr wrap="square" lIns="0" tIns="0" rIns="0" bIns="0" rtlCol="0" anchor="t"/>
          <a:lstStyle/>
          <a:p>
            <a:pPr indent="0" marL="0">
              <a:buNone/>
            </a:pPr>
            <a:r>
              <a:rPr lang="en-US" sz="1200" dirty="0">
                <a:solidFill>
                  <a:srgbClr val="5B6675"/>
                </a:solidFill>
                <a:latin typeface="Calibri" pitchFamily="34" charset="0"/>
                <a:ea typeface="Calibri" pitchFamily="34" charset="-122"/>
                <a:cs typeface="Calibri" pitchFamily="34" charset="-120"/>
              </a:rPr>
              <a:t>workloads</a:t>
            </a:r>
            <a:endParaRPr lang="en-US" sz="1200" dirty="0"/>
          </a:p>
        </p:txBody>
      </p:sp>
      <p:sp>
        <p:nvSpPr>
          <p:cNvPr id="17" name="Shape 13"/>
          <p:cNvSpPr/>
          <p:nvPr/>
        </p:nvSpPr>
        <p:spPr>
          <a:xfrm>
            <a:off x="5404104" y="4663440"/>
            <a:ext cx="1463040" cy="1280160"/>
          </a:xfrm>
          <a:prstGeom prst="roundRect">
            <a:avLst>
              <a:gd name="adj" fmla="val 5714"/>
            </a:avLst>
          </a:prstGeom>
          <a:solidFill>
            <a:srgbClr val="F3F5F8"/>
          </a:solidFill>
          <a:ln w="12700">
            <a:solidFill>
              <a:srgbClr val="F3F5F8"/>
            </a:solidFill>
            <a:prstDash val="solid"/>
          </a:ln>
        </p:spPr>
      </p:sp>
      <p:sp>
        <p:nvSpPr>
          <p:cNvPr id="18" name="Text 14"/>
          <p:cNvSpPr txBox="1"/>
          <p:nvPr/>
        </p:nvSpPr>
        <p:spPr>
          <a:xfrm>
            <a:off x="5586984" y="4800600"/>
            <a:ext cx="1188720" cy="594360"/>
          </a:xfrm>
          <a:prstGeom prst="rect">
            <a:avLst/>
          </a:prstGeom>
          <a:noFill/>
          <a:ln/>
        </p:spPr>
        <p:txBody>
          <a:bodyPr wrap="square" lIns="0" tIns="0" rIns="0" bIns="0" rtlCol="0" anchor="t"/>
          <a:lstStyle/>
          <a:p>
            <a:pPr indent="0" marL="0">
              <a:buNone/>
            </a:pPr>
            <a:r>
              <a:rPr lang="en-US" sz="2800" b="1" dirty="0">
                <a:solidFill>
                  <a:srgbClr val="13223A"/>
                </a:solidFill>
                <a:latin typeface="Cambria" pitchFamily="34" charset="0"/>
                <a:ea typeface="Cambria" pitchFamily="34" charset="-122"/>
                <a:cs typeface="Cambria" pitchFamily="34" charset="-120"/>
              </a:rPr>
              <a:t>3</a:t>
            </a:r>
            <a:endParaRPr lang="en-US" sz="2800" dirty="0"/>
          </a:p>
        </p:txBody>
      </p:sp>
      <p:sp>
        <p:nvSpPr>
          <p:cNvPr id="19" name="Text 15"/>
          <p:cNvSpPr txBox="1"/>
          <p:nvPr/>
        </p:nvSpPr>
        <p:spPr>
          <a:xfrm>
            <a:off x="5586984" y="5394960"/>
            <a:ext cx="1188720" cy="320040"/>
          </a:xfrm>
          <a:prstGeom prst="rect">
            <a:avLst/>
          </a:prstGeom>
          <a:noFill/>
          <a:ln/>
        </p:spPr>
        <p:txBody>
          <a:bodyPr wrap="square" lIns="0" tIns="0" rIns="0" bIns="0" rtlCol="0" anchor="t"/>
          <a:lstStyle/>
          <a:p>
            <a:pPr indent="0" marL="0">
              <a:buNone/>
            </a:pPr>
            <a:r>
              <a:rPr lang="en-US" sz="1200" dirty="0">
                <a:solidFill>
                  <a:srgbClr val="5B6675"/>
                </a:solidFill>
                <a:latin typeface="Calibri" pitchFamily="34" charset="0"/>
                <a:ea typeface="Calibri" pitchFamily="34" charset="-122"/>
                <a:cs typeface="Calibri" pitchFamily="34" charset="-120"/>
              </a:rPr>
              <a:t>seeds</a:t>
            </a:r>
            <a:endParaRPr lang="en-US" sz="1200" dirty="0"/>
          </a:p>
        </p:txBody>
      </p:sp>
      <p:sp>
        <p:nvSpPr>
          <p:cNvPr id="20" name="Text 16"/>
          <p:cNvSpPr txBox="1"/>
          <p:nvPr/>
        </p:nvSpPr>
        <p:spPr>
          <a:xfrm>
            <a:off x="548640" y="6419088"/>
            <a:ext cx="8229600" cy="228600"/>
          </a:xfrm>
          <a:prstGeom prst="rect">
            <a:avLst/>
          </a:prstGeom>
          <a:noFill/>
          <a:ln/>
        </p:spPr>
        <p:txBody>
          <a:bodyPr wrap="square" lIns="0" tIns="0" rIns="0" bIns="0" rtlCol="0" anchor="t"/>
          <a:lstStyle/>
          <a:p>
            <a:pPr indent="0" marL="0">
              <a:buNone/>
            </a:pPr>
            <a:r>
              <a:rPr lang="en-US" sz="900" dirty="0">
                <a:solidFill>
                  <a:srgbClr val="8A94A3"/>
                </a:solidFill>
                <a:latin typeface="Calibri" pitchFamily="34" charset="0"/>
                <a:ea typeface="Calibri" pitchFamily="34" charset="-122"/>
                <a:cs typeface="Calibri" pitchFamily="34" charset="-120"/>
              </a:rPr>
              <a:t>VIT Vellore  ·  BCSE303P Operating Systems Laboratory  ·  CHIMERA  ·  Review 2</a:t>
            </a:r>
            <a:endParaRPr lang="en-US" sz="900" dirty="0"/>
          </a:p>
        </p:txBody>
      </p:sp>
      <p:sp>
        <p:nvSpPr>
          <p:cNvPr id="21" name="Text 17"/>
          <p:cNvSpPr txBox="1"/>
          <p:nvPr/>
        </p:nvSpPr>
        <p:spPr>
          <a:xfrm>
            <a:off x="10725912" y="6419088"/>
            <a:ext cx="914400" cy="228600"/>
          </a:xfrm>
          <a:prstGeom prst="rect">
            <a:avLst/>
          </a:prstGeom>
          <a:noFill/>
          <a:ln/>
        </p:spPr>
        <p:txBody>
          <a:bodyPr wrap="square" lIns="0" tIns="0" rIns="0" bIns="0" rtlCol="0" anchor="t"/>
          <a:lstStyle/>
          <a:p>
            <a:pPr algn="r" indent="0" marL="0">
              <a:buNone/>
            </a:pPr>
            <a:r>
              <a:rPr lang="en-US" sz="900" dirty="0">
                <a:solidFill>
                  <a:srgbClr val="8A94A3"/>
                </a:solidFill>
                <a:latin typeface="Calibri" pitchFamily="34" charset="0"/>
                <a:ea typeface="Calibri" pitchFamily="34" charset="-122"/>
                <a:cs typeface="Calibri" pitchFamily="34" charset="-120"/>
              </a:rPr>
              <a:t>17 / 21</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300" kern="0" dirty="0">
                <a:solidFill>
                  <a:srgbClr val="C7811A"/>
                </a:solidFill>
                <a:latin typeface="Calibri" pitchFamily="34" charset="0"/>
                <a:ea typeface="Calibri" pitchFamily="34" charset="-122"/>
                <a:cs typeface="Calibri" pitchFamily="34" charset="-120"/>
              </a:rPr>
              <a:t>LIVE DEMONSTRATION</a:t>
            </a:r>
            <a:endParaRPr lang="en-US" sz="11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rgbClr val="13223A"/>
                </a:solidFill>
                <a:latin typeface="Cambria" pitchFamily="34" charset="0"/>
                <a:ea typeface="Cambria" pitchFamily="34" charset="-122"/>
                <a:cs typeface="Cambria" pitchFamily="34" charset="-120"/>
              </a:rPr>
              <a:t>One command, about three seconds</a:t>
            </a:r>
            <a:endParaRPr lang="en-US" sz="3000" dirty="0"/>
          </a:p>
        </p:txBody>
      </p:sp>
      <p:sp>
        <p:nvSpPr>
          <p:cNvPr id="4" name="Shape 2"/>
          <p:cNvSpPr/>
          <p:nvPr/>
        </p:nvSpPr>
        <p:spPr>
          <a:xfrm>
            <a:off x="548640" y="1554480"/>
            <a:ext cx="5120640" cy="1051560"/>
          </a:xfrm>
          <a:prstGeom prst="roundRect">
            <a:avLst>
              <a:gd name="adj" fmla="val 6957"/>
            </a:avLst>
          </a:prstGeom>
          <a:solidFill>
            <a:srgbClr val="13223A"/>
          </a:solidFill>
          <a:ln w="12700">
            <a:solidFill>
              <a:srgbClr val="13223A"/>
            </a:solidFill>
            <a:prstDash val="solid"/>
          </a:ln>
        </p:spPr>
      </p:sp>
      <p:sp>
        <p:nvSpPr>
          <p:cNvPr id="5" name="Text 3"/>
          <p:cNvSpPr txBox="1"/>
          <p:nvPr/>
        </p:nvSpPr>
        <p:spPr>
          <a:xfrm>
            <a:off x="822960" y="1664208"/>
            <a:ext cx="4572000" cy="274320"/>
          </a:xfrm>
          <a:prstGeom prst="rect">
            <a:avLst/>
          </a:prstGeom>
          <a:noFill/>
          <a:ln/>
        </p:spPr>
        <p:txBody>
          <a:bodyPr wrap="square" lIns="0" tIns="0" rIns="0" bIns="0" rtlCol="0" anchor="t"/>
          <a:lstStyle/>
          <a:p>
            <a:pPr indent="0" marL="0">
              <a:buNone/>
            </a:pPr>
            <a:r>
              <a:rPr lang="en-US" sz="1100" dirty="0">
                <a:solidFill>
                  <a:srgbClr val="AFC0D8"/>
                </a:solidFill>
                <a:latin typeface="Calibri" pitchFamily="34" charset="0"/>
                <a:ea typeface="Calibri" pitchFamily="34" charset="-122"/>
                <a:cs typeface="Calibri" pitchFamily="34" charset="-120"/>
              </a:rPr>
              <a:t>PowerShell, from the project folder</a:t>
            </a:r>
            <a:endParaRPr lang="en-US" sz="1100" dirty="0"/>
          </a:p>
        </p:txBody>
      </p:sp>
      <p:sp>
        <p:nvSpPr>
          <p:cNvPr id="6" name="Text 4"/>
          <p:cNvSpPr txBox="1"/>
          <p:nvPr/>
        </p:nvSpPr>
        <p:spPr>
          <a:xfrm>
            <a:off x="822960" y="1984248"/>
            <a:ext cx="4754880" cy="411480"/>
          </a:xfrm>
          <a:prstGeom prst="rect">
            <a:avLst/>
          </a:prstGeom>
          <a:noFill/>
          <a:ln/>
        </p:spPr>
        <p:txBody>
          <a:bodyPr wrap="square" lIns="0" tIns="0" rIns="0" bIns="0" rtlCol="0" anchor="t"/>
          <a:lstStyle/>
          <a:p>
            <a:pPr indent="0" marL="0">
              <a:buNone/>
            </a:pPr>
            <a:r>
              <a:rPr lang="en-US" sz="1500" b="1" dirty="0">
                <a:solidFill>
                  <a:srgbClr val="E8A840"/>
                </a:solidFill>
                <a:latin typeface="Courier New" pitchFamily="34" charset="0"/>
                <a:ea typeface="Courier New" pitchFamily="34" charset="-122"/>
                <a:cs typeface="Courier New" pitchFamily="34" charset="-120"/>
              </a:rPr>
              <a:t>$env:PYTHONPATH="."; python demo_run.py</a:t>
            </a:r>
            <a:endParaRPr lang="en-US" sz="1500" dirty="0"/>
          </a:p>
        </p:txBody>
      </p:sp>
      <p:sp>
        <p:nvSpPr>
          <p:cNvPr id="7" name="Text 5"/>
          <p:cNvSpPr txBox="1"/>
          <p:nvPr/>
        </p:nvSpPr>
        <p:spPr>
          <a:xfrm>
            <a:off x="548640" y="2788920"/>
            <a:ext cx="5120640" cy="137160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Same controller, simulator and settings as the full 720-run evaluation — one workload from that sweep, chosen because it finishes live. The full sweep takes minutes and would overwrite the verified results file.</a:t>
            </a:r>
            <a:endParaRPr lang="en-US" sz="1300" dirty="0"/>
          </a:p>
        </p:txBody>
      </p:sp>
      <p:sp>
        <p:nvSpPr>
          <p:cNvPr id="8" name="Text 6"/>
          <p:cNvSpPr txBox="1"/>
          <p:nvPr/>
        </p:nvSpPr>
        <p:spPr>
          <a:xfrm>
            <a:off x="548640" y="4251960"/>
            <a:ext cx="4572000" cy="274320"/>
          </a:xfrm>
          <a:prstGeom prst="rect">
            <a:avLst/>
          </a:prstGeom>
          <a:noFill/>
          <a:ln/>
        </p:spPr>
        <p:txBody>
          <a:bodyPr wrap="square" lIns="0" tIns="0" rIns="0" bIns="0" rtlCol="0" anchor="t"/>
          <a:lstStyle/>
          <a:p>
            <a:pPr indent="0" marL="0">
              <a:buNone/>
            </a:pPr>
            <a:r>
              <a:rPr lang="en-US" sz="1050" b="1" spc="200" kern="0" dirty="0">
                <a:solidFill>
                  <a:srgbClr val="C7811A"/>
                </a:solidFill>
                <a:latin typeface="Calibri" pitchFamily="34" charset="0"/>
                <a:ea typeface="Calibri" pitchFamily="34" charset="-122"/>
                <a:cs typeface="Calibri" pitchFamily="34" charset="-120"/>
              </a:rPr>
              <a:t>BEFORE THE REVIEW</a:t>
            </a:r>
            <a:endParaRPr lang="en-US" sz="1050" dirty="0"/>
          </a:p>
        </p:txBody>
      </p:sp>
      <p:sp>
        <p:nvSpPr>
          <p:cNvPr id="9" name="Text 7"/>
          <p:cNvSpPr txBox="1"/>
          <p:nvPr/>
        </p:nvSpPr>
        <p:spPr>
          <a:xfrm>
            <a:off x="548640" y="4572000"/>
            <a:ext cx="5120640" cy="1188720"/>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300" dirty="0">
                <a:solidFill>
                  <a:srgbClr val="1F2937"/>
                </a:solidFill>
                <a:latin typeface="Calibri" pitchFamily="34" charset="0"/>
                <a:ea typeface="Calibri" pitchFamily="34" charset="-122"/>
                <a:cs typeface="Calibri" pitchFamily="34" charset="-120"/>
              </a:rPr>
              <a:t>Run the demo once to warm Python imports</a:t>
            </a:r>
            <a:endParaRPr lang="en-US" sz="1300" dirty="0"/>
          </a:p>
          <a:p>
            <a:pPr marL="342900" indent="-342900">
              <a:spcAft>
                <a:spcPts val="600"/>
              </a:spcAft>
              <a:buSzPct val="100000"/>
              <a:buFont typeface="+mj-lt"/>
              <a:buAutoNum type="arabicPeriod" startAt="1"/>
            </a:pPr>
            <a:r>
              <a:rPr lang="en-US" sz="1300" dirty="0">
                <a:solidFill>
                  <a:srgbClr val="1F2937"/>
                </a:solidFill>
                <a:latin typeface="Calibri" pitchFamily="34" charset="0"/>
                <a:ea typeface="Calibri" pitchFamily="34" charset="-122"/>
                <a:cs typeface="Calibri" pitchFamily="34" charset="-120"/>
              </a:rPr>
              <a:t>Clear the terminal with cls</a:t>
            </a:r>
            <a:endParaRPr lang="en-US" sz="1300" dirty="0"/>
          </a:p>
          <a:p>
            <a:pPr marL="342900" indent="-342900">
              <a:spcAft>
                <a:spcPts val="600"/>
              </a:spcAft>
              <a:buSzPct val="100000"/>
              <a:buFont typeface="+mj-lt"/>
              <a:buAutoNum type="arabicPeriod" startAt="1"/>
            </a:pPr>
            <a:r>
              <a:rPr lang="en-US" sz="1300" dirty="0">
                <a:solidFill>
                  <a:srgbClr val="1F2937"/>
                </a:solidFill>
                <a:latin typeface="Calibri" pitchFamily="34" charset="0"/>
                <a:ea typeface="Calibri" pitchFamily="34" charset="-122"/>
                <a:cs typeface="Calibri" pitchFamily="34" charset="-120"/>
              </a:rPr>
              <a:t>Have the command pre-typed; only press Enter</a:t>
            </a:r>
            <a:endParaRPr lang="en-US" sz="1300" dirty="0"/>
          </a:p>
        </p:txBody>
      </p:sp>
      <p:sp>
        <p:nvSpPr>
          <p:cNvPr id="10" name="Shape 8"/>
          <p:cNvSpPr/>
          <p:nvPr/>
        </p:nvSpPr>
        <p:spPr>
          <a:xfrm>
            <a:off x="6035040" y="1554480"/>
            <a:ext cx="5605272" cy="777240"/>
          </a:xfrm>
          <a:prstGeom prst="roundRect">
            <a:avLst>
              <a:gd name="adj" fmla="val 9412"/>
            </a:avLst>
          </a:prstGeom>
          <a:solidFill>
            <a:srgbClr val="F3F5F8"/>
          </a:solidFill>
          <a:ln w="12700">
            <a:solidFill>
              <a:srgbClr val="F3F5F8"/>
            </a:solidFill>
            <a:prstDash val="solid"/>
          </a:ln>
        </p:spPr>
      </p:sp>
      <p:sp>
        <p:nvSpPr>
          <p:cNvPr id="11" name="Shape 9"/>
          <p:cNvSpPr/>
          <p:nvPr/>
        </p:nvSpPr>
        <p:spPr>
          <a:xfrm>
            <a:off x="6217920" y="1719072"/>
            <a:ext cx="457200" cy="457200"/>
          </a:xfrm>
          <a:prstGeom prst="ellipse">
            <a:avLst/>
          </a:prstGeom>
          <a:solidFill>
            <a:srgbClr val="13223A"/>
          </a:solidFill>
          <a:ln w="12700">
            <a:solidFill>
              <a:srgbClr val="13223A"/>
            </a:solidFill>
            <a:prstDash val="solid"/>
          </a:ln>
        </p:spPr>
      </p:sp>
      <p:sp>
        <p:nvSpPr>
          <p:cNvPr id="12" name="Text 10"/>
          <p:cNvSpPr txBox="1"/>
          <p:nvPr/>
        </p:nvSpPr>
        <p:spPr>
          <a:xfrm>
            <a:off x="6217920" y="1719072"/>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3" name="Text 11"/>
          <p:cNvSpPr txBox="1"/>
          <p:nvPr/>
        </p:nvSpPr>
        <p:spPr>
          <a:xfrm>
            <a:off x="6858000" y="1627632"/>
            <a:ext cx="4663440" cy="274320"/>
          </a:xfrm>
          <a:prstGeom prst="rect">
            <a:avLst/>
          </a:prstGeom>
          <a:noFill/>
          <a:ln/>
        </p:spPr>
        <p:txBody>
          <a:bodyPr wrap="square" lIns="0" tIns="0" rIns="0" bIns="0" rtlCol="0" anchor="t"/>
          <a:lstStyle/>
          <a:p>
            <a:pPr indent="0" marL="0">
              <a:buNone/>
            </a:pPr>
            <a:r>
              <a:rPr lang="en-US" sz="1300" b="1" dirty="0">
                <a:solidFill>
                  <a:srgbClr val="13223A"/>
                </a:solidFill>
                <a:latin typeface="Calibri" pitchFamily="34" charset="0"/>
                <a:ea typeface="Calibri" pitchFamily="34" charset="-122"/>
                <a:cs typeface="Calibri" pitchFamily="34" charset="-120"/>
              </a:rPr>
              <a:t>Setup</a:t>
            </a:r>
            <a:endParaRPr lang="en-US" sz="1300" dirty="0"/>
          </a:p>
        </p:txBody>
      </p:sp>
      <p:sp>
        <p:nvSpPr>
          <p:cNvPr id="14" name="Text 12"/>
          <p:cNvSpPr txBox="1"/>
          <p:nvPr/>
        </p:nvSpPr>
        <p:spPr>
          <a:xfrm>
            <a:off x="6858000" y="1901952"/>
            <a:ext cx="4663440" cy="384048"/>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Trace w_0004 (ramp), 500 ms SLO, 20 s vs 0.1 s delays, seed 42 for all controllers.</a:t>
            </a:r>
            <a:endParaRPr lang="en-US" sz="1100" dirty="0"/>
          </a:p>
        </p:txBody>
      </p:sp>
      <p:sp>
        <p:nvSpPr>
          <p:cNvPr id="15" name="Shape 13"/>
          <p:cNvSpPr/>
          <p:nvPr/>
        </p:nvSpPr>
        <p:spPr>
          <a:xfrm>
            <a:off x="6035040" y="2468880"/>
            <a:ext cx="5605272" cy="777240"/>
          </a:xfrm>
          <a:prstGeom prst="roundRect">
            <a:avLst>
              <a:gd name="adj" fmla="val 9412"/>
            </a:avLst>
          </a:prstGeom>
          <a:solidFill>
            <a:srgbClr val="F3F5F8"/>
          </a:solidFill>
          <a:ln w="12700">
            <a:solidFill>
              <a:srgbClr val="F3F5F8"/>
            </a:solidFill>
            <a:prstDash val="solid"/>
          </a:ln>
        </p:spPr>
      </p:sp>
      <p:sp>
        <p:nvSpPr>
          <p:cNvPr id="16" name="Shape 14"/>
          <p:cNvSpPr/>
          <p:nvPr/>
        </p:nvSpPr>
        <p:spPr>
          <a:xfrm>
            <a:off x="6217920" y="2633472"/>
            <a:ext cx="457200" cy="457200"/>
          </a:xfrm>
          <a:prstGeom prst="ellipse">
            <a:avLst/>
          </a:prstGeom>
          <a:solidFill>
            <a:srgbClr val="13223A"/>
          </a:solidFill>
          <a:ln w="12700">
            <a:solidFill>
              <a:srgbClr val="13223A"/>
            </a:solidFill>
            <a:prstDash val="solid"/>
          </a:ln>
        </p:spPr>
      </p:sp>
      <p:sp>
        <p:nvSpPr>
          <p:cNvPr id="17" name="Text 15"/>
          <p:cNvSpPr txBox="1"/>
          <p:nvPr/>
        </p:nvSpPr>
        <p:spPr>
          <a:xfrm>
            <a:off x="6217920" y="2633472"/>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8" name="Text 16"/>
          <p:cNvSpPr txBox="1"/>
          <p:nvPr/>
        </p:nvSpPr>
        <p:spPr>
          <a:xfrm>
            <a:off x="6858000" y="2542032"/>
            <a:ext cx="4663440" cy="274320"/>
          </a:xfrm>
          <a:prstGeom prst="rect">
            <a:avLst/>
          </a:prstGeom>
          <a:noFill/>
          <a:ln/>
        </p:spPr>
        <p:txBody>
          <a:bodyPr wrap="square" lIns="0" tIns="0" rIns="0" bIns="0" rtlCol="0" anchor="t"/>
          <a:lstStyle/>
          <a:p>
            <a:pPr indent="0" marL="0">
              <a:buNone/>
            </a:pPr>
            <a:r>
              <a:rPr lang="en-US" sz="1300" b="1" dirty="0">
                <a:solidFill>
                  <a:srgbClr val="13223A"/>
                </a:solidFill>
                <a:latin typeface="Calibri" pitchFamily="34" charset="0"/>
                <a:ea typeface="Calibri" pitchFamily="34" charset="-122"/>
                <a:cs typeface="Calibri" pitchFamily="34" charset="-120"/>
              </a:rPr>
              <a:t>Control law</a:t>
            </a:r>
            <a:endParaRPr lang="en-US" sz="1300" dirty="0"/>
          </a:p>
        </p:txBody>
      </p:sp>
      <p:sp>
        <p:nvSpPr>
          <p:cNvPr id="19" name="Text 17"/>
          <p:cNvSpPr txBox="1"/>
          <p:nvPr/>
        </p:nvSpPr>
        <p:spPr>
          <a:xfrm>
            <a:off x="6858000" y="2816352"/>
            <a:ext cx="4663440" cy="384048"/>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4×4 augmented A matrix; all Riccati eigenvalues positive — the stability proof checking itself.</a:t>
            </a:r>
            <a:endParaRPr lang="en-US" sz="1100" dirty="0"/>
          </a:p>
        </p:txBody>
      </p:sp>
      <p:sp>
        <p:nvSpPr>
          <p:cNvPr id="20" name="Shape 18"/>
          <p:cNvSpPr/>
          <p:nvPr/>
        </p:nvSpPr>
        <p:spPr>
          <a:xfrm>
            <a:off x="6035040" y="3383280"/>
            <a:ext cx="5605272" cy="777240"/>
          </a:xfrm>
          <a:prstGeom prst="roundRect">
            <a:avLst>
              <a:gd name="adj" fmla="val 9412"/>
            </a:avLst>
          </a:prstGeom>
          <a:solidFill>
            <a:srgbClr val="F3F5F8"/>
          </a:solidFill>
          <a:ln w="12700">
            <a:solidFill>
              <a:srgbClr val="F3F5F8"/>
            </a:solidFill>
            <a:prstDash val="solid"/>
          </a:ln>
        </p:spPr>
      </p:sp>
      <p:sp>
        <p:nvSpPr>
          <p:cNvPr id="21" name="Shape 19"/>
          <p:cNvSpPr/>
          <p:nvPr/>
        </p:nvSpPr>
        <p:spPr>
          <a:xfrm>
            <a:off x="6217920" y="3547872"/>
            <a:ext cx="457200" cy="457200"/>
          </a:xfrm>
          <a:prstGeom prst="ellipse">
            <a:avLst/>
          </a:prstGeom>
          <a:solidFill>
            <a:srgbClr val="13223A"/>
          </a:solidFill>
          <a:ln w="12700">
            <a:solidFill>
              <a:srgbClr val="13223A"/>
            </a:solidFill>
            <a:prstDash val="solid"/>
          </a:ln>
        </p:spPr>
      </p:sp>
      <p:sp>
        <p:nvSpPr>
          <p:cNvPr id="22" name="Text 20"/>
          <p:cNvSpPr txBox="1"/>
          <p:nvPr/>
        </p:nvSpPr>
        <p:spPr>
          <a:xfrm>
            <a:off x="6217920" y="3547872"/>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3" name="Text 21"/>
          <p:cNvSpPr txBox="1"/>
          <p:nvPr/>
        </p:nvSpPr>
        <p:spPr>
          <a:xfrm>
            <a:off x="6858000" y="3456432"/>
            <a:ext cx="4663440" cy="274320"/>
          </a:xfrm>
          <a:prstGeom prst="rect">
            <a:avLst/>
          </a:prstGeom>
          <a:noFill/>
          <a:ln/>
        </p:spPr>
        <p:txBody>
          <a:bodyPr wrap="square" lIns="0" tIns="0" rIns="0" bIns="0" rtlCol="0" anchor="t"/>
          <a:lstStyle/>
          <a:p>
            <a:pPr indent="0" marL="0">
              <a:buNone/>
            </a:pPr>
            <a:r>
              <a:rPr lang="en-US" sz="1300" b="1" dirty="0">
                <a:solidFill>
                  <a:srgbClr val="13223A"/>
                </a:solidFill>
                <a:latin typeface="Calibri" pitchFamily="34" charset="0"/>
                <a:ea typeface="Calibri" pitchFamily="34" charset="-122"/>
                <a:cs typeface="Calibri" pitchFamily="34" charset="-120"/>
              </a:rPr>
              <a:t>Results</a:t>
            </a:r>
            <a:endParaRPr lang="en-US" sz="1300" dirty="0"/>
          </a:p>
        </p:txBody>
      </p:sp>
      <p:sp>
        <p:nvSpPr>
          <p:cNvPr id="24" name="Text 22"/>
          <p:cNvSpPr txBox="1"/>
          <p:nvPr/>
        </p:nvSpPr>
        <p:spPr>
          <a:xfrm>
            <a:off x="6858000" y="3730752"/>
            <a:ext cx="4663440" cy="384048"/>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CHIMERA 12.90 % vs HPA 17.69 % SLO violations; delay augmentation alone worth 1.59 points.</a:t>
            </a:r>
            <a:endParaRPr lang="en-US" sz="1100" dirty="0"/>
          </a:p>
        </p:txBody>
      </p:sp>
      <p:sp>
        <p:nvSpPr>
          <p:cNvPr id="25" name="Shape 23"/>
          <p:cNvSpPr/>
          <p:nvPr/>
        </p:nvSpPr>
        <p:spPr>
          <a:xfrm>
            <a:off x="6035040" y="4297680"/>
            <a:ext cx="5605272" cy="777240"/>
          </a:xfrm>
          <a:prstGeom prst="roundRect">
            <a:avLst>
              <a:gd name="adj" fmla="val 9412"/>
            </a:avLst>
          </a:prstGeom>
          <a:solidFill>
            <a:srgbClr val="F3F5F8"/>
          </a:solidFill>
          <a:ln w="12700">
            <a:solidFill>
              <a:srgbClr val="F3F5F8"/>
            </a:solidFill>
            <a:prstDash val="solid"/>
          </a:ln>
        </p:spPr>
      </p:sp>
      <p:sp>
        <p:nvSpPr>
          <p:cNvPr id="26" name="Shape 24"/>
          <p:cNvSpPr/>
          <p:nvPr/>
        </p:nvSpPr>
        <p:spPr>
          <a:xfrm>
            <a:off x="6217920" y="4462272"/>
            <a:ext cx="457200" cy="457200"/>
          </a:xfrm>
          <a:prstGeom prst="ellipse">
            <a:avLst/>
          </a:prstGeom>
          <a:solidFill>
            <a:srgbClr val="13223A"/>
          </a:solidFill>
          <a:ln w="12700">
            <a:solidFill>
              <a:srgbClr val="13223A"/>
            </a:solidFill>
            <a:prstDash val="solid"/>
          </a:ln>
        </p:spPr>
      </p:sp>
      <p:sp>
        <p:nvSpPr>
          <p:cNvPr id="27" name="Text 25"/>
          <p:cNvSpPr txBox="1"/>
          <p:nvPr/>
        </p:nvSpPr>
        <p:spPr>
          <a:xfrm>
            <a:off x="6217920" y="4462272"/>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8" name="Text 26"/>
          <p:cNvSpPr txBox="1"/>
          <p:nvPr/>
        </p:nvSpPr>
        <p:spPr>
          <a:xfrm>
            <a:off x="6858000" y="4370832"/>
            <a:ext cx="4663440" cy="274320"/>
          </a:xfrm>
          <a:prstGeom prst="rect">
            <a:avLst/>
          </a:prstGeom>
          <a:noFill/>
          <a:ln/>
        </p:spPr>
        <p:txBody>
          <a:bodyPr wrap="square" lIns="0" tIns="0" rIns="0" bIns="0" rtlCol="0" anchor="t"/>
          <a:lstStyle/>
          <a:p>
            <a:pPr indent="0" marL="0">
              <a:buNone/>
            </a:pPr>
            <a:r>
              <a:rPr lang="en-US" sz="1300" b="1" dirty="0">
                <a:solidFill>
                  <a:srgbClr val="13223A"/>
                </a:solidFill>
                <a:latin typeface="Calibri" pitchFamily="34" charset="0"/>
                <a:ea typeface="Calibri" pitchFamily="34" charset="-122"/>
                <a:cs typeface="Calibri" pitchFamily="34" charset="-120"/>
              </a:rPr>
              <a:t>Cluster behaviour</a:t>
            </a:r>
            <a:endParaRPr lang="en-US" sz="1300" dirty="0"/>
          </a:p>
        </p:txBody>
      </p:sp>
      <p:sp>
        <p:nvSpPr>
          <p:cNvPr id="29" name="Text 27"/>
          <p:cNvSpPr txBox="1"/>
          <p:nvPr/>
        </p:nvSpPr>
        <p:spPr>
          <a:xfrm>
            <a:off x="6858000" y="4645152"/>
            <a:ext cx="4663440" cy="384048"/>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HPA’s CPU line is flat — one lever, so it climbs to 10 pods. CHIMERA needs 5.</a:t>
            </a:r>
            <a:endParaRPr lang="en-US" sz="1100" dirty="0"/>
          </a:p>
        </p:txBody>
      </p:sp>
      <p:sp>
        <p:nvSpPr>
          <p:cNvPr id="30" name="Shape 28"/>
          <p:cNvSpPr/>
          <p:nvPr/>
        </p:nvSpPr>
        <p:spPr>
          <a:xfrm>
            <a:off x="6035040" y="5212080"/>
            <a:ext cx="5605272" cy="777240"/>
          </a:xfrm>
          <a:prstGeom prst="roundRect">
            <a:avLst>
              <a:gd name="adj" fmla="val 9412"/>
            </a:avLst>
          </a:prstGeom>
          <a:solidFill>
            <a:srgbClr val="F3F5F8"/>
          </a:solidFill>
          <a:ln w="12700">
            <a:solidFill>
              <a:srgbClr val="F3F5F8"/>
            </a:solidFill>
            <a:prstDash val="solid"/>
          </a:ln>
        </p:spPr>
      </p:sp>
      <p:sp>
        <p:nvSpPr>
          <p:cNvPr id="31" name="Shape 29"/>
          <p:cNvSpPr/>
          <p:nvPr/>
        </p:nvSpPr>
        <p:spPr>
          <a:xfrm>
            <a:off x="6217920" y="5376672"/>
            <a:ext cx="457200" cy="457200"/>
          </a:xfrm>
          <a:prstGeom prst="ellipse">
            <a:avLst/>
          </a:prstGeom>
          <a:solidFill>
            <a:srgbClr val="13223A"/>
          </a:solidFill>
          <a:ln w="12700">
            <a:solidFill>
              <a:srgbClr val="13223A"/>
            </a:solidFill>
            <a:prstDash val="solid"/>
          </a:ln>
        </p:spPr>
      </p:sp>
      <p:sp>
        <p:nvSpPr>
          <p:cNvPr id="32" name="Text 30"/>
          <p:cNvSpPr txBox="1"/>
          <p:nvPr/>
        </p:nvSpPr>
        <p:spPr>
          <a:xfrm>
            <a:off x="6217920" y="5376672"/>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3" name="Text 31"/>
          <p:cNvSpPr txBox="1"/>
          <p:nvPr/>
        </p:nvSpPr>
        <p:spPr>
          <a:xfrm>
            <a:off x="6858000" y="5285232"/>
            <a:ext cx="4663440" cy="274320"/>
          </a:xfrm>
          <a:prstGeom prst="rect">
            <a:avLst/>
          </a:prstGeom>
          <a:noFill/>
          <a:ln/>
        </p:spPr>
        <p:txBody>
          <a:bodyPr wrap="square" lIns="0" tIns="0" rIns="0" bIns="0" rtlCol="0" anchor="t"/>
          <a:lstStyle/>
          <a:p>
            <a:pPr indent="0" marL="0">
              <a:buNone/>
            </a:pPr>
            <a:r>
              <a:rPr lang="en-US" sz="1300" b="1" dirty="0">
                <a:solidFill>
                  <a:srgbClr val="13223A"/>
                </a:solidFill>
                <a:latin typeface="Calibri" pitchFamily="34" charset="0"/>
                <a:ea typeface="Calibri" pitchFamily="34" charset="-122"/>
                <a:cs typeface="Calibri" pitchFamily="34" charset="-120"/>
              </a:rPr>
              <a:t>Contribution, step by step</a:t>
            </a:r>
            <a:endParaRPr lang="en-US" sz="1300" dirty="0"/>
          </a:p>
        </p:txBody>
      </p:sp>
      <p:sp>
        <p:nvSpPr>
          <p:cNvPr id="34" name="Text 32"/>
          <p:cNvSpPr txBox="1"/>
          <p:nvPr/>
        </p:nvSpPr>
        <p:spPr>
          <a:xfrm>
            <a:off x="6858000" y="5559552"/>
            <a:ext cx="4663440" cy="384048"/>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At t = 75 s: 4 pods running, +2 in flight, so the controller waits instead of over-ordering.</a:t>
            </a:r>
            <a:endParaRPr lang="en-US" sz="1100" dirty="0"/>
          </a:p>
        </p:txBody>
      </p:sp>
      <p:sp>
        <p:nvSpPr>
          <p:cNvPr id="35" name="Text 33"/>
          <p:cNvSpPr txBox="1"/>
          <p:nvPr/>
        </p:nvSpPr>
        <p:spPr>
          <a:xfrm>
            <a:off x="548640" y="6419088"/>
            <a:ext cx="8229600" cy="228600"/>
          </a:xfrm>
          <a:prstGeom prst="rect">
            <a:avLst/>
          </a:prstGeom>
          <a:noFill/>
          <a:ln/>
        </p:spPr>
        <p:txBody>
          <a:bodyPr wrap="square" lIns="0" tIns="0" rIns="0" bIns="0" rtlCol="0" anchor="t"/>
          <a:lstStyle/>
          <a:p>
            <a:pPr indent="0" marL="0">
              <a:buNone/>
            </a:pPr>
            <a:r>
              <a:rPr lang="en-US" sz="900" dirty="0">
                <a:solidFill>
                  <a:srgbClr val="8A94A3"/>
                </a:solidFill>
                <a:latin typeface="Calibri" pitchFamily="34" charset="0"/>
                <a:ea typeface="Calibri" pitchFamily="34" charset="-122"/>
                <a:cs typeface="Calibri" pitchFamily="34" charset="-120"/>
              </a:rPr>
              <a:t>VIT Vellore  ·  BCSE303P Operating Systems Laboratory  ·  CHIMERA  ·  Review 2</a:t>
            </a:r>
            <a:endParaRPr lang="en-US" sz="900" dirty="0"/>
          </a:p>
        </p:txBody>
      </p:sp>
      <p:sp>
        <p:nvSpPr>
          <p:cNvPr id="36" name="Text 34"/>
          <p:cNvSpPr txBox="1"/>
          <p:nvPr/>
        </p:nvSpPr>
        <p:spPr>
          <a:xfrm>
            <a:off x="10725912" y="6419088"/>
            <a:ext cx="914400" cy="228600"/>
          </a:xfrm>
          <a:prstGeom prst="rect">
            <a:avLst/>
          </a:prstGeom>
          <a:noFill/>
          <a:ln/>
        </p:spPr>
        <p:txBody>
          <a:bodyPr wrap="square" lIns="0" tIns="0" rIns="0" bIns="0" rtlCol="0" anchor="t"/>
          <a:lstStyle/>
          <a:p>
            <a:pPr algn="r" indent="0" marL="0">
              <a:buNone/>
            </a:pPr>
            <a:r>
              <a:rPr lang="en-US" sz="900" dirty="0">
                <a:solidFill>
                  <a:srgbClr val="8A94A3"/>
                </a:solidFill>
                <a:latin typeface="Calibri" pitchFamily="34" charset="0"/>
                <a:ea typeface="Calibri" pitchFamily="34" charset="-122"/>
                <a:cs typeface="Calibri" pitchFamily="34" charset="-120"/>
              </a:rPr>
              <a:t>18 / 21</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300" kern="0" dirty="0">
                <a:solidFill>
                  <a:srgbClr val="C7811A"/>
                </a:solidFill>
                <a:latin typeface="Calibri" pitchFamily="34" charset="0"/>
                <a:ea typeface="Calibri" pitchFamily="34" charset="-122"/>
                <a:cs typeface="Calibri" pitchFamily="34" charset="-120"/>
              </a:rPr>
              <a:t>CRITICAL EVALUATION</a:t>
            </a:r>
            <a:endParaRPr lang="en-US" sz="11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rgbClr val="13223A"/>
                </a:solidFill>
                <a:latin typeface="Cambria" pitchFamily="34" charset="0"/>
                <a:ea typeface="Cambria" pitchFamily="34" charset="-122"/>
                <a:cs typeface="Cambria" pitchFamily="34" charset="-120"/>
              </a:rPr>
              <a:t>Known limitations and what comes next</a:t>
            </a:r>
            <a:endParaRPr lang="en-US" sz="3000" dirty="0"/>
          </a:p>
        </p:txBody>
      </p:sp>
      <p:sp>
        <p:nvSpPr>
          <p:cNvPr id="4" name="Shape 2"/>
          <p:cNvSpPr/>
          <p:nvPr/>
        </p:nvSpPr>
        <p:spPr>
          <a:xfrm>
            <a:off x="548640" y="1554480"/>
            <a:ext cx="5422392" cy="4572000"/>
          </a:xfrm>
          <a:prstGeom prst="roundRect">
            <a:avLst>
              <a:gd name="adj" fmla="val 1600"/>
            </a:avLst>
          </a:prstGeom>
          <a:solidFill>
            <a:srgbClr val="F3F5F8"/>
          </a:solidFill>
          <a:ln w="12700">
            <a:solidFill>
              <a:srgbClr val="F3F5F8"/>
            </a:solidFill>
            <a:prstDash val="solid"/>
          </a:ln>
        </p:spPr>
      </p:sp>
      <p:sp>
        <p:nvSpPr>
          <p:cNvPr id="5" name="Shape 3"/>
          <p:cNvSpPr/>
          <p:nvPr/>
        </p:nvSpPr>
        <p:spPr>
          <a:xfrm>
            <a:off x="6217920" y="1554480"/>
            <a:ext cx="5422392" cy="4572000"/>
          </a:xfrm>
          <a:prstGeom prst="roundRect">
            <a:avLst>
              <a:gd name="adj" fmla="val 1600"/>
            </a:avLst>
          </a:prstGeom>
          <a:solidFill>
            <a:srgbClr val="13223A"/>
          </a:solidFill>
          <a:ln w="12700">
            <a:solidFill>
              <a:srgbClr val="13223A"/>
            </a:solidFill>
            <a:prstDash val="solid"/>
          </a:ln>
        </p:spPr>
      </p:sp>
      <p:sp>
        <p:nvSpPr>
          <p:cNvPr id="6" name="Text 4"/>
          <p:cNvSpPr txBox="1"/>
          <p:nvPr/>
        </p:nvSpPr>
        <p:spPr>
          <a:xfrm>
            <a:off x="822960" y="1783080"/>
            <a:ext cx="4846320" cy="411480"/>
          </a:xfrm>
          <a:prstGeom prst="rect">
            <a:avLst/>
          </a:prstGeom>
          <a:noFill/>
          <a:ln/>
        </p:spPr>
        <p:txBody>
          <a:bodyPr wrap="square" lIns="0" tIns="0" rIns="0" bIns="0" rtlCol="0" anchor="t"/>
          <a:lstStyle/>
          <a:p>
            <a:pPr indent="0" marL="0">
              <a:buNone/>
            </a:pPr>
            <a:r>
              <a:rPr lang="en-US" sz="1800" b="1" dirty="0">
                <a:solidFill>
                  <a:srgbClr val="B42318"/>
                </a:solidFill>
                <a:latin typeface="Cambria" pitchFamily="34" charset="0"/>
                <a:ea typeface="Cambria" pitchFamily="34" charset="-122"/>
                <a:cs typeface="Cambria" pitchFamily="34" charset="-120"/>
              </a:rPr>
              <a:t>Current limitations</a:t>
            </a:r>
            <a:endParaRPr lang="en-US" sz="1800" dirty="0"/>
          </a:p>
        </p:txBody>
      </p:sp>
      <p:sp>
        <p:nvSpPr>
          <p:cNvPr id="7" name="Text 5"/>
          <p:cNvSpPr txBox="1"/>
          <p:nvPr/>
        </p:nvSpPr>
        <p:spPr>
          <a:xfrm>
            <a:off x="6492240" y="1783080"/>
            <a:ext cx="4846320" cy="411480"/>
          </a:xfrm>
          <a:prstGeom prst="rect">
            <a:avLst/>
          </a:prstGeom>
          <a:noFill/>
          <a:ln/>
        </p:spPr>
        <p:txBody>
          <a:bodyPr wrap="square" lIns="0" tIns="0" rIns="0" bIns="0" rtlCol="0" anchor="t"/>
          <a:lstStyle/>
          <a:p>
            <a:pPr indent="0" marL="0">
              <a:buNone/>
            </a:pPr>
            <a:r>
              <a:rPr lang="en-US" sz="1800" b="1" dirty="0">
                <a:solidFill>
                  <a:srgbClr val="E3A646"/>
                </a:solidFill>
                <a:latin typeface="Cambria" pitchFamily="34" charset="0"/>
                <a:ea typeface="Cambria" pitchFamily="34" charset="-122"/>
                <a:cs typeface="Cambria" pitchFamily="34" charset="-120"/>
              </a:rPr>
              <a:t>Next milestones</a:t>
            </a:r>
            <a:endParaRPr lang="en-US" sz="1800" dirty="0"/>
          </a:p>
        </p:txBody>
      </p:sp>
      <p:sp>
        <p:nvSpPr>
          <p:cNvPr id="8" name="Text 6"/>
          <p:cNvSpPr txBox="1"/>
          <p:nvPr/>
        </p:nvSpPr>
        <p:spPr>
          <a:xfrm>
            <a:off x="822960" y="2286000"/>
            <a:ext cx="4937760" cy="3657600"/>
          </a:xfrm>
          <a:prstGeom prst="rect">
            <a:avLst/>
          </a:prstGeom>
          <a:noFill/>
          <a:ln/>
        </p:spPr>
        <p:txBody>
          <a:bodyPr wrap="square" lIns="0" tIns="0" rIns="0" bIns="0" rtlCol="0" anchor="t"/>
          <a:lstStyle/>
          <a:p>
            <a:pPr marL="342900" indent="-342900">
              <a:spcAft>
                <a:spcPts val="1200"/>
              </a:spcAft>
              <a:buSzPct val="100000"/>
              <a:buChar char="•"/>
            </a:pPr>
            <a:r>
              <a:rPr lang="en-US" sz="1450" dirty="0">
                <a:solidFill>
                  <a:srgbClr val="1F2937"/>
                </a:solidFill>
                <a:latin typeface="Calibri" pitchFamily="34" charset="0"/>
                <a:ea typeface="Calibri" pitchFamily="34" charset="-122"/>
                <a:cs typeface="Calibri" pitchFamily="34" charset="-120"/>
              </a:rPr>
              <a:t>Evaluation uses 100-minute excerpts of five real traces — too narrow to claim general performance.</a:t>
            </a:r>
            <a:endParaRPr lang="en-US" sz="1450" dirty="0"/>
          </a:p>
          <a:p>
            <a:pPr marL="342900" indent="-342900">
              <a:spcAft>
                <a:spcPts val="1200"/>
              </a:spcAft>
              <a:buSzPct val="100000"/>
              <a:buChar char="•"/>
            </a:pPr>
            <a:r>
              <a:rPr lang="en-US" sz="1450" dirty="0">
                <a:solidFill>
                  <a:srgbClr val="1F2937"/>
                </a:solidFill>
                <a:latin typeface="Calibri" pitchFamily="34" charset="0"/>
                <a:ea typeface="Calibri" pitchFamily="34" charset="-122"/>
                <a:cs typeface="Calibri" pitchFamily="34" charset="-120"/>
              </a:rPr>
              <a:t>The operator has never been validated against a live Kubernetes cluster.</a:t>
            </a:r>
            <a:endParaRPr lang="en-US" sz="1450" dirty="0"/>
          </a:p>
          <a:p>
            <a:pPr marL="342900" indent="-342900">
              <a:spcAft>
                <a:spcPts val="1200"/>
              </a:spcAft>
              <a:buSzPct val="100000"/>
              <a:buChar char="•"/>
            </a:pPr>
            <a:r>
              <a:rPr lang="en-US" sz="1450" dirty="0">
                <a:solidFill>
                  <a:srgbClr val="1F2937"/>
                </a:solidFill>
                <a:latin typeface="Calibri" pitchFamily="34" charset="0"/>
                <a:ea typeface="Calibri" pitchFamily="34" charset="-122"/>
                <a:cs typeface="Calibri" pitchFamily="34" charset="-120"/>
              </a:rPr>
              <a:t>Lyapunov filter and coupling penalty show no benefit in ablation.</a:t>
            </a:r>
            <a:endParaRPr lang="en-US" sz="1450" dirty="0"/>
          </a:p>
          <a:p>
            <a:pPr marL="342900" indent="-342900">
              <a:spcAft>
                <a:spcPts val="1200"/>
              </a:spcAft>
              <a:buSzPct val="100000"/>
              <a:buChar char="•"/>
            </a:pPr>
            <a:r>
              <a:rPr lang="en-US" sz="1450" dirty="0">
                <a:solidFill>
                  <a:srgbClr val="1F2937"/>
                </a:solidFill>
                <a:latin typeface="Calibri" pitchFamily="34" charset="0"/>
                <a:ea typeface="Calibri" pitchFamily="34" charset="-122"/>
                <a:cs typeface="Calibri" pitchFamily="34" charset="-120"/>
              </a:rPr>
              <a:t>Cost is reported in pod-minutes, which ignores CPU per pod.</a:t>
            </a:r>
            <a:endParaRPr lang="en-US" sz="1450" dirty="0"/>
          </a:p>
          <a:p>
            <a:pPr marL="342900" indent="-342900">
              <a:spcAft>
                <a:spcPts val="1200"/>
              </a:spcAft>
              <a:buSzPct val="100000"/>
              <a:buChar char="•"/>
            </a:pPr>
            <a:r>
              <a:rPr lang="en-US" sz="1450" dirty="0">
                <a:solidFill>
                  <a:srgbClr val="1F2937"/>
                </a:solidFill>
                <a:latin typeface="Calibri" pitchFamily="34" charset="0"/>
                <a:ea typeface="Calibri" pitchFamily="34" charset="-122"/>
                <a:cs typeface="Calibri" pitchFamily="34" charset="-120"/>
              </a:rPr>
              <a:t>The HPA + VPA baseline currently reduces to plain HPA (its vertical loop never activates).</a:t>
            </a:r>
            <a:endParaRPr lang="en-US" sz="1450" dirty="0"/>
          </a:p>
          <a:p>
            <a:pPr marL="342900" indent="-342900">
              <a:spcAft>
                <a:spcPts val="1200"/>
              </a:spcAft>
              <a:buSzPct val="100000"/>
              <a:buChar char="•"/>
            </a:pPr>
            <a:r>
              <a:rPr lang="en-US" sz="1450" dirty="0">
                <a:solidFill>
                  <a:srgbClr val="1F2937"/>
                </a:solidFill>
                <a:latin typeface="Calibri" pitchFamily="34" charset="0"/>
                <a:ea typeface="Calibri" pitchFamily="34" charset="-122"/>
                <a:cs typeface="Calibri" pitchFamily="34" charset="-120"/>
              </a:rPr>
              <a:t>Three seeds per configuration is thin for statistical claims.</a:t>
            </a:r>
            <a:endParaRPr lang="en-US" sz="1450" dirty="0"/>
          </a:p>
        </p:txBody>
      </p:sp>
      <p:sp>
        <p:nvSpPr>
          <p:cNvPr id="9" name="Text 7"/>
          <p:cNvSpPr txBox="1"/>
          <p:nvPr/>
        </p:nvSpPr>
        <p:spPr>
          <a:xfrm>
            <a:off x="6492240" y="2286000"/>
            <a:ext cx="4937760" cy="3657600"/>
          </a:xfrm>
          <a:prstGeom prst="rect">
            <a:avLst/>
          </a:prstGeom>
          <a:noFill/>
          <a:ln/>
        </p:spPr>
        <p:txBody>
          <a:bodyPr wrap="square" lIns="0" tIns="0" rIns="0" bIns="0" rtlCol="0" anchor="t"/>
          <a:lstStyle/>
          <a:p>
            <a:pPr marL="342900" indent="-342900">
              <a:spcAft>
                <a:spcPts val="1200"/>
              </a:spcAft>
              <a:buSzPct val="100000"/>
              <a:buChar char="•"/>
            </a:pPr>
            <a:r>
              <a:rPr lang="en-US" sz="1450" dirty="0">
                <a:solidFill>
                  <a:srgbClr val="FFFFFF"/>
                </a:solidFill>
                <a:latin typeface="Calibri" pitchFamily="34" charset="0"/>
                <a:ea typeface="Calibri" pitchFamily="34" charset="-122"/>
                <a:cs typeface="Calibri" pitchFamily="34" charset="-120"/>
              </a:rPr>
              <a:t>Convert the full Azure Functions 2019 dataset — 10,000+ workloads.</a:t>
            </a:r>
            <a:endParaRPr lang="en-US" sz="1450" dirty="0"/>
          </a:p>
          <a:p>
            <a:pPr marL="342900" indent="-342900">
              <a:spcAft>
                <a:spcPts val="1200"/>
              </a:spcAft>
              <a:buSzPct val="100000"/>
              <a:buChar char="•"/>
            </a:pPr>
            <a:r>
              <a:rPr lang="en-US" sz="1450" dirty="0">
                <a:solidFill>
                  <a:srgbClr val="FFFFFF"/>
                </a:solidFill>
                <a:latin typeface="Calibri" pitchFamily="34" charset="0"/>
                <a:ea typeface="Calibri" pitchFamily="34" charset="-122"/>
                <a:cs typeface="Calibri" pitchFamily="34" charset="-120"/>
              </a:rPr>
              <a:t>Deploy the operator on Minikube with a live Prometheus adapter.</a:t>
            </a:r>
            <a:endParaRPr lang="en-US" sz="1450" dirty="0"/>
          </a:p>
          <a:p>
            <a:pPr marL="342900" indent="-342900">
              <a:spcAft>
                <a:spcPts val="1200"/>
              </a:spcAft>
              <a:buSzPct val="100000"/>
              <a:buChar char="•"/>
            </a:pPr>
            <a:r>
              <a:rPr lang="en-US" sz="1450" dirty="0">
                <a:solidFill>
                  <a:srgbClr val="FFFFFF"/>
                </a:solidFill>
                <a:latin typeface="Calibri" pitchFamily="34" charset="0"/>
                <a:ea typeface="Calibri" pitchFamily="34" charset="-122"/>
                <a:cs typeface="Calibri" pitchFamily="34" charset="-120"/>
              </a:rPr>
              <a:t>Rework both components, or drop them from the design.</a:t>
            </a:r>
            <a:endParaRPr lang="en-US" sz="1450" dirty="0"/>
          </a:p>
          <a:p>
            <a:pPr marL="342900" indent="-342900">
              <a:spcAft>
                <a:spcPts val="1200"/>
              </a:spcAft>
              <a:buSzPct val="100000"/>
              <a:buChar char="•"/>
            </a:pPr>
            <a:r>
              <a:rPr lang="en-US" sz="1450" dirty="0">
                <a:solidFill>
                  <a:srgbClr val="FFFFFF"/>
                </a:solidFill>
                <a:latin typeface="Calibri" pitchFamily="34" charset="0"/>
                <a:ea typeface="Calibri" pitchFamily="34" charset="-122"/>
                <a:cs typeface="Calibri" pitchFamily="34" charset="-120"/>
              </a:rPr>
              <a:t>Report core-minutes and publish a cost-versus-SLO frontier.</a:t>
            </a:r>
            <a:endParaRPr lang="en-US" sz="1450" dirty="0"/>
          </a:p>
          <a:p>
            <a:pPr marL="342900" indent="-342900">
              <a:spcAft>
                <a:spcPts val="1200"/>
              </a:spcAft>
              <a:buSzPct val="100000"/>
              <a:buChar char="•"/>
            </a:pPr>
            <a:r>
              <a:rPr lang="en-US" sz="1450" dirty="0">
                <a:solidFill>
                  <a:srgbClr val="FFFFFF"/>
                </a:solidFill>
                <a:latin typeface="Calibri" pitchFamily="34" charset="0"/>
                <a:ea typeface="Calibri" pitchFamily="34" charset="-122"/>
                <a:cs typeface="Calibri" pitchFamily="34" charset="-120"/>
              </a:rPr>
              <a:t>Fix the baseline so it demonstrates true loop-fighting.</a:t>
            </a:r>
            <a:endParaRPr lang="en-US" sz="1450" dirty="0"/>
          </a:p>
          <a:p>
            <a:pPr marL="342900" indent="-342900">
              <a:spcAft>
                <a:spcPts val="1200"/>
              </a:spcAft>
              <a:buSzPct val="100000"/>
              <a:buChar char="•"/>
            </a:pPr>
            <a:r>
              <a:rPr lang="en-US" sz="1450" dirty="0">
                <a:solidFill>
                  <a:srgbClr val="FFFFFF"/>
                </a:solidFill>
                <a:latin typeface="Calibri" pitchFamily="34" charset="0"/>
                <a:ea typeface="Calibri" pitchFamily="34" charset="-122"/>
                <a:cs typeface="Calibri" pitchFamily="34" charset="-120"/>
              </a:rPr>
              <a:t>Sweep horizontal delay from 5 s to 80 s and add seeds.</a:t>
            </a:r>
            <a:endParaRPr lang="en-US" sz="1450" dirty="0"/>
          </a:p>
        </p:txBody>
      </p:sp>
      <p:sp>
        <p:nvSpPr>
          <p:cNvPr id="10" name="Text 8"/>
          <p:cNvSpPr txBox="1"/>
          <p:nvPr/>
        </p:nvSpPr>
        <p:spPr>
          <a:xfrm>
            <a:off x="548640" y="6419088"/>
            <a:ext cx="8229600" cy="228600"/>
          </a:xfrm>
          <a:prstGeom prst="rect">
            <a:avLst/>
          </a:prstGeom>
          <a:noFill/>
          <a:ln/>
        </p:spPr>
        <p:txBody>
          <a:bodyPr wrap="square" lIns="0" tIns="0" rIns="0" bIns="0" rtlCol="0" anchor="t"/>
          <a:lstStyle/>
          <a:p>
            <a:pPr indent="0" marL="0">
              <a:buNone/>
            </a:pPr>
            <a:r>
              <a:rPr lang="en-US" sz="900" dirty="0">
                <a:solidFill>
                  <a:srgbClr val="8A94A3"/>
                </a:solidFill>
                <a:latin typeface="Calibri" pitchFamily="34" charset="0"/>
                <a:ea typeface="Calibri" pitchFamily="34" charset="-122"/>
                <a:cs typeface="Calibri" pitchFamily="34" charset="-120"/>
              </a:rPr>
              <a:t>VIT Vellore  ·  BCSE303P Operating Systems Laboratory  ·  CHIMERA  ·  Review 2</a:t>
            </a:r>
            <a:endParaRPr lang="en-US" sz="900" dirty="0"/>
          </a:p>
        </p:txBody>
      </p:sp>
      <p:sp>
        <p:nvSpPr>
          <p:cNvPr id="11" name="Text 9"/>
          <p:cNvSpPr txBox="1"/>
          <p:nvPr/>
        </p:nvSpPr>
        <p:spPr>
          <a:xfrm>
            <a:off x="10725912" y="6419088"/>
            <a:ext cx="914400" cy="228600"/>
          </a:xfrm>
          <a:prstGeom prst="rect">
            <a:avLst/>
          </a:prstGeom>
          <a:noFill/>
          <a:ln/>
        </p:spPr>
        <p:txBody>
          <a:bodyPr wrap="square" lIns="0" tIns="0" rIns="0" bIns="0" rtlCol="0" anchor="t"/>
          <a:lstStyle/>
          <a:p>
            <a:pPr algn="r" indent="0" marL="0">
              <a:buNone/>
            </a:pPr>
            <a:r>
              <a:rPr lang="en-US" sz="900" dirty="0">
                <a:solidFill>
                  <a:srgbClr val="8A94A3"/>
                </a:solidFill>
                <a:latin typeface="Calibri" pitchFamily="34" charset="0"/>
                <a:ea typeface="Calibri" pitchFamily="34" charset="-122"/>
                <a:cs typeface="Calibri" pitchFamily="34" charset="-120"/>
              </a:rPr>
              <a:t>19 / 21</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300" kern="0" dirty="0">
                <a:solidFill>
                  <a:srgbClr val="C7811A"/>
                </a:solidFill>
                <a:latin typeface="Calibri" pitchFamily="34" charset="0"/>
                <a:ea typeface="Calibri" pitchFamily="34" charset="-122"/>
                <a:cs typeface="Calibri" pitchFamily="34" charset="-120"/>
              </a:rPr>
              <a:t>REFERENCES</a:t>
            </a:r>
            <a:endParaRPr lang="en-US" sz="11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rgbClr val="13223A"/>
                </a:solidFill>
                <a:latin typeface="Cambria" pitchFamily="34" charset="0"/>
                <a:ea typeface="Cambria" pitchFamily="34" charset="-122"/>
                <a:cs typeface="Cambria" pitchFamily="34" charset="-120"/>
              </a:rPr>
              <a:t>References</a:t>
            </a:r>
            <a:endParaRPr lang="en-US" sz="3000" dirty="0"/>
          </a:p>
        </p:txBody>
      </p:sp>
      <p:sp>
        <p:nvSpPr>
          <p:cNvPr id="4" name="Text 2"/>
          <p:cNvSpPr txBox="1"/>
          <p:nvPr/>
        </p:nvSpPr>
        <p:spPr>
          <a:xfrm>
            <a:off x="548640" y="1600200"/>
            <a:ext cx="11064240" cy="4480560"/>
          </a:xfrm>
          <a:prstGeom prst="rect">
            <a:avLst/>
          </a:prstGeom>
          <a:noFill/>
          <a:ln/>
        </p:spPr>
        <p:txBody>
          <a:bodyPr wrap="square" lIns="0" tIns="0" rIns="0" bIns="0" rtlCol="0" anchor="t"/>
          <a:lstStyle/>
          <a:p>
            <a:pPr marL="342900" indent="-342900">
              <a:spcAft>
                <a:spcPts val="1200"/>
              </a:spcAft>
              <a:buSzPct val="100000"/>
              <a:buFont typeface="+mj-lt"/>
              <a:buAutoNum type="arabicPeriod" startAt="1"/>
            </a:pPr>
            <a:r>
              <a:rPr lang="en-US" sz="1400" dirty="0">
                <a:solidFill>
                  <a:srgbClr val="1F2937"/>
                </a:solidFill>
                <a:latin typeface="Calibri" pitchFamily="34" charset="0"/>
                <a:ea typeface="Calibri" pitchFamily="34" charset="-122"/>
                <a:cs typeface="Calibri" pitchFamily="34" charset="-120"/>
              </a:rPr>
              <a:t>M. Shahrad et al., "Serverless in the Wild: Characterizing and Optimizing the Serverless Workload at a Large Cloud Provider," USENIX ATC, 2020. (Azure Functions 2019 trace)</a:t>
            </a:r>
            <a:endParaRPr lang="en-US" sz="1400" dirty="0"/>
          </a:p>
          <a:p>
            <a:pPr marL="342900" indent="-342900">
              <a:spcAft>
                <a:spcPts val="1200"/>
              </a:spcAft>
              <a:buSzPct val="100000"/>
              <a:buFont typeface="+mj-lt"/>
              <a:buAutoNum type="arabicPeriod" startAt="1"/>
            </a:pPr>
            <a:r>
              <a:rPr lang="en-US" sz="1400" dirty="0">
                <a:solidFill>
                  <a:srgbClr val="1F2937"/>
                </a:solidFill>
                <a:latin typeface="Calibri" pitchFamily="34" charset="0"/>
                <a:ea typeface="Calibri" pitchFamily="34" charset="-122"/>
                <a:cs typeface="Calibri" pitchFamily="34" charset="-120"/>
              </a:rPr>
              <a:t>Y. Romano, E. Patterson, E. Candès, "Conformalized Quantile Regression," NeurIPS, 2019.</a:t>
            </a:r>
            <a:endParaRPr lang="en-US" sz="1400" dirty="0"/>
          </a:p>
          <a:p>
            <a:pPr marL="342900" indent="-342900">
              <a:spcAft>
                <a:spcPts val="1200"/>
              </a:spcAft>
              <a:buSzPct val="100000"/>
              <a:buFont typeface="+mj-lt"/>
              <a:buAutoNum type="arabicPeriod" startAt="1"/>
            </a:pPr>
            <a:r>
              <a:rPr lang="en-US" sz="1400" dirty="0">
                <a:solidFill>
                  <a:srgbClr val="1F2937"/>
                </a:solidFill>
                <a:latin typeface="Calibri" pitchFamily="34" charset="0"/>
                <a:ea typeface="Calibri" pitchFamily="34" charset="-122"/>
                <a:cs typeface="Calibri" pitchFamily="34" charset="-120"/>
              </a:rPr>
              <a:t>A. Bifet, R. Gavaldà, "Learning from Time-Changing Data with Adaptive Windowing," SIAM SDM, 2007. (ADWIN)</a:t>
            </a:r>
            <a:endParaRPr lang="en-US" sz="1400" dirty="0"/>
          </a:p>
          <a:p>
            <a:pPr marL="342900" indent="-342900">
              <a:spcAft>
                <a:spcPts val="1200"/>
              </a:spcAft>
              <a:buSzPct val="100000"/>
              <a:buFont typeface="+mj-lt"/>
              <a:buAutoNum type="arabicPeriod" startAt="1"/>
            </a:pPr>
            <a:r>
              <a:rPr lang="en-US" sz="1400" dirty="0">
                <a:solidFill>
                  <a:srgbClr val="1F2937"/>
                </a:solidFill>
                <a:latin typeface="Calibri" pitchFamily="34" charset="0"/>
                <a:ea typeface="Calibri" pitchFamily="34" charset="-122"/>
                <a:cs typeface="Calibri" pitchFamily="34" charset="-120"/>
              </a:rPr>
              <a:t>Kubernetes Enhancement Proposal KEP-1287, "In-Place Update of Pod Resources."</a:t>
            </a:r>
            <a:endParaRPr lang="en-US" sz="1400" dirty="0"/>
          </a:p>
          <a:p>
            <a:pPr marL="342900" indent="-342900">
              <a:spcAft>
                <a:spcPts val="1200"/>
              </a:spcAft>
              <a:buSzPct val="100000"/>
              <a:buFont typeface="+mj-lt"/>
              <a:buAutoNum type="arabicPeriod" startAt="1"/>
            </a:pPr>
            <a:r>
              <a:rPr lang="en-US" sz="1400" dirty="0">
                <a:solidFill>
                  <a:srgbClr val="1F2937"/>
                </a:solidFill>
                <a:latin typeface="Calibri" pitchFamily="34" charset="0"/>
                <a:ea typeface="Calibri" pitchFamily="34" charset="-122"/>
                <a:cs typeface="Calibri" pitchFamily="34" charset="-120"/>
              </a:rPr>
              <a:t>Kubernetes documentation, "Horizontal Pod Autoscaling" and "Vertical Pod Autoscaler."</a:t>
            </a:r>
            <a:endParaRPr lang="en-US" sz="1400" dirty="0"/>
          </a:p>
          <a:p>
            <a:pPr marL="342900" indent="-342900">
              <a:spcAft>
                <a:spcPts val="1200"/>
              </a:spcAft>
              <a:buSzPct val="100000"/>
              <a:buFont typeface="+mj-lt"/>
              <a:buAutoNum type="arabicPeriod" startAt="1"/>
            </a:pPr>
            <a:r>
              <a:rPr lang="en-US" sz="1400" dirty="0">
                <a:solidFill>
                  <a:srgbClr val="1F2937"/>
                </a:solidFill>
                <a:latin typeface="Calibri" pitchFamily="34" charset="0"/>
                <a:ea typeface="Calibri" pitchFamily="34" charset="-122"/>
                <a:cs typeface="Calibri" pitchFamily="34" charset="-120"/>
              </a:rPr>
              <a:t>Google Cloud documentation, "Multidimensional Pod Autoscaling" (GKE).</a:t>
            </a:r>
            <a:endParaRPr lang="en-US" sz="1400" dirty="0"/>
          </a:p>
        </p:txBody>
      </p:sp>
      <p:sp>
        <p:nvSpPr>
          <p:cNvPr id="5" name="Text 3"/>
          <p:cNvSpPr txBox="1"/>
          <p:nvPr/>
        </p:nvSpPr>
        <p:spPr>
          <a:xfrm>
            <a:off x="548640" y="6419088"/>
            <a:ext cx="8229600" cy="228600"/>
          </a:xfrm>
          <a:prstGeom prst="rect">
            <a:avLst/>
          </a:prstGeom>
          <a:noFill/>
          <a:ln/>
        </p:spPr>
        <p:txBody>
          <a:bodyPr wrap="square" lIns="0" tIns="0" rIns="0" bIns="0" rtlCol="0" anchor="t"/>
          <a:lstStyle/>
          <a:p>
            <a:pPr indent="0" marL="0">
              <a:buNone/>
            </a:pPr>
            <a:r>
              <a:rPr lang="en-US" sz="900" dirty="0">
                <a:solidFill>
                  <a:srgbClr val="8A94A3"/>
                </a:solidFill>
                <a:latin typeface="Calibri" pitchFamily="34" charset="0"/>
                <a:ea typeface="Calibri" pitchFamily="34" charset="-122"/>
                <a:cs typeface="Calibri" pitchFamily="34" charset="-120"/>
              </a:rPr>
              <a:t>VIT Vellore  ·  BCSE303P Operating Systems Laboratory  ·  CHIMERA  ·  Review 2</a:t>
            </a:r>
            <a:endParaRPr lang="en-US" sz="900" dirty="0"/>
          </a:p>
        </p:txBody>
      </p:sp>
      <p:sp>
        <p:nvSpPr>
          <p:cNvPr id="6" name="Text 4"/>
          <p:cNvSpPr txBox="1"/>
          <p:nvPr/>
        </p:nvSpPr>
        <p:spPr>
          <a:xfrm>
            <a:off x="10725912" y="6419088"/>
            <a:ext cx="914400" cy="228600"/>
          </a:xfrm>
          <a:prstGeom prst="rect">
            <a:avLst/>
          </a:prstGeom>
          <a:noFill/>
          <a:ln/>
        </p:spPr>
        <p:txBody>
          <a:bodyPr wrap="square" lIns="0" tIns="0" rIns="0" bIns="0" rtlCol="0" anchor="t"/>
          <a:lstStyle/>
          <a:p>
            <a:pPr algn="r" indent="0" marL="0">
              <a:buNone/>
            </a:pPr>
            <a:r>
              <a:rPr lang="en-US" sz="900" dirty="0">
                <a:solidFill>
                  <a:srgbClr val="8A94A3"/>
                </a:solidFill>
                <a:latin typeface="Calibri" pitchFamily="34" charset="0"/>
                <a:ea typeface="Calibri" pitchFamily="34" charset="-122"/>
                <a:cs typeface="Calibri" pitchFamily="34" charset="-120"/>
              </a:rPr>
              <a:t>20 / 21</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3223A"/>
        </a:solidFill>
      </p:bgPr>
    </p:bg>
    <p:spTree>
      <p:nvGrpSpPr>
        <p:cNvPr id="1" name=""/>
        <p:cNvGrpSpPr/>
        <p:nvPr/>
      </p:nvGrpSpPr>
      <p:grpSpPr>
        <a:xfrm>
          <a:off x="0" y="0"/>
          <a:ext cx="0" cy="0"/>
          <a:chOff x="0" y="0"/>
          <a:chExt cx="0" cy="0"/>
        </a:xfrm>
      </p:grpSpPr>
      <p:sp>
        <p:nvSpPr>
          <p:cNvPr id="2" name="Text 0"/>
          <p:cNvSpPr txBox="1"/>
          <p:nvPr/>
        </p:nvSpPr>
        <p:spPr>
          <a:xfrm>
            <a:off x="731520" y="640080"/>
            <a:ext cx="5486400" cy="274320"/>
          </a:xfrm>
          <a:prstGeom prst="rect">
            <a:avLst/>
          </a:prstGeom>
          <a:noFill/>
          <a:ln/>
        </p:spPr>
        <p:txBody>
          <a:bodyPr wrap="square" lIns="0" tIns="0" rIns="0" bIns="0" rtlCol="0" anchor="t"/>
          <a:lstStyle/>
          <a:p>
            <a:pPr indent="0" marL="0">
              <a:buNone/>
            </a:pPr>
            <a:r>
              <a:rPr lang="en-US" sz="1100" b="1" spc="300" kern="0" dirty="0">
                <a:solidFill>
                  <a:srgbClr val="E3A646"/>
                </a:solidFill>
                <a:latin typeface="Calibri" pitchFamily="34" charset="0"/>
                <a:ea typeface="Calibri" pitchFamily="34" charset="-122"/>
                <a:cs typeface="Calibri" pitchFamily="34" charset="-120"/>
              </a:rPr>
              <a:t>CONCLUSION</a:t>
            </a:r>
            <a:endParaRPr lang="en-US" sz="1100" dirty="0"/>
          </a:p>
        </p:txBody>
      </p:sp>
      <p:sp>
        <p:nvSpPr>
          <p:cNvPr id="3" name="Text 1"/>
          <p:cNvSpPr txBox="1"/>
          <p:nvPr/>
        </p:nvSpPr>
        <p:spPr>
          <a:xfrm>
            <a:off x="731520" y="1005840"/>
            <a:ext cx="9601200" cy="118872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A single control law for two actuators with very different delays.</a:t>
            </a:r>
            <a:endParaRPr lang="en-US" sz="3400" dirty="0"/>
          </a:p>
        </p:txBody>
      </p:sp>
      <p:sp>
        <p:nvSpPr>
          <p:cNvPr id="4" name="Text 2"/>
          <p:cNvSpPr txBox="1"/>
          <p:nvPr/>
        </p:nvSpPr>
        <p:spPr>
          <a:xfrm>
            <a:off x="731520" y="2606040"/>
            <a:ext cx="2560320" cy="822960"/>
          </a:xfrm>
          <a:prstGeom prst="rect">
            <a:avLst/>
          </a:prstGeom>
          <a:noFill/>
          <a:ln/>
        </p:spPr>
        <p:txBody>
          <a:bodyPr wrap="square" lIns="0" tIns="0" rIns="0" bIns="0" rtlCol="0" anchor="t"/>
          <a:lstStyle/>
          <a:p>
            <a:pPr indent="0" marL="0">
              <a:buNone/>
            </a:pPr>
            <a:r>
              <a:rPr lang="en-US" sz="4400" b="1" dirty="0">
                <a:solidFill>
                  <a:srgbClr val="E3A646"/>
                </a:solidFill>
                <a:latin typeface="Cambria" pitchFamily="34" charset="0"/>
                <a:ea typeface="Cambria" pitchFamily="34" charset="-122"/>
                <a:cs typeface="Cambria" pitchFamily="34" charset="-120"/>
              </a:rPr>
              <a:t>10 / 12</a:t>
            </a:r>
            <a:endParaRPr lang="en-US" sz="4400" dirty="0"/>
          </a:p>
        </p:txBody>
      </p:sp>
      <p:sp>
        <p:nvSpPr>
          <p:cNvPr id="5" name="Text 3"/>
          <p:cNvSpPr txBox="1"/>
          <p:nvPr/>
        </p:nvSpPr>
        <p:spPr>
          <a:xfrm>
            <a:off x="731520" y="3429000"/>
            <a:ext cx="2560320" cy="320040"/>
          </a:xfrm>
          <a:prstGeom prst="rect">
            <a:avLst/>
          </a:prstGeom>
          <a:noFill/>
          <a:ln/>
        </p:spPr>
        <p:txBody>
          <a:bodyPr wrap="square" lIns="0" tIns="0" rIns="0" bIns="0" rtlCol="0" anchor="t"/>
          <a:lstStyle/>
          <a:p>
            <a:pPr indent="0" marL="0">
              <a:buNone/>
            </a:pPr>
            <a:r>
              <a:rPr lang="en-US" sz="1400" dirty="0">
                <a:solidFill>
                  <a:srgbClr val="CADCFC"/>
                </a:solidFill>
                <a:latin typeface="Calibri" pitchFamily="34" charset="0"/>
                <a:ea typeface="Calibri" pitchFamily="34" charset="-122"/>
                <a:cs typeface="Calibri" pitchFamily="34" charset="-120"/>
              </a:rPr>
              <a:t>modules complete</a:t>
            </a:r>
            <a:endParaRPr lang="en-US" sz="1400" dirty="0"/>
          </a:p>
        </p:txBody>
      </p:sp>
      <p:sp>
        <p:nvSpPr>
          <p:cNvPr id="6" name="Text 4"/>
          <p:cNvSpPr txBox="1"/>
          <p:nvPr/>
        </p:nvSpPr>
        <p:spPr>
          <a:xfrm>
            <a:off x="3474720" y="2606040"/>
            <a:ext cx="2560320" cy="822960"/>
          </a:xfrm>
          <a:prstGeom prst="rect">
            <a:avLst/>
          </a:prstGeom>
          <a:noFill/>
          <a:ln/>
        </p:spPr>
        <p:txBody>
          <a:bodyPr wrap="square" lIns="0" tIns="0" rIns="0" bIns="0" rtlCol="0" anchor="t"/>
          <a:lstStyle/>
          <a:p>
            <a:pPr indent="0" marL="0">
              <a:buNone/>
            </a:pPr>
            <a:r>
              <a:rPr lang="en-US" sz="4400" b="1" dirty="0">
                <a:solidFill>
                  <a:srgbClr val="E3A646"/>
                </a:solidFill>
                <a:latin typeface="Cambria" pitchFamily="34" charset="0"/>
                <a:ea typeface="Cambria" pitchFamily="34" charset="-122"/>
                <a:cs typeface="Cambria" pitchFamily="34" charset="-120"/>
              </a:rPr>
              <a:t>720</a:t>
            </a:r>
            <a:endParaRPr lang="en-US" sz="4400" dirty="0"/>
          </a:p>
        </p:txBody>
      </p:sp>
      <p:sp>
        <p:nvSpPr>
          <p:cNvPr id="7" name="Text 5"/>
          <p:cNvSpPr txBox="1"/>
          <p:nvPr/>
        </p:nvSpPr>
        <p:spPr>
          <a:xfrm>
            <a:off x="3474720" y="3429000"/>
            <a:ext cx="2560320" cy="320040"/>
          </a:xfrm>
          <a:prstGeom prst="rect">
            <a:avLst/>
          </a:prstGeom>
          <a:noFill/>
          <a:ln/>
        </p:spPr>
        <p:txBody>
          <a:bodyPr wrap="square" lIns="0" tIns="0" rIns="0" bIns="0" rtlCol="0" anchor="t"/>
          <a:lstStyle/>
          <a:p>
            <a:pPr indent="0" marL="0">
              <a:buNone/>
            </a:pPr>
            <a:r>
              <a:rPr lang="en-US" sz="1400" dirty="0">
                <a:solidFill>
                  <a:srgbClr val="CADCFC"/>
                </a:solidFill>
                <a:latin typeface="Calibri" pitchFamily="34" charset="0"/>
                <a:ea typeface="Calibri" pitchFamily="34" charset="-122"/>
                <a:cs typeface="Calibri" pitchFamily="34" charset="-120"/>
              </a:rPr>
              <a:t>verified simulation runs</a:t>
            </a:r>
            <a:endParaRPr lang="en-US" sz="1400" dirty="0"/>
          </a:p>
        </p:txBody>
      </p:sp>
      <p:sp>
        <p:nvSpPr>
          <p:cNvPr id="8" name="Text 6"/>
          <p:cNvSpPr txBox="1"/>
          <p:nvPr/>
        </p:nvSpPr>
        <p:spPr>
          <a:xfrm>
            <a:off x="6217920" y="2606040"/>
            <a:ext cx="2560320" cy="822960"/>
          </a:xfrm>
          <a:prstGeom prst="rect">
            <a:avLst/>
          </a:prstGeom>
          <a:noFill/>
          <a:ln/>
        </p:spPr>
        <p:txBody>
          <a:bodyPr wrap="square" lIns="0" tIns="0" rIns="0" bIns="0" rtlCol="0" anchor="t"/>
          <a:lstStyle/>
          <a:p>
            <a:pPr indent="0" marL="0">
              <a:buNone/>
            </a:pPr>
            <a:r>
              <a:rPr lang="en-US" sz="4400" b="1" dirty="0">
                <a:solidFill>
                  <a:srgbClr val="E3A646"/>
                </a:solidFill>
                <a:latin typeface="Cambria" pitchFamily="34" charset="0"/>
                <a:ea typeface="Cambria" pitchFamily="34" charset="-122"/>
                <a:cs typeface="Cambria" pitchFamily="34" charset="-120"/>
              </a:rPr>
              <a:t>6×</a:t>
            </a:r>
            <a:endParaRPr lang="en-US" sz="4400" dirty="0"/>
          </a:p>
        </p:txBody>
      </p:sp>
      <p:sp>
        <p:nvSpPr>
          <p:cNvPr id="9" name="Text 7"/>
          <p:cNvSpPr txBox="1"/>
          <p:nvPr/>
        </p:nvSpPr>
        <p:spPr>
          <a:xfrm>
            <a:off x="6217920" y="3429000"/>
            <a:ext cx="2560320" cy="320040"/>
          </a:xfrm>
          <a:prstGeom prst="rect">
            <a:avLst/>
          </a:prstGeom>
          <a:noFill/>
          <a:ln/>
        </p:spPr>
        <p:txBody>
          <a:bodyPr wrap="square" lIns="0" tIns="0" rIns="0" bIns="0" rtlCol="0" anchor="t"/>
          <a:lstStyle/>
          <a:p>
            <a:pPr indent="0" marL="0">
              <a:buNone/>
            </a:pPr>
            <a:r>
              <a:rPr lang="en-US" sz="1400" dirty="0">
                <a:solidFill>
                  <a:srgbClr val="CADCFC"/>
                </a:solidFill>
                <a:latin typeface="Calibri" pitchFamily="34" charset="0"/>
                <a:ea typeface="Calibri" pitchFamily="34" charset="-122"/>
                <a:cs typeface="Calibri" pitchFamily="34" charset="-120"/>
              </a:rPr>
              <a:t>better p99 than KOSMOS</a:t>
            </a:r>
            <a:endParaRPr lang="en-US" sz="1400" dirty="0"/>
          </a:p>
        </p:txBody>
      </p:sp>
      <p:sp>
        <p:nvSpPr>
          <p:cNvPr id="10" name="Text 8"/>
          <p:cNvSpPr txBox="1"/>
          <p:nvPr/>
        </p:nvSpPr>
        <p:spPr>
          <a:xfrm>
            <a:off x="8961120" y="2606040"/>
            <a:ext cx="2560320" cy="822960"/>
          </a:xfrm>
          <a:prstGeom prst="rect">
            <a:avLst/>
          </a:prstGeom>
          <a:noFill/>
          <a:ln/>
        </p:spPr>
        <p:txBody>
          <a:bodyPr wrap="square" lIns="0" tIns="0" rIns="0" bIns="0" rtlCol="0" anchor="t"/>
          <a:lstStyle/>
          <a:p>
            <a:pPr indent="0" marL="0">
              <a:buNone/>
            </a:pPr>
            <a:r>
              <a:rPr lang="en-US" sz="4400" b="1" dirty="0">
                <a:solidFill>
                  <a:srgbClr val="E3A646"/>
                </a:solidFill>
                <a:latin typeface="Cambria" pitchFamily="34" charset="0"/>
                <a:ea typeface="Cambria" pitchFamily="34" charset="-122"/>
                <a:cs typeface="Cambria" pitchFamily="34" charset="-120"/>
              </a:rPr>
              <a:t>20×</a:t>
            </a:r>
            <a:endParaRPr lang="en-US" sz="4400" dirty="0"/>
          </a:p>
        </p:txBody>
      </p:sp>
      <p:sp>
        <p:nvSpPr>
          <p:cNvPr id="11" name="Text 9"/>
          <p:cNvSpPr txBox="1"/>
          <p:nvPr/>
        </p:nvSpPr>
        <p:spPr>
          <a:xfrm>
            <a:off x="8961120" y="3429000"/>
            <a:ext cx="2560320" cy="320040"/>
          </a:xfrm>
          <a:prstGeom prst="rect">
            <a:avLst/>
          </a:prstGeom>
          <a:noFill/>
          <a:ln/>
        </p:spPr>
        <p:txBody>
          <a:bodyPr wrap="square" lIns="0" tIns="0" rIns="0" bIns="0" rtlCol="0" anchor="t"/>
          <a:lstStyle/>
          <a:p>
            <a:pPr indent="0" marL="0">
              <a:buNone/>
            </a:pPr>
            <a:r>
              <a:rPr lang="en-US" sz="1400" dirty="0">
                <a:solidFill>
                  <a:srgbClr val="CADCFC"/>
                </a:solidFill>
                <a:latin typeface="Calibri" pitchFamily="34" charset="0"/>
                <a:ea typeface="Calibri" pitchFamily="34" charset="-122"/>
                <a:cs typeface="Calibri" pitchFamily="34" charset="-120"/>
              </a:rPr>
              <a:t>fewer scaling actions</a:t>
            </a:r>
            <a:endParaRPr lang="en-US" sz="1400" dirty="0"/>
          </a:p>
        </p:txBody>
      </p:sp>
      <p:sp>
        <p:nvSpPr>
          <p:cNvPr id="12" name="Shape 10"/>
          <p:cNvSpPr/>
          <p:nvPr/>
        </p:nvSpPr>
        <p:spPr>
          <a:xfrm>
            <a:off x="731520" y="4114800"/>
            <a:ext cx="10725912" cy="0"/>
          </a:xfrm>
          <a:prstGeom prst="line">
            <a:avLst/>
          </a:prstGeom>
          <a:noFill/>
          <a:ln w="12700">
            <a:solidFill>
              <a:srgbClr val="2E4263"/>
            </a:solidFill>
            <a:prstDash val="solid"/>
          </a:ln>
        </p:spPr>
      </p:sp>
      <p:sp>
        <p:nvSpPr>
          <p:cNvPr id="13" name="Text 11"/>
          <p:cNvSpPr txBox="1"/>
          <p:nvPr/>
        </p:nvSpPr>
        <p:spPr>
          <a:xfrm>
            <a:off x="731520" y="4343400"/>
            <a:ext cx="9601200" cy="73152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Delay-state augmentation is the component that earns its place: removing it costs 10.9 points of SLO. The next milestone is a live cluster.</a:t>
            </a:r>
            <a:endParaRPr lang="en-US" sz="1600" dirty="0"/>
          </a:p>
        </p:txBody>
      </p:sp>
      <p:sp>
        <p:nvSpPr>
          <p:cNvPr id="14" name="Text 12"/>
          <p:cNvSpPr txBox="1"/>
          <p:nvPr/>
        </p:nvSpPr>
        <p:spPr>
          <a:xfrm>
            <a:off x="731520" y="5394960"/>
            <a:ext cx="7315200" cy="548640"/>
          </a:xfrm>
          <a:prstGeom prst="rect">
            <a:avLst/>
          </a:prstGeom>
          <a:noFill/>
          <a:ln/>
        </p:spPr>
        <p:txBody>
          <a:bodyPr wrap="square" lIns="0" tIns="0" rIns="0" bIns="0" rtlCol="0" anchor="t"/>
          <a:lstStyle/>
          <a:p>
            <a:pPr indent="0" marL="0">
              <a:buNone/>
            </a:pPr>
            <a:r>
              <a:rPr lang="en-US" sz="2400" b="1" dirty="0">
                <a:solidFill>
                  <a:srgbClr val="FFFFFF"/>
                </a:solidFill>
                <a:latin typeface="Cambria" pitchFamily="34" charset="0"/>
                <a:ea typeface="Cambria" pitchFamily="34" charset="-122"/>
                <a:cs typeface="Cambria" pitchFamily="34" charset="-120"/>
              </a:rPr>
              <a:t>Thank you  ·  Questions</a:t>
            </a:r>
            <a:endParaRPr lang="en-US" sz="2400" dirty="0"/>
          </a:p>
        </p:txBody>
      </p:sp>
      <p:sp>
        <p:nvSpPr>
          <p:cNvPr id="15" name="Text 13"/>
          <p:cNvSpPr txBox="1"/>
          <p:nvPr/>
        </p:nvSpPr>
        <p:spPr>
          <a:xfrm>
            <a:off x="548640" y="6419088"/>
            <a:ext cx="8229600" cy="228600"/>
          </a:xfrm>
          <a:prstGeom prst="rect">
            <a:avLst/>
          </a:prstGeom>
          <a:noFill/>
          <a:ln/>
        </p:spPr>
        <p:txBody>
          <a:bodyPr wrap="square" lIns="0" tIns="0" rIns="0" bIns="0" rtlCol="0" anchor="t"/>
          <a:lstStyle/>
          <a:p>
            <a:pPr indent="0" marL="0">
              <a:buNone/>
            </a:pPr>
            <a:r>
              <a:rPr lang="en-US" sz="900" dirty="0">
                <a:solidFill>
                  <a:srgbClr val="8FA3BF"/>
                </a:solidFill>
                <a:latin typeface="Calibri" pitchFamily="34" charset="0"/>
                <a:ea typeface="Calibri" pitchFamily="34" charset="-122"/>
                <a:cs typeface="Calibri" pitchFamily="34" charset="-120"/>
              </a:rPr>
              <a:t>VIT Vellore  ·  BCSE303P Operating Systems Laboratory  ·  CHIMERA  ·  Review 2</a:t>
            </a:r>
            <a:endParaRPr lang="en-US" sz="900" dirty="0"/>
          </a:p>
        </p:txBody>
      </p:sp>
      <p:sp>
        <p:nvSpPr>
          <p:cNvPr id="16" name="Text 14"/>
          <p:cNvSpPr txBox="1"/>
          <p:nvPr/>
        </p:nvSpPr>
        <p:spPr>
          <a:xfrm>
            <a:off x="10725912" y="6419088"/>
            <a:ext cx="914400" cy="228600"/>
          </a:xfrm>
          <a:prstGeom prst="rect">
            <a:avLst/>
          </a:prstGeom>
          <a:noFill/>
          <a:ln/>
        </p:spPr>
        <p:txBody>
          <a:bodyPr wrap="square" lIns="0" tIns="0" rIns="0" bIns="0" rtlCol="0" anchor="t"/>
          <a:lstStyle/>
          <a:p>
            <a:pPr algn="r" indent="0" marL="0">
              <a:buNone/>
            </a:pPr>
            <a:r>
              <a:rPr lang="en-US" sz="900" dirty="0">
                <a:solidFill>
                  <a:srgbClr val="8FA3BF"/>
                </a:solidFill>
                <a:latin typeface="Calibri" pitchFamily="34" charset="0"/>
                <a:ea typeface="Calibri" pitchFamily="34" charset="-122"/>
                <a:cs typeface="Calibri" pitchFamily="34" charset="-120"/>
              </a:rPr>
              <a:t>21 / 21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CHIMERA — Review 2</dc:title>
  <dc:subject>PptxGenJS Presentation</dc:subject>
  <dc:creator>Adithyan C S S, Vishal B S, Madhan A</dc:creator>
  <cp:lastModifiedBy>Adithyan C S S, Vishal B S, Madhan A</cp:lastModifiedBy>
  <cp:revision>1</cp:revision>
  <dcterms:created xsi:type="dcterms:W3CDTF">2026-09-28T10:34:39Z</dcterms:created>
  <dcterms:modified xsi:type="dcterms:W3CDTF">2026-09-28T10:34:39Z</dcterms:modified>
</cp:coreProperties>
</file>