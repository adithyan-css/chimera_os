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OS connection: this is resource scheduling and allocation under actuation delay. Kubernetes decides how many pods and how much CPU each gets — a classic OS resource-management problem, just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core contribution is in sections 2 and 3; the evidence is in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 number is the whole motivation. Vertical is fast but capped by node size; horizontal is unbounded but slow. Neither alone is enough, and running both naively is worse than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running in a loop every fifteen seconds: we predict the load, decide how much CPU and how many pods, and act. The important arrow is the amber one. Pods take twenty seconds to start; this arrow feeds pending orders back into the controller so it knows capacity is on the way and doesn't order more. That's the part that's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LQR and not MPC: MPC solves a quadratic program every tick. We solve the Riccati equation once and get a fixed gain matrix, which is orders of magnitude cheaper per control step. In the demo, all eigenvalues of P are positive — that is what makes the Lyapunov stability argument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five real traces are 100-minute excerpts. Say it before the examiner finds it — converting the full 10,000-workload dataset is our next step; the script is written, we just haven't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thing a good examiner asks is whether the comparison is rigged.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subsystem rather than listing twelve items flat. If asked which module was hardest: module 6, the delay augmentation, because getting the state-space wiring to match the simulated plant took several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module 12 — the operator is written and containerised but has never touched a live cluster. That is the honest state and it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clean win. AAPA beats us on violations by 1.1 points only because it buys 272 pod-minutes against our 147. The dashed points show what a 1.5-core head-start is worth — about 9 points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results are paired t-test significant at p = 0.0001 and below, with very large effect sizes. This is the strongest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two negative results is the right move — it shows the ablation is a real experiment and not a formality. Both are scheduled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systems we measured; the rest are related work we did not run. Their purpose is to show we know the field and exactly how we differ. The patents rows keep our contribution clear of prior art: neither drives both axes from a control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a project that ran experiments from one that verified them. If asked how we found the headroom confound: CHIMERA was losing to HPA by a suspiciously large margin, so we read the baseline config rather than accepting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operator has not run against a live cluster yet. The CRD and RBAC are real and reviewable; the telemetry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project source. Do not say we use half the resources: pod-minutes count pods, not CPU, and our pods are bigger. In CPU we use about 12% more. The correct claim: about the same CPU, less than half the pods, 4.8 points better — and every pod avoided is a 20-second cold start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examiner spots identical HPA and HPA+VPA rows: we found that ourselves — the vertical loop never fires in that configuration because per-pod CPU stays below the minimum we allow, so that row is currently plain HPA. It is on our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demo and not the whole project: the demo runs the same code as our full evaluation — it's one workload out of the 720 runs. It finishes in three seconds so you can watch it; the full sweep takes several minutes, only prints a progress log, and would overwrite the saved results our report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limitations before the panel does is the difference between a defensive review and a confident one. Every item on the left has a matching item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full citations for AAPA and KOSMOS here as they appear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LQR over MPC (cost per tick); why 12.9% still fail on the demo trace (70% utilisation target puts mean latency right at the 500 ms limit — same target as HPA, where we are 4.8 points better); has it run on a real cluster (no — the reader of live traffic still returns test numbers; that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548640"/>
            <a:ext cx="8229600" cy="320040"/>
          </a:xfrm>
          <a:prstGeom prst="rect">
            <a:avLst/>
          </a:prstGeom>
          <a:noFill/>
          <a:ln/>
        </p:spPr>
        <p:txBody>
          <a:bodyPr wrap="square" lIns="0" tIns="0" rIns="0" bIns="0" rtlCol="0" anchor="t"/>
          <a:lstStyle/>
          <a:p>
            <a:pPr indent="0" marL="0">
              <a:buNone/>
            </a:pPr>
            <a:r>
              <a:rPr lang="en-US" sz="1300" b="1" spc="300" kern="0" dirty="0">
                <a:solidFill>
                  <a:srgbClr val="E3A646"/>
                </a:solidFill>
                <a:latin typeface="Calibri" pitchFamily="34" charset="0"/>
                <a:ea typeface="Calibri" pitchFamily="34" charset="-122"/>
                <a:cs typeface="Calibri" pitchFamily="34" charset="-120"/>
              </a:rPr>
              <a:t>VELLORE INSTITUTE OF TECHNOLOGY, VELLORE</a:t>
            </a:r>
            <a:endParaRPr lang="en-US" sz="1300" dirty="0"/>
          </a:p>
        </p:txBody>
      </p:sp>
      <p:sp>
        <p:nvSpPr>
          <p:cNvPr id="3" name="Text 1"/>
          <p:cNvSpPr txBox="1"/>
          <p:nvPr/>
        </p:nvSpPr>
        <p:spPr>
          <a:xfrm>
            <a:off x="731520" y="896112"/>
            <a:ext cx="82296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Computer Science and Engineering (SCOPE)</a:t>
            </a:r>
            <a:endParaRPr lang="en-US" sz="1300" dirty="0"/>
          </a:p>
        </p:txBody>
      </p:sp>
      <p:sp>
        <p:nvSpPr>
          <p:cNvPr id="4" name="Text 2"/>
          <p:cNvSpPr txBox="1"/>
          <p:nvPr/>
        </p:nvSpPr>
        <p:spPr>
          <a:xfrm>
            <a:off x="731520" y="1874520"/>
            <a:ext cx="10058400" cy="32004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BCSE303P  ·  Operating Systems Laboratory  ·  Project Review 2</a:t>
            </a:r>
            <a:endParaRPr lang="en-US" sz="1500" dirty="0"/>
          </a:p>
        </p:txBody>
      </p:sp>
      <p:sp>
        <p:nvSpPr>
          <p:cNvPr id="5" name="Text 3"/>
          <p:cNvSpPr txBox="1"/>
          <p:nvPr/>
        </p:nvSpPr>
        <p:spPr>
          <a:xfrm>
            <a:off x="731520" y="2240280"/>
            <a:ext cx="10058400" cy="1005840"/>
          </a:xfrm>
          <a:prstGeom prst="rect">
            <a:avLst/>
          </a:prstGeom>
          <a:noFill/>
          <a:ln/>
        </p:spPr>
        <p:txBody>
          <a:bodyPr wrap="square" lIns="0" tIns="0" rIns="0" bIns="0" rtlCol="0" anchor="t"/>
          <a:lstStyle/>
          <a:p>
            <a:pPr indent="0" marL="0">
              <a:buNone/>
            </a:pPr>
            <a:r>
              <a:rPr lang="en-US" sz="6000" b="1" spc="400" kern="0" dirty="0">
                <a:solidFill>
                  <a:srgbClr val="FFFFFF"/>
                </a:solidFill>
                <a:latin typeface="Cambria" pitchFamily="34" charset="0"/>
                <a:ea typeface="Cambria" pitchFamily="34" charset="-122"/>
                <a:cs typeface="Cambria" pitchFamily="34" charset="-120"/>
              </a:rPr>
              <a:t>CHIMERA</a:t>
            </a:r>
            <a:endParaRPr lang="en-US" sz="6000" dirty="0"/>
          </a:p>
        </p:txBody>
      </p:sp>
      <p:sp>
        <p:nvSpPr>
          <p:cNvPr id="6" name="Text 4"/>
          <p:cNvSpPr txBox="1"/>
          <p:nvPr/>
        </p:nvSpPr>
        <p:spPr>
          <a:xfrm>
            <a:off x="731520" y="3246120"/>
            <a:ext cx="10515600" cy="457200"/>
          </a:xfrm>
          <a:prstGeom prst="rect">
            <a:avLst/>
          </a:prstGeom>
          <a:noFill/>
          <a:ln/>
        </p:spPr>
        <p:txBody>
          <a:bodyPr wrap="square" lIns="0" tIns="0" rIns="0" bIns="0" rtlCol="0" anchor="t"/>
          <a:lstStyle/>
          <a:p>
            <a:pPr indent="0" marL="0">
              <a:buNone/>
            </a:pPr>
            <a:r>
              <a:rPr lang="en-US" sz="2400" dirty="0">
                <a:solidFill>
                  <a:srgbClr val="CADCFC"/>
                </a:solidFill>
                <a:latin typeface="Cambria" pitchFamily="34" charset="0"/>
                <a:ea typeface="Cambria" pitchFamily="34" charset="-122"/>
                <a:cs typeface="Cambria" pitchFamily="34" charset="-120"/>
              </a:rPr>
              <a:t>Delay-Aware Predictive Coupled Autoscaling for Kubernetes</a:t>
            </a:r>
            <a:endParaRPr lang="en-US" sz="2400" dirty="0"/>
          </a:p>
        </p:txBody>
      </p:sp>
      <p:sp>
        <p:nvSpPr>
          <p:cNvPr id="7" name="Text 5"/>
          <p:cNvSpPr txBox="1"/>
          <p:nvPr/>
        </p:nvSpPr>
        <p:spPr>
          <a:xfrm>
            <a:off x="731520" y="3794760"/>
            <a:ext cx="9601200" cy="36576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A joint horizontal + vertical pod autoscaler that treats resource scaling as a delay-aware optimal control problem.</a:t>
            </a:r>
            <a:endParaRPr lang="en-US" sz="1500" dirty="0"/>
          </a:p>
        </p:txBody>
      </p:sp>
      <p:sp>
        <p:nvSpPr>
          <p:cNvPr id="8" name="Shape 6"/>
          <p:cNvSpPr/>
          <p:nvPr/>
        </p:nvSpPr>
        <p:spPr>
          <a:xfrm>
            <a:off x="731520" y="4754880"/>
            <a:ext cx="10725912" cy="0"/>
          </a:xfrm>
          <a:prstGeom prst="line">
            <a:avLst/>
          </a:prstGeom>
          <a:noFill/>
          <a:ln w="12700">
            <a:solidFill>
              <a:srgbClr val="2E4263"/>
            </a:solidFill>
            <a:prstDash val="solid"/>
          </a:ln>
        </p:spPr>
      </p:sp>
      <p:sp>
        <p:nvSpPr>
          <p:cNvPr id="9" name="Text 7"/>
          <p:cNvSpPr txBox="1"/>
          <p:nvPr/>
        </p:nvSpPr>
        <p:spPr>
          <a:xfrm>
            <a:off x="731520" y="4983480"/>
            <a:ext cx="3657600" cy="228600"/>
          </a:xfrm>
          <a:prstGeom prst="rect">
            <a:avLst/>
          </a:prstGeom>
          <a:noFill/>
          <a:ln/>
        </p:spPr>
        <p:txBody>
          <a:bodyPr wrap="square" lIns="0" tIns="0" rIns="0" bIns="0" rtlCol="0" anchor="t"/>
          <a:lstStyle/>
          <a:p>
            <a:pPr indent="0" marL="0">
              <a:buNone/>
            </a:pPr>
            <a:r>
              <a:rPr lang="en-US" sz="1000" b="1" spc="200" kern="0" dirty="0">
                <a:solidFill>
                  <a:srgbClr val="E3A646"/>
                </a:solidFill>
                <a:latin typeface="Calibri" pitchFamily="34" charset="0"/>
                <a:ea typeface="Calibri" pitchFamily="34" charset="-122"/>
                <a:cs typeface="Calibri" pitchFamily="34" charset="-120"/>
              </a:rPr>
              <a:t>SUBMITTED BY</a:t>
            </a:r>
            <a:endParaRPr lang="en-US" sz="1000" dirty="0"/>
          </a:p>
        </p:txBody>
      </p:sp>
      <p:sp>
        <p:nvSpPr>
          <p:cNvPr id="10" name="Text 8"/>
          <p:cNvSpPr txBox="1"/>
          <p:nvPr/>
        </p:nvSpPr>
        <p:spPr>
          <a:xfrm>
            <a:off x="73152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Adithyan C S S</a:t>
            </a:r>
            <a:endParaRPr lang="en-US" sz="1700" dirty="0"/>
          </a:p>
        </p:txBody>
      </p:sp>
      <p:sp>
        <p:nvSpPr>
          <p:cNvPr id="11" name="Text 9"/>
          <p:cNvSpPr txBox="1"/>
          <p:nvPr/>
        </p:nvSpPr>
        <p:spPr>
          <a:xfrm>
            <a:off x="73152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24BCE2820</a:t>
            </a:r>
            <a:endParaRPr lang="en-US" sz="1300" dirty="0"/>
          </a:p>
        </p:txBody>
      </p:sp>
      <p:sp>
        <p:nvSpPr>
          <p:cNvPr id="12" name="Text 10"/>
          <p:cNvSpPr txBox="1"/>
          <p:nvPr/>
        </p:nvSpPr>
        <p:spPr>
          <a:xfrm>
            <a:off x="374904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Vishal B S</a:t>
            </a:r>
            <a:endParaRPr lang="en-US" sz="1700" dirty="0"/>
          </a:p>
        </p:txBody>
      </p:sp>
      <p:sp>
        <p:nvSpPr>
          <p:cNvPr id="13" name="Text 11"/>
          <p:cNvSpPr txBox="1"/>
          <p:nvPr/>
        </p:nvSpPr>
        <p:spPr>
          <a:xfrm>
            <a:off x="374904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24BCE2475</a:t>
            </a:r>
            <a:endParaRPr lang="en-US" sz="1300" dirty="0"/>
          </a:p>
        </p:txBody>
      </p:sp>
      <p:sp>
        <p:nvSpPr>
          <p:cNvPr id="14" name="Text 12"/>
          <p:cNvSpPr txBox="1"/>
          <p:nvPr/>
        </p:nvSpPr>
        <p:spPr>
          <a:xfrm>
            <a:off x="676656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Madhan A</a:t>
            </a:r>
            <a:endParaRPr lang="en-US" sz="1700" dirty="0"/>
          </a:p>
        </p:txBody>
      </p:sp>
      <p:sp>
        <p:nvSpPr>
          <p:cNvPr id="15" name="Text 13"/>
          <p:cNvSpPr txBox="1"/>
          <p:nvPr/>
        </p:nvSpPr>
        <p:spPr>
          <a:xfrm>
            <a:off x="676656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24BCE0159</a:t>
            </a:r>
            <a:endParaRPr lang="en-US" sz="1300" dirty="0"/>
          </a:p>
        </p:txBody>
      </p:sp>
      <p:sp>
        <p:nvSpPr>
          <p:cNvPr id="16" name="Text 14"/>
          <p:cNvSpPr txBox="1"/>
          <p:nvPr/>
        </p:nvSpPr>
        <p:spPr>
          <a:xfrm>
            <a:off x="9628632" y="5303520"/>
            <a:ext cx="1828800" cy="320040"/>
          </a:xfrm>
          <a:prstGeom prst="rect">
            <a:avLst/>
          </a:prstGeom>
          <a:noFill/>
          <a:ln/>
        </p:spPr>
        <p:txBody>
          <a:bodyPr wrap="square" lIns="0" tIns="0" rIns="0" bIns="0" rtlCol="0" anchor="t"/>
          <a:lstStyle/>
          <a:p>
            <a:pPr algn="r" indent="0" marL="0">
              <a:buNone/>
            </a:pPr>
            <a:r>
              <a:rPr lang="en-US" sz="1300" dirty="0">
                <a:solidFill>
                  <a:srgbClr val="AFC0D8"/>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731520" y="1691640"/>
            <a:ext cx="457200" cy="457200"/>
          </a:xfrm>
          <a:prstGeom prst="ellipse">
            <a:avLst/>
          </a:prstGeom>
          <a:solidFill>
            <a:srgbClr val="13223A"/>
          </a:solidFill>
          <a:ln w="12700">
            <a:solidFill>
              <a:srgbClr val="13223A"/>
            </a:solidFill>
            <a:prstDash val="solid"/>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Problem statement</a:t>
            </a:r>
            <a:endParaRPr lang="en-US" sz="1800" dirty="0"/>
          </a:p>
        </p:txBody>
      </p:sp>
      <p:sp>
        <p:nvSpPr>
          <p:cNvPr id="7" name="Shape 5"/>
          <p:cNvSpPr/>
          <p:nvPr/>
        </p:nvSpPr>
        <p:spPr>
          <a:xfrm>
            <a:off x="731520" y="2423160"/>
            <a:ext cx="457200" cy="457200"/>
          </a:xfrm>
          <a:prstGeom prst="ellipse">
            <a:avLst/>
          </a:prstGeom>
          <a:solidFill>
            <a:srgbClr val="13223A"/>
          </a:solidFill>
          <a:ln w="12700">
            <a:solidFill>
              <a:srgbClr val="13223A"/>
            </a:solidFill>
            <a:prstDash val="solid"/>
          </a:ln>
        </p:spPr>
      </p:sp>
      <p:sp>
        <p:nvSpPr>
          <p:cNvPr id="8" name="Text 6"/>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System design &amp; architecture</a:t>
            </a:r>
            <a:endParaRPr lang="en-US" sz="1800" dirty="0"/>
          </a:p>
        </p:txBody>
      </p:sp>
      <p:sp>
        <p:nvSpPr>
          <p:cNvPr id="10" name="Shape 8"/>
          <p:cNvSpPr/>
          <p:nvPr/>
        </p:nvSpPr>
        <p:spPr>
          <a:xfrm>
            <a:off x="731520" y="3154680"/>
            <a:ext cx="457200" cy="457200"/>
          </a:xfrm>
          <a:prstGeom prst="ellipse">
            <a:avLst/>
          </a:prstGeom>
          <a:solidFill>
            <a:srgbClr val="13223A"/>
          </a:solidFill>
          <a:ln w="12700">
            <a:solidFill>
              <a:srgbClr val="13223A"/>
            </a:solidFill>
            <a:prstDash val="solid"/>
          </a:ln>
        </p:spPr>
      </p:sp>
      <p:sp>
        <p:nvSpPr>
          <p:cNvPr id="11" name="Text 9"/>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41732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Core algorithm — the control law</a:t>
            </a:r>
            <a:endParaRPr lang="en-US" sz="1800" dirty="0"/>
          </a:p>
        </p:txBody>
      </p:sp>
      <p:sp>
        <p:nvSpPr>
          <p:cNvPr id="13" name="Shape 11"/>
          <p:cNvSpPr/>
          <p:nvPr/>
        </p:nvSpPr>
        <p:spPr>
          <a:xfrm>
            <a:off x="731520" y="3886200"/>
            <a:ext cx="457200" cy="457200"/>
          </a:xfrm>
          <a:prstGeom prst="ellipse">
            <a:avLst/>
          </a:prstGeom>
          <a:solidFill>
            <a:srgbClr val="13223A"/>
          </a:solidFill>
          <a:ln w="12700">
            <a:solidFill>
              <a:srgbClr val="13223A"/>
            </a:solidFill>
            <a:prstDash val="solid"/>
          </a:ln>
        </p:spPr>
      </p:sp>
      <p:sp>
        <p:nvSpPr>
          <p:cNvPr id="14" name="Text 1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141732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Datasets &amp; experimental setup</a:t>
            </a:r>
            <a:endParaRPr lang="en-US" sz="1800" dirty="0"/>
          </a:p>
        </p:txBody>
      </p:sp>
      <p:sp>
        <p:nvSpPr>
          <p:cNvPr id="16" name="Shape 14"/>
          <p:cNvSpPr/>
          <p:nvPr/>
        </p:nvSpPr>
        <p:spPr>
          <a:xfrm>
            <a:off x="731520" y="4617720"/>
            <a:ext cx="457200" cy="457200"/>
          </a:xfrm>
          <a:prstGeom prst="ellipse">
            <a:avLst/>
          </a:prstGeom>
          <a:solidFill>
            <a:srgbClr val="13223A"/>
          </a:solidFill>
          <a:ln w="12700">
            <a:solidFill>
              <a:srgbClr val="13223A"/>
            </a:solidFill>
            <a:prstDash val="solid"/>
          </a:ln>
        </p:spPr>
      </p:sp>
      <p:sp>
        <p:nvSpPr>
          <p:cNvPr id="17" name="Text 15"/>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txBox="1"/>
          <p:nvPr/>
        </p:nvSpPr>
        <p:spPr>
          <a:xfrm>
            <a:off x="141732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Module identification &amp; completion</a:t>
            </a:r>
            <a:endParaRPr lang="en-US" sz="1800" dirty="0"/>
          </a:p>
        </p:txBody>
      </p:sp>
      <p:sp>
        <p:nvSpPr>
          <p:cNvPr id="19" name="Shape 17"/>
          <p:cNvSpPr/>
          <p:nvPr/>
        </p:nvSpPr>
        <p:spPr>
          <a:xfrm>
            <a:off x="731520" y="5349240"/>
            <a:ext cx="457200" cy="457200"/>
          </a:xfrm>
          <a:prstGeom prst="ellipse">
            <a:avLst/>
          </a:prstGeom>
          <a:solidFill>
            <a:srgbClr val="13223A"/>
          </a:solidFill>
          <a:ln w="12700">
            <a:solidFill>
              <a:srgbClr val="13223A"/>
            </a:solidFill>
            <a:prstDash val="solid"/>
          </a:ln>
        </p:spPr>
      </p:sp>
      <p:sp>
        <p:nvSpPr>
          <p:cNvPr id="20" name="Text 18"/>
          <p:cNvSpPr txBox="1"/>
          <p:nvPr/>
        </p:nvSpPr>
        <p:spPr>
          <a:xfrm>
            <a:off x="73152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txBox="1"/>
          <p:nvPr/>
        </p:nvSpPr>
        <p:spPr>
          <a:xfrm>
            <a:off x="141732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Results &amp; analysis</a:t>
            </a:r>
            <a:endParaRPr lang="en-US" sz="1800" dirty="0"/>
          </a:p>
        </p:txBody>
      </p:sp>
      <p:sp>
        <p:nvSpPr>
          <p:cNvPr id="22" name="Shape 20"/>
          <p:cNvSpPr/>
          <p:nvPr/>
        </p:nvSpPr>
        <p:spPr>
          <a:xfrm>
            <a:off x="6400800" y="1691640"/>
            <a:ext cx="457200" cy="457200"/>
          </a:xfrm>
          <a:prstGeom prst="ellipse">
            <a:avLst/>
          </a:prstGeom>
          <a:solidFill>
            <a:srgbClr val="C7811A"/>
          </a:solidFill>
          <a:ln w="12700">
            <a:solidFill>
              <a:srgbClr val="C7811A"/>
            </a:solidFill>
            <a:prstDash val="solid"/>
          </a:ln>
        </p:spPr>
      </p:sp>
      <p:sp>
        <p:nvSpPr>
          <p:cNvPr id="23" name="Text 21"/>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txBox="1"/>
          <p:nvPr/>
        </p:nvSpPr>
        <p:spPr>
          <a:xfrm>
            <a:off x="708660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Positioning against related work</a:t>
            </a:r>
            <a:endParaRPr lang="en-US" sz="1800" dirty="0"/>
          </a:p>
        </p:txBody>
      </p:sp>
      <p:sp>
        <p:nvSpPr>
          <p:cNvPr id="25" name="Shape 23"/>
          <p:cNvSpPr/>
          <p:nvPr/>
        </p:nvSpPr>
        <p:spPr>
          <a:xfrm>
            <a:off x="6400800" y="2423160"/>
            <a:ext cx="457200" cy="457200"/>
          </a:xfrm>
          <a:prstGeom prst="ellipse">
            <a:avLst/>
          </a:prstGeom>
          <a:solidFill>
            <a:srgbClr val="C7811A"/>
          </a:solidFill>
          <a:ln w="12700">
            <a:solidFill>
              <a:srgbClr val="C7811A"/>
            </a:solidFill>
            <a:prstDash val="solid"/>
          </a:ln>
        </p:spPr>
      </p:sp>
      <p:sp>
        <p:nvSpPr>
          <p:cNvPr id="26" name="Text 24"/>
          <p:cNvSpPr txBox="1"/>
          <p:nvPr/>
        </p:nvSpPr>
        <p:spPr>
          <a:xfrm>
            <a:off x="640080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txBox="1"/>
          <p:nvPr/>
        </p:nvSpPr>
        <p:spPr>
          <a:xfrm>
            <a:off x="708660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Engineering verification</a:t>
            </a:r>
            <a:endParaRPr lang="en-US" sz="1800" dirty="0"/>
          </a:p>
        </p:txBody>
      </p:sp>
      <p:sp>
        <p:nvSpPr>
          <p:cNvPr id="28" name="Shape 26"/>
          <p:cNvSpPr/>
          <p:nvPr/>
        </p:nvSpPr>
        <p:spPr>
          <a:xfrm>
            <a:off x="6400800" y="3154680"/>
            <a:ext cx="457200" cy="457200"/>
          </a:xfrm>
          <a:prstGeom prst="ellipse">
            <a:avLst/>
          </a:prstGeom>
          <a:solidFill>
            <a:srgbClr val="C7811A"/>
          </a:solidFill>
          <a:ln w="12700">
            <a:solidFill>
              <a:srgbClr val="C7811A"/>
            </a:solidFill>
            <a:prstDash val="solid"/>
          </a:ln>
        </p:spPr>
      </p:sp>
      <p:sp>
        <p:nvSpPr>
          <p:cNvPr id="29" name="Text 27"/>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Kubernetes integration</a:t>
            </a:r>
            <a:endParaRPr lang="en-US" sz="1800" dirty="0"/>
          </a:p>
        </p:txBody>
      </p:sp>
      <p:sp>
        <p:nvSpPr>
          <p:cNvPr id="31" name="Shape 29"/>
          <p:cNvSpPr/>
          <p:nvPr/>
        </p:nvSpPr>
        <p:spPr>
          <a:xfrm>
            <a:off x="6400800" y="3886200"/>
            <a:ext cx="457200" cy="457200"/>
          </a:xfrm>
          <a:prstGeom prst="ellipse">
            <a:avLst/>
          </a:prstGeom>
          <a:solidFill>
            <a:srgbClr val="C7811A"/>
          </a:solidFill>
          <a:ln w="12700">
            <a:solidFill>
              <a:srgbClr val="C7811A"/>
            </a:solidFill>
            <a:prstDash val="solid"/>
          </a:ln>
        </p:spPr>
      </p:sp>
      <p:sp>
        <p:nvSpPr>
          <p:cNvPr id="32" name="Text 30"/>
          <p:cNvSpPr txBox="1"/>
          <p:nvPr/>
        </p:nvSpPr>
        <p:spPr>
          <a:xfrm>
            <a:off x="64008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txBox="1"/>
          <p:nvPr/>
        </p:nvSpPr>
        <p:spPr>
          <a:xfrm>
            <a:off x="708660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Outputs &amp; live demonstration</a:t>
            </a:r>
            <a:endParaRPr lang="en-US" sz="1800" dirty="0"/>
          </a:p>
        </p:txBody>
      </p:sp>
      <p:sp>
        <p:nvSpPr>
          <p:cNvPr id="34" name="Shape 32"/>
          <p:cNvSpPr/>
          <p:nvPr/>
        </p:nvSpPr>
        <p:spPr>
          <a:xfrm>
            <a:off x="6400800" y="4617720"/>
            <a:ext cx="457200" cy="457200"/>
          </a:xfrm>
          <a:prstGeom prst="ellipse">
            <a:avLst/>
          </a:prstGeom>
          <a:solidFill>
            <a:srgbClr val="C7811A"/>
          </a:solidFill>
          <a:ln w="12700">
            <a:solidFill>
              <a:srgbClr val="C7811A"/>
            </a:solidFill>
            <a:prstDash val="solid"/>
          </a:ln>
        </p:spPr>
      </p:sp>
      <p:sp>
        <p:nvSpPr>
          <p:cNvPr id="35" name="Text 33"/>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txBox="1"/>
          <p:nvPr/>
        </p:nvSpPr>
        <p:spPr>
          <a:xfrm>
            <a:off x="708660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Limitations &amp; future work</a:t>
            </a:r>
            <a:endParaRPr lang="en-US" sz="1800" dirty="0"/>
          </a:p>
        </p:txBody>
      </p:sp>
      <p:sp>
        <p:nvSpPr>
          <p:cNvPr id="37" name="Shape 35"/>
          <p:cNvSpPr/>
          <p:nvPr/>
        </p:nvSpPr>
        <p:spPr>
          <a:xfrm>
            <a:off x="6400800" y="5349240"/>
            <a:ext cx="457200" cy="457200"/>
          </a:xfrm>
          <a:prstGeom prst="ellipse">
            <a:avLst/>
          </a:prstGeom>
          <a:solidFill>
            <a:srgbClr val="C7811A"/>
          </a:solidFill>
          <a:ln w="12700">
            <a:solidFill>
              <a:srgbClr val="C7811A"/>
            </a:solidFill>
            <a:prstDash val="solid"/>
          </a:ln>
        </p:spPr>
      </p:sp>
      <p:sp>
        <p:nvSpPr>
          <p:cNvPr id="38" name="Text 36"/>
          <p:cNvSpPr txBox="1"/>
          <p:nvPr/>
        </p:nvSpPr>
        <p:spPr>
          <a:xfrm>
            <a:off x="640080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txBox="1"/>
          <p:nvPr/>
        </p:nvSpPr>
        <p:spPr>
          <a:xfrm>
            <a:off x="708660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Conclusion</a:t>
            </a:r>
            <a:endParaRPr lang="en-US" sz="1800" dirty="0"/>
          </a:p>
        </p:txBody>
      </p:sp>
      <p:sp>
        <p:nvSpPr>
          <p:cNvPr id="40" name="Text 3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41" name="Text 3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Two actuators, two very different delays</a:t>
            </a:r>
            <a:endParaRPr lang="en-US" sz="3000" dirty="0"/>
          </a:p>
        </p:txBody>
      </p:sp>
      <p:sp>
        <p:nvSpPr>
          <p:cNvPr id="4" name="Text 2"/>
          <p:cNvSpPr txBox="1"/>
          <p:nvPr/>
        </p:nvSpPr>
        <p:spPr>
          <a:xfrm>
            <a:off x="548640" y="1554480"/>
            <a:ext cx="65836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Kubernetes can add replicas (horizontal) or resize a running container's CPU (vertical). Production systems run both loops independently, so they fight: each sees the other's correction as new error and over-reacts.</a:t>
            </a:r>
            <a:endParaRPr lang="en-US" sz="1600" dirty="0"/>
          </a:p>
        </p:txBody>
      </p:sp>
      <p:sp>
        <p:nvSpPr>
          <p:cNvPr id="5" name="Shape 3"/>
          <p:cNvSpPr/>
          <p:nvPr/>
        </p:nvSpPr>
        <p:spPr>
          <a:xfrm>
            <a:off x="548640" y="2697480"/>
            <a:ext cx="3154680" cy="1645920"/>
          </a:xfrm>
          <a:prstGeom prst="roundRect">
            <a:avLst>
              <a:gd name="adj" fmla="val 4444"/>
            </a:avLst>
          </a:prstGeom>
          <a:solidFill>
            <a:srgbClr val="F3F5F8"/>
          </a:solidFill>
          <a:ln w="12700">
            <a:solidFill>
              <a:srgbClr val="F3F5F8"/>
            </a:solidFill>
            <a:prstDash val="solid"/>
          </a:ln>
        </p:spPr>
      </p:sp>
      <p:sp>
        <p:nvSpPr>
          <p:cNvPr id="6" name="Text 4"/>
          <p:cNvSpPr txBox="1"/>
          <p:nvPr/>
        </p:nvSpPr>
        <p:spPr>
          <a:xfrm>
            <a:off x="777240" y="2834640"/>
            <a:ext cx="2743200" cy="731520"/>
          </a:xfrm>
          <a:prstGeom prst="rect">
            <a:avLst/>
          </a:prstGeom>
          <a:noFill/>
          <a:ln/>
        </p:spPr>
        <p:txBody>
          <a:bodyPr wrap="square" lIns="0" tIns="0" rIns="0" bIns="0" rtlCol="0" anchor="t"/>
          <a:lstStyle/>
          <a:p>
            <a:pPr indent="0" marL="0">
              <a:buNone/>
            </a:pPr>
            <a:r>
              <a:rPr lang="en-US" sz="4000" b="1" dirty="0">
                <a:solidFill>
                  <a:srgbClr val="C7811A"/>
                </a:solidFill>
                <a:latin typeface="Cambria" pitchFamily="34" charset="0"/>
                <a:ea typeface="Cambria" pitchFamily="34" charset="-122"/>
                <a:cs typeface="Cambria" pitchFamily="34" charset="-120"/>
              </a:rPr>
              <a:t>20.0 s</a:t>
            </a:r>
            <a:endParaRPr lang="en-US" sz="4000" dirty="0"/>
          </a:p>
        </p:txBody>
      </p:sp>
      <p:sp>
        <p:nvSpPr>
          <p:cNvPr id="7" name="Text 5"/>
          <p:cNvSpPr txBox="1"/>
          <p:nvPr/>
        </p:nvSpPr>
        <p:spPr>
          <a:xfrm>
            <a:off x="777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Horizontal delay — schedule and boot a new pod</a:t>
            </a:r>
            <a:endParaRPr lang="en-US" sz="1300" dirty="0"/>
          </a:p>
        </p:txBody>
      </p:sp>
      <p:sp>
        <p:nvSpPr>
          <p:cNvPr id="8" name="Shape 6"/>
          <p:cNvSpPr/>
          <p:nvPr/>
        </p:nvSpPr>
        <p:spPr>
          <a:xfrm>
            <a:off x="3977640" y="2697480"/>
            <a:ext cx="315468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4206240" y="2834640"/>
            <a:ext cx="2743200" cy="73152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0.1 s</a:t>
            </a:r>
            <a:endParaRPr lang="en-US" sz="4000" dirty="0"/>
          </a:p>
        </p:txBody>
      </p:sp>
      <p:sp>
        <p:nvSpPr>
          <p:cNvPr id="10" name="Text 8"/>
          <p:cNvSpPr txBox="1"/>
          <p:nvPr/>
        </p:nvSpPr>
        <p:spPr>
          <a:xfrm>
            <a:off x="4206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Vertical delay — in-place CPU resize (KEP-1287)</a:t>
            </a:r>
            <a:endParaRPr lang="en-US" sz="1300" dirty="0"/>
          </a:p>
        </p:txBody>
      </p:sp>
      <p:sp>
        <p:nvSpPr>
          <p:cNvPr id="11" name="Text 9"/>
          <p:cNvSpPr txBox="1"/>
          <p:nvPr/>
        </p:nvSpPr>
        <p:spPr>
          <a:xfrm>
            <a:off x="548640" y="4617720"/>
            <a:ext cx="6583680" cy="822960"/>
          </a:xfrm>
          <a:prstGeom prst="rect">
            <a:avLst/>
          </a:prstGeom>
          <a:noFill/>
          <a:ln/>
        </p:spPr>
        <p:txBody>
          <a:bodyPr wrap="square" lIns="0" tIns="0" rIns="0" bIns="0" rtlCol="0" anchor="t"/>
          <a:lstStyle/>
          <a:p>
            <a:pPr indent="0" marL="0">
              <a:buNone/>
            </a:pPr>
            <a:r>
              <a:rPr lang="en-US" sz="1500" b="1" dirty="0">
                <a:solidFill>
                  <a:srgbClr val="13223A"/>
                </a:solidFill>
                <a:latin typeface="Calibri" pitchFamily="34" charset="0"/>
                <a:ea typeface="Calibri" pitchFamily="34" charset="-122"/>
                <a:cs typeface="Calibri" pitchFamily="34" charset="-120"/>
              </a:rPr>
              <a:t>A 200× delay asymmetry. </a:t>
            </a:r>
            <a:pPr indent="0" marL="0">
              <a:buNone/>
            </a:pPr>
            <a:r>
              <a:rPr lang="en-US" sz="1500" dirty="0">
                <a:solidFill>
                  <a:srgbClr val="1F2937"/>
                </a:solidFill>
                <a:latin typeface="Calibri" pitchFamily="34" charset="0"/>
                <a:ea typeface="Calibri" pitchFamily="34" charset="-122"/>
                <a:cs typeface="Calibri" pitchFamily="34" charset="-120"/>
              </a:rPr>
              <a:t>A controller blind to it either over-shoots while waiting for pods to boot, or oscillates when they all arrive at once.</a:t>
            </a:r>
            <a:endParaRPr lang="en-US" sz="1500" dirty="0"/>
          </a:p>
        </p:txBody>
      </p:sp>
      <p:sp>
        <p:nvSpPr>
          <p:cNvPr id="12" name="Shape 10"/>
          <p:cNvSpPr/>
          <p:nvPr/>
        </p:nvSpPr>
        <p:spPr>
          <a:xfrm>
            <a:off x="7589520" y="1554480"/>
            <a:ext cx="4050792" cy="4480560"/>
          </a:xfrm>
          <a:prstGeom prst="roundRect">
            <a:avLst>
              <a:gd name="adj" fmla="val 1806"/>
            </a:avLst>
          </a:prstGeom>
          <a:solidFill>
            <a:srgbClr val="13223A"/>
          </a:solidFill>
          <a:ln w="12700">
            <a:solidFill>
              <a:srgbClr val="13223A"/>
            </a:solidFill>
            <a:prstDash val="solid"/>
          </a:ln>
        </p:spPr>
      </p:sp>
      <p:sp>
        <p:nvSpPr>
          <p:cNvPr id="13" name="Text 11"/>
          <p:cNvSpPr txBox="1"/>
          <p:nvPr/>
        </p:nvSpPr>
        <p:spPr>
          <a:xfrm>
            <a:off x="7909560" y="1828800"/>
            <a:ext cx="347472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RESEARCH QUESTION</a:t>
            </a:r>
            <a:endParaRPr lang="en-US" sz="1100" dirty="0"/>
          </a:p>
        </p:txBody>
      </p:sp>
      <p:sp>
        <p:nvSpPr>
          <p:cNvPr id="14" name="Text 12"/>
          <p:cNvSpPr txBox="1"/>
          <p:nvPr/>
        </p:nvSpPr>
        <p:spPr>
          <a:xfrm>
            <a:off x="7909560" y="2194560"/>
            <a:ext cx="3474720" cy="182880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Can both actuators be driven by a single optimal control law that explicitly models the delay mismatch — instead of two heuristic loops that fight?</a:t>
            </a:r>
            <a:endParaRPr lang="en-US" sz="1800" dirty="0"/>
          </a:p>
        </p:txBody>
      </p:sp>
      <p:sp>
        <p:nvSpPr>
          <p:cNvPr id="15" name="Text 13"/>
          <p:cNvSpPr txBox="1"/>
          <p:nvPr/>
        </p:nvSpPr>
        <p:spPr>
          <a:xfrm>
            <a:off x="7909560" y="4160520"/>
            <a:ext cx="3474720" cy="1645920"/>
          </a:xfrm>
          <a:prstGeom prst="rect">
            <a:avLst/>
          </a:prstGeom>
          <a:noFill/>
          <a:ln/>
        </p:spPr>
        <p:txBody>
          <a:bodyPr wrap="square" lIns="0" tIns="0" rIns="0" bIns="0" rtlCol="0" anchor="t"/>
          <a:lstStyle/>
          <a:p>
            <a:pPr indent="0" marL="0">
              <a:buNone/>
            </a:pPr>
            <a:r>
              <a:rPr lang="en-US" sz="1300" b="1" dirty="0">
                <a:solidFill>
                  <a:srgbClr val="E3A646"/>
                </a:solidFill>
                <a:latin typeface="Calibri" pitchFamily="34" charset="0"/>
                <a:ea typeface="Calibri" pitchFamily="34" charset="-122"/>
                <a:cs typeface="Calibri" pitchFamily="34" charset="-120"/>
              </a:rPr>
              <a:t>Target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Coordinate v (CPU per pod) and h (replica count)</a:t>
            </a:r>
            <a:endParaRPr lang="en-US" sz="1300" dirty="0"/>
          </a:p>
          <a:p>
            <a:pPr indent="0" marL="0">
              <a:buNone/>
            </a:pPr>
            <a:r>
              <a:rPr lang="en-US" sz="600" dirty="0">
                <a:solidFill>
                  <a:srgbClr val="CADCFC"/>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E3A646"/>
                </a:solidFill>
                <a:latin typeface="Calibri" pitchFamily="34" charset="0"/>
                <a:ea typeface="Calibri" pitchFamily="34" charset="-122"/>
                <a:cs typeface="Calibri" pitchFamily="34" charset="-120"/>
              </a:rPr>
              <a:t>Constraint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Meet a 500 ms latency SLO at minimum resource cost</a:t>
            </a:r>
            <a:endParaRPr lang="en-US" sz="1300" dirty="0"/>
          </a:p>
        </p:txBody>
      </p:sp>
      <p:sp>
        <p:nvSpPr>
          <p:cNvPr id="16"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7"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SYSTEM DESIGN &amp; ARCHITECTURE</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Three pipelines, one control loop every 15 seconds</a:t>
            </a:r>
            <a:endParaRPr lang="en-US" sz="3000" dirty="0"/>
          </a:p>
        </p:txBody>
      </p:sp>
      <p:sp>
        <p:nvSpPr>
          <p:cNvPr id="4" name="Shape 2"/>
          <p:cNvSpPr/>
          <p:nvPr/>
        </p:nvSpPr>
        <p:spPr>
          <a:xfrm>
            <a:off x="548640" y="1554480"/>
            <a:ext cx="11091672" cy="1005840"/>
          </a:xfrm>
          <a:prstGeom prst="roundRect">
            <a:avLst>
              <a:gd name="adj" fmla="val 7273"/>
            </a:avLst>
          </a:prstGeom>
          <a:solidFill>
            <a:srgbClr val="EEF3FD"/>
          </a:solidFill>
          <a:ln w="12700">
            <a:solidFill>
              <a:srgbClr val="EEF3FD"/>
            </a:solidFill>
            <a:prstDash val="solid"/>
          </a:ln>
        </p:spPr>
      </p:sp>
      <p:sp>
        <p:nvSpPr>
          <p:cNvPr id="5" name="Text 3"/>
          <p:cNvSpPr txBox="1"/>
          <p:nvPr/>
        </p:nvSpPr>
        <p:spPr>
          <a:xfrm>
            <a:off x="731520" y="1554480"/>
            <a:ext cx="1371600" cy="1005840"/>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1 · PREDICTION</a:t>
            </a:r>
            <a:endParaRPr lang="en-US" sz="1100" dirty="0"/>
          </a:p>
        </p:txBody>
      </p:sp>
      <p:sp>
        <p:nvSpPr>
          <p:cNvPr id="6" name="Shape 4"/>
          <p:cNvSpPr/>
          <p:nvPr/>
        </p:nvSpPr>
        <p:spPr>
          <a:xfrm>
            <a:off x="2148840" y="1728216"/>
            <a:ext cx="1600200" cy="658368"/>
          </a:xfrm>
          <a:prstGeom prst="roundRect">
            <a:avLst>
              <a:gd name="adj" fmla="val 8333"/>
            </a:avLst>
          </a:prstGeom>
          <a:solidFill>
            <a:srgbClr val="FFFFFF"/>
          </a:solidFill>
          <a:ln w="12700">
            <a:solidFill>
              <a:srgbClr val="D9DEE5"/>
            </a:solidFill>
            <a:prstDash val="solid"/>
          </a:ln>
        </p:spPr>
      </p:sp>
      <p:sp>
        <p:nvSpPr>
          <p:cNvPr id="7" name="Text 5"/>
          <p:cNvSpPr txBox="1"/>
          <p:nvPr/>
        </p:nvSpPr>
        <p:spPr>
          <a:xfrm>
            <a:off x="2194560"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Workload trace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Azure Functions</a:t>
            </a:r>
            <a:endParaRPr lang="en-US" sz="1150" dirty="0"/>
          </a:p>
        </p:txBody>
      </p:sp>
      <p:sp>
        <p:nvSpPr>
          <p:cNvPr id="8" name="Shape 6"/>
          <p:cNvSpPr/>
          <p:nvPr/>
        </p:nvSpPr>
        <p:spPr>
          <a:xfrm>
            <a:off x="3776472" y="2057400"/>
            <a:ext cx="274320" cy="0"/>
          </a:xfrm>
          <a:prstGeom prst="line">
            <a:avLst/>
          </a:prstGeom>
          <a:noFill/>
          <a:ln w="22225">
            <a:solidFill>
              <a:srgbClr val="8A94A3"/>
            </a:solidFill>
            <a:prstDash val="solid"/>
            <a:tailEnd type="triangle"/>
          </a:ln>
        </p:spPr>
      </p:sp>
      <p:sp>
        <p:nvSpPr>
          <p:cNvPr id="9" name="Shape 7"/>
          <p:cNvSpPr/>
          <p:nvPr/>
        </p:nvSpPr>
        <p:spPr>
          <a:xfrm>
            <a:off x="4078224" y="1728216"/>
            <a:ext cx="1600200" cy="658368"/>
          </a:xfrm>
          <a:prstGeom prst="roundRect">
            <a:avLst>
              <a:gd name="adj" fmla="val 8333"/>
            </a:avLst>
          </a:prstGeom>
          <a:solidFill>
            <a:srgbClr val="FFFFFF"/>
          </a:solidFill>
          <a:ln w="12700">
            <a:solidFill>
              <a:srgbClr val="D9DEE5"/>
            </a:solidFill>
            <a:prstDash val="solid"/>
          </a:ln>
        </p:spPr>
      </p:sp>
      <p:sp>
        <p:nvSpPr>
          <p:cNvPr id="10" name="Text 8"/>
          <p:cNvSpPr txBox="1"/>
          <p:nvPr/>
        </p:nvSpPr>
        <p:spPr>
          <a:xfrm>
            <a:off x="4123944"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Feature extractor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11 rolling stats</a:t>
            </a:r>
            <a:endParaRPr lang="en-US" sz="1150" dirty="0"/>
          </a:p>
        </p:txBody>
      </p:sp>
      <p:sp>
        <p:nvSpPr>
          <p:cNvPr id="11" name="Shape 9"/>
          <p:cNvSpPr/>
          <p:nvPr/>
        </p:nvSpPr>
        <p:spPr>
          <a:xfrm>
            <a:off x="5705856" y="2057400"/>
            <a:ext cx="274320" cy="0"/>
          </a:xfrm>
          <a:prstGeom prst="line">
            <a:avLst/>
          </a:prstGeom>
          <a:noFill/>
          <a:ln w="22225">
            <a:solidFill>
              <a:srgbClr val="8A94A3"/>
            </a:solidFill>
            <a:prstDash val="solid"/>
            <a:tailEnd type="triangle"/>
          </a:ln>
        </p:spPr>
      </p:sp>
      <p:sp>
        <p:nvSpPr>
          <p:cNvPr id="12" name="Shape 10"/>
          <p:cNvSpPr/>
          <p:nvPr/>
        </p:nvSpPr>
        <p:spPr>
          <a:xfrm>
            <a:off x="6007608" y="1728216"/>
            <a:ext cx="1600200" cy="658368"/>
          </a:xfrm>
          <a:prstGeom prst="roundRect">
            <a:avLst>
              <a:gd name="adj" fmla="val 8333"/>
            </a:avLst>
          </a:prstGeom>
          <a:solidFill>
            <a:srgbClr val="FFFFFF"/>
          </a:solidFill>
          <a:ln w="12700">
            <a:solidFill>
              <a:srgbClr val="D9DEE5"/>
            </a:solidFill>
            <a:prstDash val="solid"/>
          </a:ln>
        </p:spPr>
      </p:sp>
      <p:sp>
        <p:nvSpPr>
          <p:cNvPr id="13" name="Text 11"/>
          <p:cNvSpPr txBox="1"/>
          <p:nvPr/>
        </p:nvSpPr>
        <p:spPr>
          <a:xfrm>
            <a:off x="6053328"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CQR forecast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load + interval</a:t>
            </a:r>
            <a:endParaRPr lang="en-US" sz="1150" dirty="0"/>
          </a:p>
        </p:txBody>
      </p:sp>
      <p:sp>
        <p:nvSpPr>
          <p:cNvPr id="14" name="Shape 12"/>
          <p:cNvSpPr/>
          <p:nvPr/>
        </p:nvSpPr>
        <p:spPr>
          <a:xfrm>
            <a:off x="7635240" y="2057400"/>
            <a:ext cx="274320" cy="0"/>
          </a:xfrm>
          <a:prstGeom prst="line">
            <a:avLst/>
          </a:prstGeom>
          <a:noFill/>
          <a:ln w="22225">
            <a:solidFill>
              <a:srgbClr val="8A94A3"/>
            </a:solidFill>
            <a:prstDash val="solid"/>
            <a:tailEnd type="triangle"/>
          </a:ln>
        </p:spPr>
      </p:sp>
      <p:sp>
        <p:nvSpPr>
          <p:cNvPr id="15" name="Shape 13"/>
          <p:cNvSpPr/>
          <p:nvPr/>
        </p:nvSpPr>
        <p:spPr>
          <a:xfrm>
            <a:off x="7936992" y="1728216"/>
            <a:ext cx="1600200" cy="658368"/>
          </a:xfrm>
          <a:prstGeom prst="roundRect">
            <a:avLst>
              <a:gd name="adj" fmla="val 8333"/>
            </a:avLst>
          </a:prstGeom>
          <a:solidFill>
            <a:srgbClr val="FFFFFF"/>
          </a:solidFill>
          <a:ln w="12700">
            <a:solidFill>
              <a:srgbClr val="D9DEE5"/>
            </a:solidFill>
            <a:prstDash val="solid"/>
          </a:ln>
        </p:spPr>
      </p:sp>
      <p:sp>
        <p:nvSpPr>
          <p:cNvPr id="16" name="Text 14"/>
          <p:cNvSpPr txBox="1"/>
          <p:nvPr/>
        </p:nvSpPr>
        <p:spPr>
          <a:xfrm>
            <a:off x="7982712"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ADWIN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drift monitor</a:t>
            </a:r>
            <a:endParaRPr lang="en-US" sz="1150" dirty="0"/>
          </a:p>
        </p:txBody>
      </p:sp>
      <p:sp>
        <p:nvSpPr>
          <p:cNvPr id="17" name="Shape 15"/>
          <p:cNvSpPr/>
          <p:nvPr/>
        </p:nvSpPr>
        <p:spPr>
          <a:xfrm>
            <a:off x="548640" y="2971800"/>
            <a:ext cx="11091672" cy="1005840"/>
          </a:xfrm>
          <a:prstGeom prst="roundRect">
            <a:avLst>
              <a:gd name="adj" fmla="val 7273"/>
            </a:avLst>
          </a:prstGeom>
          <a:solidFill>
            <a:srgbClr val="FDF5E8"/>
          </a:solidFill>
          <a:ln w="12700">
            <a:solidFill>
              <a:srgbClr val="FDF5E8"/>
            </a:solidFill>
            <a:prstDash val="solid"/>
          </a:ln>
        </p:spPr>
      </p:sp>
      <p:sp>
        <p:nvSpPr>
          <p:cNvPr id="18" name="Text 16"/>
          <p:cNvSpPr txBox="1"/>
          <p:nvPr/>
        </p:nvSpPr>
        <p:spPr>
          <a:xfrm>
            <a:off x="731520" y="2971800"/>
            <a:ext cx="1371600" cy="1005840"/>
          </a:xfrm>
          <a:prstGeom prst="rect">
            <a:avLst/>
          </a:prstGeom>
          <a:noFill/>
          <a:ln/>
        </p:spPr>
        <p:txBody>
          <a:bodyPr wrap="square" lIns="0" tIns="0" rIns="0" bIns="0" rtlCol="0" anchor="ctr"/>
          <a:lstStyle/>
          <a:p>
            <a:pPr indent="0" marL="0">
              <a:buNone/>
            </a:pPr>
            <a:r>
              <a:rPr lang="en-US" sz="1100" b="1" spc="100" kern="0" dirty="0">
                <a:solidFill>
                  <a:srgbClr val="C7811A"/>
                </a:solidFill>
                <a:latin typeface="Calibri" pitchFamily="34" charset="0"/>
                <a:ea typeface="Calibri" pitchFamily="34" charset="-122"/>
                <a:cs typeface="Calibri" pitchFamily="34" charset="-120"/>
              </a:rPr>
              <a:t>2 · CONTROL</a:t>
            </a:r>
            <a:endParaRPr lang="en-US" sz="1100" dirty="0"/>
          </a:p>
        </p:txBody>
      </p:sp>
      <p:sp>
        <p:nvSpPr>
          <p:cNvPr id="19" name="Shape 17"/>
          <p:cNvSpPr/>
          <p:nvPr/>
        </p:nvSpPr>
        <p:spPr>
          <a:xfrm>
            <a:off x="2148840" y="3145536"/>
            <a:ext cx="1600200" cy="658368"/>
          </a:xfrm>
          <a:prstGeom prst="roundRect">
            <a:avLst>
              <a:gd name="adj" fmla="val 8333"/>
            </a:avLst>
          </a:prstGeom>
          <a:solidFill>
            <a:srgbClr val="FFFFFF"/>
          </a:solidFill>
          <a:ln w="12700">
            <a:solidFill>
              <a:srgbClr val="D9DEE5"/>
            </a:solidFill>
            <a:prstDash val="solid"/>
          </a:ln>
        </p:spPr>
      </p:sp>
      <p:sp>
        <p:nvSpPr>
          <p:cNvPr id="20" name="Text 18"/>
          <p:cNvSpPr txBox="1"/>
          <p:nvPr/>
        </p:nvSpPr>
        <p:spPr>
          <a:xfrm>
            <a:off x="2194560"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Target split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x* = [v*, h*]</a:t>
            </a:r>
            <a:endParaRPr lang="en-US" sz="1150" dirty="0"/>
          </a:p>
        </p:txBody>
      </p:sp>
      <p:sp>
        <p:nvSpPr>
          <p:cNvPr id="21" name="Shape 19"/>
          <p:cNvSpPr/>
          <p:nvPr/>
        </p:nvSpPr>
        <p:spPr>
          <a:xfrm>
            <a:off x="3776472" y="3474720"/>
            <a:ext cx="274320" cy="0"/>
          </a:xfrm>
          <a:prstGeom prst="line">
            <a:avLst/>
          </a:prstGeom>
          <a:noFill/>
          <a:ln w="22225">
            <a:solidFill>
              <a:srgbClr val="8A94A3"/>
            </a:solidFill>
            <a:prstDash val="solid"/>
            <a:tailEnd type="triangle"/>
          </a:ln>
        </p:spPr>
      </p:sp>
      <p:sp>
        <p:nvSpPr>
          <p:cNvPr id="22" name="Shape 20"/>
          <p:cNvSpPr/>
          <p:nvPr/>
        </p:nvSpPr>
        <p:spPr>
          <a:xfrm>
            <a:off x="4078224" y="3145536"/>
            <a:ext cx="1600200" cy="658368"/>
          </a:xfrm>
          <a:prstGeom prst="roundRect">
            <a:avLst>
              <a:gd name="adj" fmla="val 8333"/>
            </a:avLst>
          </a:prstGeom>
          <a:solidFill>
            <a:srgbClr val="FFFFFF"/>
          </a:solidFill>
          <a:ln w="12700">
            <a:solidFill>
              <a:srgbClr val="D9DEE5"/>
            </a:solidFill>
            <a:prstDash val="solid"/>
          </a:ln>
        </p:spPr>
      </p:sp>
      <p:sp>
        <p:nvSpPr>
          <p:cNvPr id="23" name="Text 21"/>
          <p:cNvSpPr txBox="1"/>
          <p:nvPr/>
        </p:nvSpPr>
        <p:spPr>
          <a:xfrm>
            <a:off x="4123944"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EMA smoothing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anti-chatter</a:t>
            </a:r>
            <a:endParaRPr lang="en-US" sz="1150" dirty="0"/>
          </a:p>
        </p:txBody>
      </p:sp>
      <p:sp>
        <p:nvSpPr>
          <p:cNvPr id="24" name="Shape 22"/>
          <p:cNvSpPr/>
          <p:nvPr/>
        </p:nvSpPr>
        <p:spPr>
          <a:xfrm>
            <a:off x="5705856" y="3474720"/>
            <a:ext cx="274320" cy="0"/>
          </a:xfrm>
          <a:prstGeom prst="line">
            <a:avLst/>
          </a:prstGeom>
          <a:noFill/>
          <a:ln w="22225">
            <a:solidFill>
              <a:srgbClr val="8A94A3"/>
            </a:solidFill>
            <a:prstDash val="solid"/>
            <a:tailEnd type="triangle"/>
          </a:ln>
        </p:spPr>
      </p:sp>
      <p:sp>
        <p:nvSpPr>
          <p:cNvPr id="25" name="Shape 23"/>
          <p:cNvSpPr/>
          <p:nvPr/>
        </p:nvSpPr>
        <p:spPr>
          <a:xfrm>
            <a:off x="6007608" y="3145536"/>
            <a:ext cx="1600200" cy="658368"/>
          </a:xfrm>
          <a:prstGeom prst="roundRect">
            <a:avLst>
              <a:gd name="adj" fmla="val 8333"/>
            </a:avLst>
          </a:prstGeom>
          <a:solidFill>
            <a:srgbClr val="FFF1DA"/>
          </a:solidFill>
          <a:ln w="25400">
            <a:solidFill>
              <a:srgbClr val="C7811A"/>
            </a:solidFill>
            <a:prstDash val="solid"/>
          </a:ln>
        </p:spPr>
      </p:sp>
      <p:sp>
        <p:nvSpPr>
          <p:cNvPr id="26" name="Text 24"/>
          <p:cNvSpPr txBox="1"/>
          <p:nvPr/>
        </p:nvSpPr>
        <p:spPr>
          <a:xfrm>
            <a:off x="6053328"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Augmented error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e = [v−v*, h−h*, dh₋₁]</a:t>
            </a:r>
            <a:endParaRPr lang="en-US" sz="1150" dirty="0"/>
          </a:p>
        </p:txBody>
      </p:sp>
      <p:sp>
        <p:nvSpPr>
          <p:cNvPr id="27" name="Shape 25"/>
          <p:cNvSpPr/>
          <p:nvPr/>
        </p:nvSpPr>
        <p:spPr>
          <a:xfrm>
            <a:off x="7635240" y="3474720"/>
            <a:ext cx="274320" cy="0"/>
          </a:xfrm>
          <a:prstGeom prst="line">
            <a:avLst/>
          </a:prstGeom>
          <a:noFill/>
          <a:ln w="22225">
            <a:solidFill>
              <a:srgbClr val="8A94A3"/>
            </a:solidFill>
            <a:prstDash val="solid"/>
            <a:tailEnd type="triangle"/>
          </a:ln>
        </p:spPr>
      </p:sp>
      <p:sp>
        <p:nvSpPr>
          <p:cNvPr id="28" name="Shape 26"/>
          <p:cNvSpPr/>
          <p:nvPr/>
        </p:nvSpPr>
        <p:spPr>
          <a:xfrm>
            <a:off x="7936992" y="3145536"/>
            <a:ext cx="1600200" cy="658368"/>
          </a:xfrm>
          <a:prstGeom prst="roundRect">
            <a:avLst>
              <a:gd name="adj" fmla="val 8333"/>
            </a:avLst>
          </a:prstGeom>
          <a:solidFill>
            <a:srgbClr val="FFFFFF"/>
          </a:solidFill>
          <a:ln w="12700">
            <a:solidFill>
              <a:srgbClr val="D9DEE5"/>
            </a:solidFill>
            <a:prstDash val="solid"/>
          </a:ln>
        </p:spPr>
      </p:sp>
      <p:sp>
        <p:nvSpPr>
          <p:cNvPr id="29" name="Text 27"/>
          <p:cNvSpPr txBox="1"/>
          <p:nvPr/>
        </p:nvSpPr>
        <p:spPr>
          <a:xfrm>
            <a:off x="7982712"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LQR gain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u = −K·e  (DARE)</a:t>
            </a:r>
            <a:endParaRPr lang="en-US" sz="1150" dirty="0"/>
          </a:p>
        </p:txBody>
      </p:sp>
      <p:sp>
        <p:nvSpPr>
          <p:cNvPr id="30" name="Shape 28"/>
          <p:cNvSpPr/>
          <p:nvPr/>
        </p:nvSpPr>
        <p:spPr>
          <a:xfrm>
            <a:off x="9564624" y="3474720"/>
            <a:ext cx="274320" cy="0"/>
          </a:xfrm>
          <a:prstGeom prst="line">
            <a:avLst/>
          </a:prstGeom>
          <a:noFill/>
          <a:ln w="22225">
            <a:solidFill>
              <a:srgbClr val="8A94A3"/>
            </a:solidFill>
            <a:prstDash val="solid"/>
            <a:tailEnd type="triangle"/>
          </a:ln>
        </p:spPr>
      </p:sp>
      <p:sp>
        <p:nvSpPr>
          <p:cNvPr id="31" name="Shape 29"/>
          <p:cNvSpPr/>
          <p:nvPr/>
        </p:nvSpPr>
        <p:spPr>
          <a:xfrm>
            <a:off x="9866376" y="3145536"/>
            <a:ext cx="1600200" cy="658368"/>
          </a:xfrm>
          <a:prstGeom prst="roundRect">
            <a:avLst>
              <a:gd name="adj" fmla="val 8333"/>
            </a:avLst>
          </a:prstGeom>
          <a:solidFill>
            <a:srgbClr val="FFFFFF"/>
          </a:solidFill>
          <a:ln w="12700">
            <a:solidFill>
              <a:srgbClr val="D9DEE5"/>
            </a:solidFill>
            <a:prstDash val="solid"/>
          </a:ln>
        </p:spPr>
      </p:sp>
      <p:sp>
        <p:nvSpPr>
          <p:cNvPr id="32" name="Text 30"/>
          <p:cNvSpPr txBox="1"/>
          <p:nvPr/>
        </p:nvSpPr>
        <p:spPr>
          <a:xfrm>
            <a:off x="9912096"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CLF safety filter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rejects unsafe moves</a:t>
            </a:r>
            <a:endParaRPr lang="en-US" sz="1150" dirty="0"/>
          </a:p>
        </p:txBody>
      </p:sp>
      <p:sp>
        <p:nvSpPr>
          <p:cNvPr id="33" name="Shape 31"/>
          <p:cNvSpPr/>
          <p:nvPr/>
        </p:nvSpPr>
        <p:spPr>
          <a:xfrm>
            <a:off x="548640" y="4389120"/>
            <a:ext cx="11091672" cy="1005840"/>
          </a:xfrm>
          <a:prstGeom prst="roundRect">
            <a:avLst>
              <a:gd name="adj" fmla="val 7273"/>
            </a:avLst>
          </a:prstGeom>
          <a:solidFill>
            <a:srgbClr val="EAF5F2"/>
          </a:solidFill>
          <a:ln w="12700">
            <a:solidFill>
              <a:srgbClr val="EAF5F2"/>
            </a:solidFill>
            <a:prstDash val="solid"/>
          </a:ln>
        </p:spPr>
      </p:sp>
      <p:sp>
        <p:nvSpPr>
          <p:cNvPr id="34" name="Text 32"/>
          <p:cNvSpPr txBox="1"/>
          <p:nvPr/>
        </p:nvSpPr>
        <p:spPr>
          <a:xfrm>
            <a:off x="731520" y="4389120"/>
            <a:ext cx="1371600" cy="100584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3 · ACTUATION</a:t>
            </a:r>
            <a:endParaRPr lang="en-US" sz="1100" dirty="0"/>
          </a:p>
        </p:txBody>
      </p:sp>
      <p:sp>
        <p:nvSpPr>
          <p:cNvPr id="35" name="Shape 33"/>
          <p:cNvSpPr/>
          <p:nvPr/>
        </p:nvSpPr>
        <p:spPr>
          <a:xfrm>
            <a:off x="2148840" y="4562856"/>
            <a:ext cx="1600200" cy="658368"/>
          </a:xfrm>
          <a:prstGeom prst="roundRect">
            <a:avLst>
              <a:gd name="adj" fmla="val 8333"/>
            </a:avLst>
          </a:prstGeom>
          <a:solidFill>
            <a:srgbClr val="FFFFFF"/>
          </a:solidFill>
          <a:ln w="12700">
            <a:solidFill>
              <a:srgbClr val="D9DEE5"/>
            </a:solidFill>
            <a:prstDash val="solid"/>
          </a:ln>
        </p:spPr>
      </p:sp>
      <p:sp>
        <p:nvSpPr>
          <p:cNvPr id="36" name="Text 34"/>
          <p:cNvSpPr txBox="1"/>
          <p:nvPr/>
        </p:nvSpPr>
        <p:spPr>
          <a:xfrm>
            <a:off x="2194560"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Vertical resize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0.1 s (in-place)</a:t>
            </a:r>
            <a:endParaRPr lang="en-US" sz="1150" dirty="0"/>
          </a:p>
        </p:txBody>
      </p:sp>
      <p:sp>
        <p:nvSpPr>
          <p:cNvPr id="37" name="Shape 35"/>
          <p:cNvSpPr/>
          <p:nvPr/>
        </p:nvSpPr>
        <p:spPr>
          <a:xfrm>
            <a:off x="3776472" y="4892040"/>
            <a:ext cx="274320" cy="0"/>
          </a:xfrm>
          <a:prstGeom prst="line">
            <a:avLst/>
          </a:prstGeom>
          <a:noFill/>
          <a:ln w="22225">
            <a:solidFill>
              <a:srgbClr val="8A94A3"/>
            </a:solidFill>
            <a:prstDash val="solid"/>
            <a:tailEnd type="triangle"/>
          </a:ln>
        </p:spPr>
      </p:sp>
      <p:sp>
        <p:nvSpPr>
          <p:cNvPr id="38" name="Shape 36"/>
          <p:cNvSpPr/>
          <p:nvPr/>
        </p:nvSpPr>
        <p:spPr>
          <a:xfrm>
            <a:off x="4078224" y="4562856"/>
            <a:ext cx="1600200" cy="658368"/>
          </a:xfrm>
          <a:prstGeom prst="roundRect">
            <a:avLst>
              <a:gd name="adj" fmla="val 8333"/>
            </a:avLst>
          </a:prstGeom>
          <a:solidFill>
            <a:srgbClr val="FFFFFF"/>
          </a:solidFill>
          <a:ln w="12700">
            <a:solidFill>
              <a:srgbClr val="D9DEE5"/>
            </a:solidFill>
            <a:prstDash val="solid"/>
          </a:ln>
        </p:spPr>
      </p:sp>
      <p:sp>
        <p:nvSpPr>
          <p:cNvPr id="39" name="Text 37"/>
          <p:cNvSpPr txBox="1"/>
          <p:nvPr/>
        </p:nvSpPr>
        <p:spPr>
          <a:xfrm>
            <a:off x="4123944"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Horizontal scale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20 s pod boot</a:t>
            </a:r>
            <a:endParaRPr lang="en-US" sz="1150" dirty="0"/>
          </a:p>
        </p:txBody>
      </p:sp>
      <p:sp>
        <p:nvSpPr>
          <p:cNvPr id="40" name="Shape 38"/>
          <p:cNvSpPr/>
          <p:nvPr/>
        </p:nvSpPr>
        <p:spPr>
          <a:xfrm>
            <a:off x="5705856" y="4892040"/>
            <a:ext cx="274320" cy="0"/>
          </a:xfrm>
          <a:prstGeom prst="line">
            <a:avLst/>
          </a:prstGeom>
          <a:noFill/>
          <a:ln w="22225">
            <a:solidFill>
              <a:srgbClr val="8A94A3"/>
            </a:solidFill>
            <a:prstDash val="solid"/>
            <a:tailEnd type="triangle"/>
          </a:ln>
        </p:spPr>
      </p:sp>
      <p:sp>
        <p:nvSpPr>
          <p:cNvPr id="41" name="Shape 39"/>
          <p:cNvSpPr/>
          <p:nvPr/>
        </p:nvSpPr>
        <p:spPr>
          <a:xfrm>
            <a:off x="6007608" y="4562856"/>
            <a:ext cx="1600200" cy="658368"/>
          </a:xfrm>
          <a:prstGeom prst="roundRect">
            <a:avLst>
              <a:gd name="adj" fmla="val 8333"/>
            </a:avLst>
          </a:prstGeom>
          <a:solidFill>
            <a:srgbClr val="FFFFFF"/>
          </a:solidFill>
          <a:ln w="12700">
            <a:solidFill>
              <a:srgbClr val="D9DEE5"/>
            </a:solidFill>
            <a:prstDash val="solid"/>
          </a:ln>
        </p:spPr>
      </p:sp>
      <p:sp>
        <p:nvSpPr>
          <p:cNvPr id="42" name="Text 40"/>
          <p:cNvSpPr txBox="1"/>
          <p:nvPr/>
        </p:nvSpPr>
        <p:spPr>
          <a:xfrm>
            <a:off x="6053328"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Command buffer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dh(t−1)  (one slot)</a:t>
            </a:r>
            <a:endParaRPr lang="en-US" sz="1150" dirty="0"/>
          </a:p>
        </p:txBody>
      </p:sp>
      <p:sp>
        <p:nvSpPr>
          <p:cNvPr id="43" name="Shape 41"/>
          <p:cNvSpPr/>
          <p:nvPr/>
        </p:nvSpPr>
        <p:spPr>
          <a:xfrm>
            <a:off x="7635240" y="4892040"/>
            <a:ext cx="274320" cy="0"/>
          </a:xfrm>
          <a:prstGeom prst="line">
            <a:avLst/>
          </a:prstGeom>
          <a:noFill/>
          <a:ln w="22225">
            <a:solidFill>
              <a:srgbClr val="8A94A3"/>
            </a:solidFill>
            <a:prstDash val="solid"/>
            <a:tailEnd type="triangle"/>
          </a:ln>
        </p:spPr>
      </p:sp>
      <p:sp>
        <p:nvSpPr>
          <p:cNvPr id="44" name="Shape 42"/>
          <p:cNvSpPr/>
          <p:nvPr/>
        </p:nvSpPr>
        <p:spPr>
          <a:xfrm>
            <a:off x="7936992" y="4562856"/>
            <a:ext cx="1600200" cy="658368"/>
          </a:xfrm>
          <a:prstGeom prst="roundRect">
            <a:avLst>
              <a:gd name="adj" fmla="val 8333"/>
            </a:avLst>
          </a:prstGeom>
          <a:solidFill>
            <a:srgbClr val="FFFFFF"/>
          </a:solidFill>
          <a:ln w="12700">
            <a:solidFill>
              <a:srgbClr val="D9DEE5"/>
            </a:solidFill>
            <a:prstDash val="solid"/>
          </a:ln>
        </p:spPr>
      </p:sp>
      <p:sp>
        <p:nvSpPr>
          <p:cNvPr id="45" name="Text 43"/>
          <p:cNvSpPr txBox="1"/>
          <p:nvPr/>
        </p:nvSpPr>
        <p:spPr>
          <a:xfrm>
            <a:off x="7982712"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Cluster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SimPy sim / K8s operator</a:t>
            </a:r>
            <a:endParaRPr lang="en-US" sz="1150" dirty="0"/>
          </a:p>
        </p:txBody>
      </p:sp>
      <p:sp>
        <p:nvSpPr>
          <p:cNvPr id="46" name="Shape 44"/>
          <p:cNvSpPr/>
          <p:nvPr/>
        </p:nvSpPr>
        <p:spPr>
          <a:xfrm>
            <a:off x="2948940" y="2560320"/>
            <a:ext cx="0" cy="411480"/>
          </a:xfrm>
          <a:prstGeom prst="line">
            <a:avLst/>
          </a:prstGeom>
          <a:noFill/>
          <a:ln w="22225">
            <a:solidFill>
              <a:srgbClr val="2563EB"/>
            </a:solidFill>
            <a:prstDash val="solid"/>
            <a:tailEnd type="triangle"/>
          </a:ln>
        </p:spPr>
      </p:sp>
      <p:sp>
        <p:nvSpPr>
          <p:cNvPr id="47" name="Text 45"/>
          <p:cNvSpPr txBox="1"/>
          <p:nvPr/>
        </p:nvSpPr>
        <p:spPr>
          <a:xfrm>
            <a:off x="3063240" y="2624328"/>
            <a:ext cx="2743200" cy="274320"/>
          </a:xfrm>
          <a:prstGeom prst="rect">
            <a:avLst/>
          </a:prstGeom>
          <a:noFill/>
          <a:ln/>
        </p:spPr>
        <p:txBody>
          <a:bodyPr wrap="square" lIns="0" tIns="0" rIns="0" bIns="0" rtlCol="0" anchor="t"/>
          <a:lstStyle/>
          <a:p>
            <a:pPr indent="0" marL="0">
              <a:buNone/>
            </a:pPr>
            <a:r>
              <a:rPr lang="en-US" sz="1000" i="1" dirty="0">
                <a:solidFill>
                  <a:srgbClr val="2563EB"/>
                </a:solidFill>
                <a:latin typeface="Calibri" pitchFamily="34" charset="0"/>
                <a:ea typeface="Calibri" pitchFamily="34" charset="-122"/>
                <a:cs typeface="Calibri" pitchFamily="34" charset="-120"/>
              </a:rPr>
              <a:t>forecast load + interval width</a:t>
            </a:r>
            <a:endParaRPr lang="en-US" sz="1000" dirty="0"/>
          </a:p>
        </p:txBody>
      </p:sp>
      <p:sp>
        <p:nvSpPr>
          <p:cNvPr id="48" name="Shape 46"/>
          <p:cNvSpPr/>
          <p:nvPr/>
        </p:nvSpPr>
        <p:spPr>
          <a:xfrm>
            <a:off x="2948940" y="3977640"/>
            <a:ext cx="0" cy="411480"/>
          </a:xfrm>
          <a:prstGeom prst="line">
            <a:avLst/>
          </a:prstGeom>
          <a:noFill/>
          <a:ln w="22225">
            <a:solidFill>
              <a:srgbClr val="8A94A3"/>
            </a:solidFill>
            <a:prstDash val="solid"/>
            <a:tailEnd type="triangle"/>
          </a:ln>
        </p:spPr>
      </p:sp>
      <p:sp>
        <p:nvSpPr>
          <p:cNvPr id="49" name="Text 47"/>
          <p:cNvSpPr txBox="1"/>
          <p:nvPr/>
        </p:nvSpPr>
        <p:spPr>
          <a:xfrm>
            <a:off x="3063240" y="4041648"/>
            <a:ext cx="1828800" cy="274320"/>
          </a:xfrm>
          <a:prstGeom prst="rect">
            <a:avLst/>
          </a:prstGeom>
          <a:noFill/>
          <a:ln/>
        </p:spPr>
        <p:txBody>
          <a:bodyPr wrap="square" lIns="0" tIns="0" rIns="0" bIns="0" rtlCol="0" anchor="t"/>
          <a:lstStyle/>
          <a:p>
            <a:pPr indent="0" marL="0">
              <a:buNone/>
            </a:pPr>
            <a:r>
              <a:rPr lang="en-US" sz="1000" i="1" dirty="0">
                <a:solidFill>
                  <a:srgbClr val="5B6675"/>
                </a:solidFill>
                <a:latin typeface="Calibri" pitchFamily="34" charset="0"/>
                <a:ea typeface="Calibri" pitchFamily="34" charset="-122"/>
                <a:cs typeface="Calibri" pitchFamily="34" charset="-120"/>
              </a:rPr>
              <a:t>u = [dv, dh]</a:t>
            </a:r>
            <a:endParaRPr lang="en-US" sz="1000" dirty="0"/>
          </a:p>
        </p:txBody>
      </p:sp>
      <p:sp>
        <p:nvSpPr>
          <p:cNvPr id="50" name="Shape 48"/>
          <p:cNvSpPr/>
          <p:nvPr/>
        </p:nvSpPr>
        <p:spPr>
          <a:xfrm>
            <a:off x="6807708" y="3803904"/>
            <a:ext cx="0" cy="758952"/>
          </a:xfrm>
          <a:prstGeom prst="line">
            <a:avLst/>
          </a:prstGeom>
          <a:noFill/>
          <a:ln w="31750">
            <a:solidFill>
              <a:srgbClr val="C7811A"/>
            </a:solidFill>
            <a:prstDash val="dash"/>
            <a:headEnd type="triangle"/>
          </a:ln>
        </p:spPr>
      </p:sp>
      <p:sp>
        <p:nvSpPr>
          <p:cNvPr id="51" name="Text 49"/>
          <p:cNvSpPr txBox="1"/>
          <p:nvPr/>
        </p:nvSpPr>
        <p:spPr>
          <a:xfrm>
            <a:off x="6949440" y="4041648"/>
            <a:ext cx="3291840" cy="274320"/>
          </a:xfrm>
          <a:prstGeom prst="rect">
            <a:avLst/>
          </a:prstGeom>
          <a:noFill/>
          <a:ln/>
        </p:spPr>
        <p:txBody>
          <a:bodyPr wrap="square" lIns="0" tIns="0" rIns="0" bIns="0" rtlCol="0" anchor="t"/>
          <a:lstStyle/>
          <a:p>
            <a:pPr indent="0" marL="0">
              <a:buNone/>
            </a:pPr>
            <a:r>
              <a:rPr lang="en-US" sz="1000" b="1" i="1" dirty="0">
                <a:solidFill>
                  <a:srgbClr val="C7811A"/>
                </a:solidFill>
                <a:latin typeface="Calibri" pitchFamily="34" charset="0"/>
                <a:ea typeface="Calibri" pitchFamily="34" charset="-122"/>
                <a:cs typeface="Calibri" pitchFamily="34" charset="-120"/>
              </a:rPr>
              <a:t>pending commands fed back (our contribution)</a:t>
            </a:r>
            <a:endParaRPr lang="en-US" sz="1000" dirty="0"/>
          </a:p>
        </p:txBody>
      </p:sp>
      <p:sp>
        <p:nvSpPr>
          <p:cNvPr id="52" name="Text 50"/>
          <p:cNvSpPr txBox="1"/>
          <p:nvPr/>
        </p:nvSpPr>
        <p:spPr>
          <a:xfrm>
            <a:off x="548640" y="5596128"/>
            <a:ext cx="11091672" cy="594360"/>
          </a:xfrm>
          <a:prstGeom prst="rect">
            <a:avLst/>
          </a:prstGeom>
          <a:noFill/>
          <a:ln/>
        </p:spPr>
        <p:txBody>
          <a:bodyPr wrap="square" lIns="0" tIns="0" rIns="0" bIns="0" rtlCol="0" anchor="t"/>
          <a:lstStyle/>
          <a:p>
            <a:pPr indent="0" marL="0">
              <a:buNone/>
            </a:pPr>
            <a:r>
              <a:rPr lang="en-US" sz="1350" b="1" dirty="0">
                <a:solidFill>
                  <a:srgbClr val="C7811A"/>
                </a:solidFill>
                <a:latin typeface="Calibri" pitchFamily="34" charset="0"/>
                <a:ea typeface="Calibri" pitchFamily="34" charset="-122"/>
                <a:cs typeface="Calibri" pitchFamily="34" charset="-120"/>
              </a:rPr>
              <a:t>Key idea: </a:t>
            </a:r>
            <a:pPr indent="0" marL="0">
              <a:buNone/>
            </a:pPr>
            <a:r>
              <a:rPr lang="en-US" sz="1350" dirty="0">
                <a:solidFill>
                  <a:srgbClr val="1F2937"/>
                </a:solidFill>
                <a:latin typeface="Calibri" pitchFamily="34" charset="0"/>
                <a:ea typeface="Calibri" pitchFamily="34" charset="-122"/>
                <a:cs typeface="Calibri" pitchFamily="34" charset="-120"/>
              </a:rPr>
              <a:t>pods already ordered but still booting are fed back into the controller, so it never orders the same capacity twice; while they boot, CPU is resized in place to bridge the gap. The forecast interval width tightens the safety filter when the prediction is uncertain.</a:t>
            </a:r>
            <a:endParaRPr lang="en-US" sz="1350" dirty="0"/>
          </a:p>
        </p:txBody>
      </p:sp>
      <p:sp>
        <p:nvSpPr>
          <p:cNvPr id="53" name="Text 51"/>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54" name="Text 5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CORE ALGORITHM</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The delay-augmented control law</a:t>
            </a:r>
            <a:endParaRPr lang="en-US" sz="3000" dirty="0"/>
          </a:p>
        </p:txBody>
      </p:sp>
      <p:sp>
        <p:nvSpPr>
          <p:cNvPr id="4" name="Text 2"/>
          <p:cNvSpPr txBox="1"/>
          <p:nvPr/>
        </p:nvSpPr>
        <p:spPr>
          <a:xfrm>
            <a:off x="548640" y="1508760"/>
            <a:ext cx="676656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LQR assumes actions act at once. A pod boots in 20 s and is first seen two 15 s ticks later, so the state carries the one command still in flight; h counts only serving pods, so nothing is counted twice.</a:t>
            </a:r>
            <a:endParaRPr lang="en-US" sz="1500" dirty="0"/>
          </a:p>
        </p:txBody>
      </p:sp>
      <p:sp>
        <p:nvSpPr>
          <p:cNvPr id="5" name="Text 3"/>
          <p:cNvSpPr txBox="1"/>
          <p:nvPr/>
        </p:nvSpPr>
        <p:spPr>
          <a:xfrm>
            <a:off x="548640" y="237744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Augmented error state</a:t>
            </a:r>
            <a:endParaRPr lang="en-US" sz="1300" dirty="0"/>
          </a:p>
        </p:txBody>
      </p:sp>
      <p:sp>
        <p:nvSpPr>
          <p:cNvPr id="6" name="Shape 4"/>
          <p:cNvSpPr/>
          <p:nvPr/>
        </p:nvSpPr>
        <p:spPr>
          <a:xfrm>
            <a:off x="2697480" y="2377440"/>
            <a:ext cx="4617720" cy="548640"/>
          </a:xfrm>
          <a:prstGeom prst="roundRect">
            <a:avLst>
              <a:gd name="adj" fmla="val 13333"/>
            </a:avLst>
          </a:prstGeom>
          <a:solidFill>
            <a:srgbClr val="F3F5F8"/>
          </a:solidFill>
          <a:ln w="12700">
            <a:solidFill>
              <a:srgbClr val="F3F5F8"/>
            </a:solidFill>
            <a:prstDash val="solid"/>
          </a:ln>
        </p:spPr>
      </p:sp>
      <p:sp>
        <p:nvSpPr>
          <p:cNvPr id="7" name="Text 5"/>
          <p:cNvSpPr txBox="1"/>
          <p:nvPr/>
        </p:nvSpPr>
        <p:spPr>
          <a:xfrm>
            <a:off x="2834640" y="237744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 = [ v−v*, h_serving−h*, dh(t−1) ]</a:t>
            </a:r>
            <a:endParaRPr lang="en-US" sz="1300" dirty="0"/>
          </a:p>
        </p:txBody>
      </p:sp>
      <p:sp>
        <p:nvSpPr>
          <p:cNvPr id="8" name="Text 6"/>
          <p:cNvSpPr txBox="1"/>
          <p:nvPr/>
        </p:nvSpPr>
        <p:spPr>
          <a:xfrm>
            <a:off x="548640" y="310896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System dynamics</a:t>
            </a:r>
            <a:endParaRPr lang="en-US" sz="1300" dirty="0"/>
          </a:p>
        </p:txBody>
      </p:sp>
      <p:sp>
        <p:nvSpPr>
          <p:cNvPr id="9" name="Shape 7"/>
          <p:cNvSpPr/>
          <p:nvPr/>
        </p:nvSpPr>
        <p:spPr>
          <a:xfrm>
            <a:off x="2697480" y="3108960"/>
            <a:ext cx="4617720" cy="548640"/>
          </a:xfrm>
          <a:prstGeom prst="roundRect">
            <a:avLst>
              <a:gd name="adj" fmla="val 13333"/>
            </a:avLst>
          </a:prstGeom>
          <a:solidFill>
            <a:srgbClr val="F3F5F8"/>
          </a:solidFill>
          <a:ln w="12700">
            <a:solidFill>
              <a:srgbClr val="F3F5F8"/>
            </a:solidFill>
            <a:prstDash val="solid"/>
          </a:ln>
        </p:spPr>
      </p:sp>
      <p:sp>
        <p:nvSpPr>
          <p:cNvPr id="10" name="Text 8"/>
          <p:cNvSpPr txBox="1"/>
          <p:nvPr/>
        </p:nvSpPr>
        <p:spPr>
          <a:xfrm>
            <a:off x="2834640" y="310896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e(t+1) = A_aug·e(t) + B_aug·u(t)</a:t>
            </a:r>
            <a:endParaRPr lang="en-US" sz="1300" dirty="0"/>
          </a:p>
        </p:txBody>
      </p:sp>
      <p:sp>
        <p:nvSpPr>
          <p:cNvPr id="11" name="Text 9"/>
          <p:cNvSpPr txBox="1"/>
          <p:nvPr/>
        </p:nvSpPr>
        <p:spPr>
          <a:xfrm>
            <a:off x="548640" y="384048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Optimal gain (DARE)</a:t>
            </a:r>
            <a:endParaRPr lang="en-US" sz="1300" dirty="0"/>
          </a:p>
        </p:txBody>
      </p:sp>
      <p:sp>
        <p:nvSpPr>
          <p:cNvPr id="12" name="Shape 10"/>
          <p:cNvSpPr/>
          <p:nvPr/>
        </p:nvSpPr>
        <p:spPr>
          <a:xfrm>
            <a:off x="2697480" y="3840480"/>
            <a:ext cx="4617720" cy="548640"/>
          </a:xfrm>
          <a:prstGeom prst="roundRect">
            <a:avLst>
              <a:gd name="adj" fmla="val 13333"/>
            </a:avLst>
          </a:prstGeom>
          <a:solidFill>
            <a:srgbClr val="F3F5F8"/>
          </a:solidFill>
          <a:ln w="12700">
            <a:solidFill>
              <a:srgbClr val="F3F5F8"/>
            </a:solidFill>
            <a:prstDash val="solid"/>
          </a:ln>
        </p:spPr>
      </p:sp>
      <p:sp>
        <p:nvSpPr>
          <p:cNvPr id="13" name="Text 11"/>
          <p:cNvSpPr txBox="1"/>
          <p:nvPr/>
        </p:nvSpPr>
        <p:spPr>
          <a:xfrm>
            <a:off x="2834640" y="384048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K = (R + BᵀPB)⁻¹ BᵀPA</a:t>
            </a:r>
            <a:endParaRPr lang="en-US" sz="1300" dirty="0"/>
          </a:p>
        </p:txBody>
      </p:sp>
      <p:sp>
        <p:nvSpPr>
          <p:cNvPr id="14" name="Text 12"/>
          <p:cNvSpPr txBox="1"/>
          <p:nvPr/>
        </p:nvSpPr>
        <p:spPr>
          <a:xfrm>
            <a:off x="548640" y="457200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Nominal action</a:t>
            </a:r>
            <a:endParaRPr lang="en-US" sz="1300" dirty="0"/>
          </a:p>
        </p:txBody>
      </p:sp>
      <p:sp>
        <p:nvSpPr>
          <p:cNvPr id="15" name="Shape 13"/>
          <p:cNvSpPr/>
          <p:nvPr/>
        </p:nvSpPr>
        <p:spPr>
          <a:xfrm>
            <a:off x="2697480" y="4572000"/>
            <a:ext cx="4617720" cy="548640"/>
          </a:xfrm>
          <a:prstGeom prst="roundRect">
            <a:avLst>
              <a:gd name="adj" fmla="val 13333"/>
            </a:avLst>
          </a:prstGeom>
          <a:solidFill>
            <a:srgbClr val="F3F5F8"/>
          </a:solidFill>
          <a:ln w="12700">
            <a:solidFill>
              <a:srgbClr val="F3F5F8"/>
            </a:solidFill>
            <a:prstDash val="solid"/>
          </a:ln>
        </p:spPr>
      </p:sp>
      <p:sp>
        <p:nvSpPr>
          <p:cNvPr id="16" name="Text 14"/>
          <p:cNvSpPr txBox="1"/>
          <p:nvPr/>
        </p:nvSpPr>
        <p:spPr>
          <a:xfrm>
            <a:off x="2834640" y="457200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u = −K·e(t)</a:t>
            </a:r>
            <a:endParaRPr lang="en-US" sz="1300" dirty="0"/>
          </a:p>
        </p:txBody>
      </p:sp>
      <p:sp>
        <p:nvSpPr>
          <p:cNvPr id="17" name="Text 15"/>
          <p:cNvSpPr txBox="1"/>
          <p:nvPr/>
        </p:nvSpPr>
        <p:spPr>
          <a:xfrm>
            <a:off x="548640" y="530352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Lyapunov safety bound</a:t>
            </a:r>
            <a:endParaRPr lang="en-US" sz="1300" dirty="0"/>
          </a:p>
        </p:txBody>
      </p:sp>
      <p:sp>
        <p:nvSpPr>
          <p:cNvPr id="18" name="Shape 16"/>
          <p:cNvSpPr/>
          <p:nvPr/>
        </p:nvSpPr>
        <p:spPr>
          <a:xfrm>
            <a:off x="2697480" y="5303520"/>
            <a:ext cx="4617720" cy="548640"/>
          </a:xfrm>
          <a:prstGeom prst="roundRect">
            <a:avLst>
              <a:gd name="adj" fmla="val 13333"/>
            </a:avLst>
          </a:prstGeom>
          <a:solidFill>
            <a:srgbClr val="F3F5F8"/>
          </a:solidFill>
          <a:ln w="12700">
            <a:solidFill>
              <a:srgbClr val="F3F5F8"/>
            </a:solidFill>
            <a:prstDash val="solid"/>
          </a:ln>
        </p:spPr>
      </p:sp>
      <p:sp>
        <p:nvSpPr>
          <p:cNvPr id="19" name="Text 17"/>
          <p:cNvSpPr txBox="1"/>
          <p:nvPr/>
        </p:nvSpPr>
        <p:spPr>
          <a:xfrm>
            <a:off x="2834640" y="530352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V(e⁺) − V(e) ≤ −σ‖e‖² + ζ·w_conformal</a:t>
            </a:r>
            <a:endParaRPr lang="en-US" sz="1300" dirty="0"/>
          </a:p>
        </p:txBody>
      </p:sp>
      <p:sp>
        <p:nvSpPr>
          <p:cNvPr id="20" name="Shape 18"/>
          <p:cNvSpPr/>
          <p:nvPr/>
        </p:nvSpPr>
        <p:spPr>
          <a:xfrm>
            <a:off x="7726680" y="1508760"/>
            <a:ext cx="3913632" cy="4572000"/>
          </a:xfrm>
          <a:prstGeom prst="roundRect">
            <a:avLst>
              <a:gd name="adj" fmla="val 1869"/>
            </a:avLst>
          </a:prstGeom>
          <a:solidFill>
            <a:srgbClr val="13223A"/>
          </a:solidFill>
          <a:ln w="12700">
            <a:solidFill>
              <a:srgbClr val="13223A"/>
            </a:solidFill>
            <a:prstDash val="solid"/>
          </a:ln>
        </p:spPr>
      </p:sp>
      <p:sp>
        <p:nvSpPr>
          <p:cNvPr id="21" name="Text 19"/>
          <p:cNvSpPr txBox="1"/>
          <p:nvPr/>
        </p:nvSpPr>
        <p:spPr>
          <a:xfrm>
            <a:off x="8001000" y="1737360"/>
            <a:ext cx="338328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WHY THIS MATTERS</a:t>
            </a:r>
            <a:endParaRPr lang="en-US" sz="1100" dirty="0"/>
          </a:p>
        </p:txBody>
      </p:sp>
      <p:sp>
        <p:nvSpPr>
          <p:cNvPr id="22" name="Text 20"/>
          <p:cNvSpPr txBox="1"/>
          <p:nvPr/>
        </p:nvSpPr>
        <p:spPr>
          <a:xfrm>
            <a:off x="8001000" y="2103120"/>
            <a:ext cx="34290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 penalises horizontal movement 20× more than vertical, so the controller reaches for the fast actuator first during a spike.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The conformal interval width relaxes the safety bound exactly when the forecast is uncertain.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K is fixed: computing u = −K·e is a matrix–vector product, not an online optimisation.</a:t>
            </a:r>
            <a:endParaRPr lang="en-US" sz="1300" dirty="0"/>
          </a:p>
        </p:txBody>
      </p:sp>
      <p:sp>
        <p:nvSpPr>
          <p:cNvPr id="23" name="Shape 21"/>
          <p:cNvSpPr/>
          <p:nvPr/>
        </p:nvSpPr>
        <p:spPr>
          <a:xfrm>
            <a:off x="8001000" y="4754880"/>
            <a:ext cx="3383280" cy="0"/>
          </a:xfrm>
          <a:prstGeom prst="line">
            <a:avLst/>
          </a:prstGeom>
          <a:noFill/>
          <a:ln w="12700">
            <a:solidFill>
              <a:srgbClr val="2E4263"/>
            </a:solidFill>
            <a:prstDash val="solid"/>
          </a:ln>
        </p:spPr>
      </p:sp>
      <p:sp>
        <p:nvSpPr>
          <p:cNvPr id="24" name="Text 22"/>
          <p:cNvSpPr txBox="1"/>
          <p:nvPr/>
        </p:nvSpPr>
        <p:spPr>
          <a:xfrm>
            <a:off x="8001000" y="4892040"/>
            <a:ext cx="3429000" cy="1005840"/>
          </a:xfrm>
          <a:prstGeom prst="rect">
            <a:avLst/>
          </a:prstGeom>
          <a:noFill/>
          <a:ln/>
        </p:spPr>
        <p:txBody>
          <a:bodyPr wrap="square" lIns="0" tIns="0" rIns="0" bIns="0" rtlCol="0" anchor="t"/>
          <a:lstStyle/>
          <a:p>
            <a:pPr indent="0" marL="0">
              <a:buNone/>
            </a:pPr>
            <a:r>
              <a:rPr lang="en-US" sz="1200" dirty="0">
                <a:solidFill>
                  <a:srgbClr val="CADCFC"/>
                </a:solidFill>
                <a:latin typeface="Courier New" pitchFamily="34" charset="0"/>
                <a:ea typeface="Courier New" pitchFamily="34" charset="-122"/>
                <a:cs typeface="Courier New" pitchFamily="34" charset="-120"/>
              </a:rPr>
              <a:t>Q = diag(30, 10, 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R = diag(0.05, 1.0)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σ = 0.1   ζ = 0.5   Δt = 15 s</a:t>
            </a:r>
            <a:endParaRPr lang="en-US" sz="1200" dirty="0"/>
          </a:p>
        </p:txBody>
      </p:sp>
      <p:sp>
        <p:nvSpPr>
          <p:cNvPr id="25" name="Text 2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6" name="Text 2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DATASETS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Nine workloads: five real traces, four stress scenarios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1554480"/>
                <a:gridCol w="2011680"/>
                <a:gridCol w="5148072"/>
              </a:tblGrid>
              <a:tr h="329184">
                <a:tc>
                  <a:txBody>
                    <a:bodyPr/>
                    <a:lstStyle/>
                    <a:p>
                      <a:pPr indent="0" marL="0">
                        <a:buNone/>
                      </a:pPr>
                      <a:r>
                        <a:rPr lang="en-US" sz="1200" b="1" dirty="0">
                          <a:solidFill>
                            <a:srgbClr val="FFFFFF"/>
                          </a:solidFill>
                        </a:rPr>
                        <a:t>Workload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Source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Traffic shape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What it tests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w_0001, w_0003</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Spike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Reaction to sudden, unpredicted bursts</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w_0002</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Periodic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Whether the forecaster captures daily rhythm</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w_0004</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Ramp</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Steady growth — used in the live demo</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w_0005</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Noisy, level</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That we do not over-react to jitter</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coupled_oscillation</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Alternating high / low</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Deliberately makes the two scaling loops fight</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drift</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Pattern change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Forces the ADWIN drift detector to fire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extreme_overload</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Saturation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Pushes past what the cluster can serve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stress_uncertainty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Makes the forecast highly uncertain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050" b="1" spc="100" kern="0" dirty="0">
                <a:solidFill>
                  <a:srgbClr val="5B6675"/>
                </a:solidFill>
                <a:latin typeface="Calibri" pitchFamily="34" charset="0"/>
                <a:ea typeface="Calibri" pitchFamily="34" charset="-122"/>
                <a:cs typeface="Calibri" pitchFamily="34" charset="-120"/>
              </a:rPr>
              <a:t>EACH 100-MINUTE TRACE IS SPLIT SO THE MODEL IS NEVER SCORED ON DATA IT HAS SEEN</a:t>
            </a:r>
            <a:endParaRPr lang="en-US" sz="1050" dirty="0"/>
          </a:p>
        </p:txBody>
      </p:sp>
      <p:sp>
        <p:nvSpPr>
          <p:cNvPr id="6" name="Shape 3"/>
          <p:cNvSpPr/>
          <p:nvPr/>
        </p:nvSpPr>
        <p:spPr>
          <a:xfrm>
            <a:off x="548640" y="5074920"/>
            <a:ext cx="1081735" cy="502920"/>
          </a:xfrm>
          <a:prstGeom prst="rect">
            <a:avLst/>
          </a:prstGeom>
          <a:solidFill>
            <a:srgbClr val="C9D1DC"/>
          </a:solidFill>
          <a:ln w="12700">
            <a:solidFill>
              <a:srgbClr val="C9D1DC"/>
            </a:solidFill>
            <a:prstDash val="solid"/>
          </a:ln>
        </p:spPr>
      </p:sp>
      <p:sp>
        <p:nvSpPr>
          <p:cNvPr id="7" name="Text 4"/>
          <p:cNvSpPr txBox="1"/>
          <p:nvPr/>
        </p:nvSpPr>
        <p:spPr>
          <a:xfrm>
            <a:off x="548640" y="5074920"/>
            <a:ext cx="1081735" cy="5029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Warm-up</a:t>
            </a:r>
            <a:endParaRPr lang="en-US" sz="1200" dirty="0"/>
          </a:p>
        </p:txBody>
      </p:sp>
      <p:sp>
        <p:nvSpPr>
          <p:cNvPr id="8" name="Shape 5"/>
          <p:cNvSpPr/>
          <p:nvPr/>
        </p:nvSpPr>
        <p:spPr>
          <a:xfrm>
            <a:off x="1657807" y="5074920"/>
            <a:ext cx="4409237" cy="502920"/>
          </a:xfrm>
          <a:prstGeom prst="rect">
            <a:avLst/>
          </a:prstGeom>
          <a:solidFill>
            <a:srgbClr val="2563EB"/>
          </a:solidFill>
          <a:ln w="12700">
            <a:solidFill>
              <a:srgbClr val="2563EB"/>
            </a:solidFill>
            <a:prstDash val="solid"/>
          </a:ln>
        </p:spPr>
      </p:sp>
      <p:sp>
        <p:nvSpPr>
          <p:cNvPr id="9" name="Text 6"/>
          <p:cNvSpPr txBox="1"/>
          <p:nvPr/>
        </p:nvSpPr>
        <p:spPr>
          <a:xfrm>
            <a:off x="1657807" y="5074920"/>
            <a:ext cx="440923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forecaster (10–50 min)</a:t>
            </a:r>
            <a:endParaRPr lang="en-US" sz="1200" dirty="0"/>
          </a:p>
        </p:txBody>
      </p:sp>
      <p:sp>
        <p:nvSpPr>
          <p:cNvPr id="10" name="Shape 7"/>
          <p:cNvSpPr/>
          <p:nvPr/>
        </p:nvSpPr>
        <p:spPr>
          <a:xfrm>
            <a:off x="6094476" y="5074920"/>
            <a:ext cx="2190902" cy="502920"/>
          </a:xfrm>
          <a:prstGeom prst="rect">
            <a:avLst/>
          </a:prstGeom>
          <a:solidFill>
            <a:srgbClr val="C7811A"/>
          </a:solidFill>
          <a:ln w="12700">
            <a:solidFill>
              <a:srgbClr val="C7811A"/>
            </a:solidFill>
            <a:prstDash val="solid"/>
          </a:ln>
        </p:spPr>
      </p:sp>
      <p:sp>
        <p:nvSpPr>
          <p:cNvPr id="11" name="Text 8"/>
          <p:cNvSpPr txBox="1"/>
          <p:nvPr/>
        </p:nvSpPr>
        <p:spPr>
          <a:xfrm>
            <a:off x="6094476" y="5074920"/>
            <a:ext cx="219090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Calibrate (50–70)</a:t>
            </a:r>
            <a:endParaRPr lang="en-US" sz="1200" dirty="0"/>
          </a:p>
        </p:txBody>
      </p:sp>
      <p:sp>
        <p:nvSpPr>
          <p:cNvPr id="12" name="Shape 9"/>
          <p:cNvSpPr/>
          <p:nvPr/>
        </p:nvSpPr>
        <p:spPr>
          <a:xfrm>
            <a:off x="8312810" y="5074920"/>
            <a:ext cx="3300070" cy="502920"/>
          </a:xfrm>
          <a:prstGeom prst="rect">
            <a:avLst/>
          </a:prstGeom>
          <a:solidFill>
            <a:srgbClr val="0F766E"/>
          </a:solidFill>
          <a:ln w="12700">
            <a:solidFill>
              <a:srgbClr val="0F766E"/>
            </a:solidFill>
            <a:prstDash val="solid"/>
          </a:ln>
        </p:spPr>
      </p:sp>
      <p:sp>
        <p:nvSpPr>
          <p:cNvPr id="13" name="Text 10"/>
          <p:cNvSpPr txBox="1"/>
          <p:nvPr/>
        </p:nvSpPr>
        <p:spPr>
          <a:xfrm>
            <a:off x="8312810" y="5074920"/>
            <a:ext cx="330007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Scored test window (70–100)</a:t>
            </a:r>
            <a:endParaRPr lang="en-US" sz="1200" dirty="0"/>
          </a:p>
        </p:txBody>
      </p:sp>
      <p:sp>
        <p:nvSpPr>
          <p:cNvPr id="14" name="Text 11"/>
          <p:cNvSpPr txBox="1"/>
          <p:nvPr/>
        </p:nvSpPr>
        <p:spPr>
          <a:xfrm>
            <a:off x="548640" y="5742432"/>
            <a:ext cx="11091672" cy="4572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Real traces are 100-minute excerpts of 14-day traces from the public Azure Functions 2019 dataset (10,000+ workloads); the full-dataset converter is written but not yet run.</a:t>
            </a:r>
            <a:endParaRPr lang="en-US" sz="1200" dirty="0"/>
          </a:p>
        </p:txBody>
      </p:sp>
      <p:sp>
        <p:nvSpPr>
          <p:cNvPr id="15" name="Text 1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 · SETUP</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How the comparison was run</a:t>
            </a:r>
            <a:endParaRPr lang="en-US" sz="3000" dirty="0"/>
          </a:p>
        </p:txBody>
      </p:sp>
      <p:sp>
        <p:nvSpPr>
          <p:cNvPr id="4" name="Shape 2"/>
          <p:cNvSpPr/>
          <p:nvPr/>
        </p:nvSpPr>
        <p:spPr>
          <a:xfrm>
            <a:off x="548640" y="1554480"/>
            <a:ext cx="2587752" cy="2514600"/>
          </a:xfrm>
          <a:prstGeom prst="roundRect">
            <a:avLst>
              <a:gd name="adj" fmla="val 2909"/>
            </a:avLst>
          </a:prstGeom>
          <a:solidFill>
            <a:srgbClr val="F3F5F8"/>
          </a:solidFill>
          <a:ln w="12700">
            <a:solidFill>
              <a:srgbClr val="F3F5F8"/>
            </a:solidFill>
            <a:prstDash val="solid"/>
          </a:ln>
        </p:spPr>
      </p:sp>
      <p:sp>
        <p:nvSpPr>
          <p:cNvPr id="5" name="Shape 3"/>
          <p:cNvSpPr/>
          <p:nvPr/>
        </p:nvSpPr>
        <p:spPr>
          <a:xfrm>
            <a:off x="777240" y="1783080"/>
            <a:ext cx="411480" cy="411480"/>
          </a:xfrm>
          <a:prstGeom prst="ellipse">
            <a:avLst/>
          </a:prstGeom>
          <a:solidFill>
            <a:srgbClr val="13223A"/>
          </a:solidFill>
          <a:ln w="12700">
            <a:solidFill>
              <a:srgbClr val="13223A"/>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Workloads</a:t>
            </a:r>
            <a:endParaRPr lang="en-US" sz="1700" dirty="0"/>
          </a:p>
        </p:txBody>
      </p:sp>
      <p:sp>
        <p:nvSpPr>
          <p:cNvPr id="8" name="Text 6"/>
          <p:cNvSpPr txBox="1"/>
          <p:nvPr/>
        </p:nvSpPr>
        <p:spPr>
          <a:xfrm>
            <a:off x="77724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9 traces — 5 real Azure Functions 2019 excerpts plus 4 synthetic stress scenarios.</a:t>
            </a:r>
            <a:endParaRPr lang="en-US" sz="1300" dirty="0"/>
          </a:p>
        </p:txBody>
      </p:sp>
      <p:sp>
        <p:nvSpPr>
          <p:cNvPr id="9" name="Shape 7"/>
          <p:cNvSpPr/>
          <p:nvPr/>
        </p:nvSpPr>
        <p:spPr>
          <a:xfrm>
            <a:off x="3383280" y="1554480"/>
            <a:ext cx="2587752" cy="2514600"/>
          </a:xfrm>
          <a:prstGeom prst="roundRect">
            <a:avLst>
              <a:gd name="adj" fmla="val 2909"/>
            </a:avLst>
          </a:prstGeom>
          <a:solidFill>
            <a:srgbClr val="F3F5F8"/>
          </a:solidFill>
          <a:ln w="12700">
            <a:solidFill>
              <a:srgbClr val="F3F5F8"/>
            </a:solidFill>
            <a:prstDash val="solid"/>
          </a:ln>
        </p:spPr>
      </p:sp>
      <p:sp>
        <p:nvSpPr>
          <p:cNvPr id="10" name="Shape 8"/>
          <p:cNvSpPr/>
          <p:nvPr/>
        </p:nvSpPr>
        <p:spPr>
          <a:xfrm>
            <a:off x="3611880" y="1783080"/>
            <a:ext cx="411480" cy="411480"/>
          </a:xfrm>
          <a:prstGeom prst="ellipse">
            <a:avLst/>
          </a:prstGeom>
          <a:solidFill>
            <a:srgbClr val="13223A"/>
          </a:solidFill>
          <a:ln w="12700">
            <a:solidFill>
              <a:srgbClr val="13223A"/>
            </a:solidFill>
            <a:prstDash val="solid"/>
          </a:ln>
        </p:spPr>
      </p:sp>
      <p:sp>
        <p:nvSpPr>
          <p:cNvPr id="11" name="Text 9"/>
          <p:cNvSpPr txBox="1"/>
          <p:nvPr/>
        </p:nvSpPr>
        <p:spPr>
          <a:xfrm>
            <a:off x="361188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Controllers</a:t>
            </a:r>
            <a:endParaRPr lang="en-US" sz="1700" dirty="0"/>
          </a:p>
        </p:txBody>
      </p:sp>
      <p:sp>
        <p:nvSpPr>
          <p:cNvPr id="13" name="Text 11"/>
          <p:cNvSpPr txBox="1"/>
          <p:nvPr/>
        </p:nvSpPr>
        <p:spPr>
          <a:xfrm>
            <a:off x="361188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CHIMERA, CHIMERA v1 (Review 2), HPA, VPA, HPA+VPA, AAPA, MagicScaler-inspired, KOSMOS, plus 15 ablation and 4 sensitivity variants.</a:t>
            </a:r>
            <a:endParaRPr lang="en-US" sz="1300" dirty="0"/>
          </a:p>
        </p:txBody>
      </p:sp>
      <p:sp>
        <p:nvSpPr>
          <p:cNvPr id="14" name="Shape 12"/>
          <p:cNvSpPr/>
          <p:nvPr/>
        </p:nvSpPr>
        <p:spPr>
          <a:xfrm>
            <a:off x="6217920" y="1554480"/>
            <a:ext cx="2587752" cy="2514600"/>
          </a:xfrm>
          <a:prstGeom prst="roundRect">
            <a:avLst>
              <a:gd name="adj" fmla="val 2909"/>
            </a:avLst>
          </a:prstGeom>
          <a:solidFill>
            <a:srgbClr val="F3F5F8"/>
          </a:solidFill>
          <a:ln w="12700">
            <a:solidFill>
              <a:srgbClr val="F3F5F8"/>
            </a:solidFill>
            <a:prstDash val="solid"/>
          </a:ln>
        </p:spPr>
      </p:sp>
      <p:sp>
        <p:nvSpPr>
          <p:cNvPr id="15" name="Shape 13"/>
          <p:cNvSpPr/>
          <p:nvPr/>
        </p:nvSpPr>
        <p:spPr>
          <a:xfrm>
            <a:off x="6446520" y="1783080"/>
            <a:ext cx="411480" cy="411480"/>
          </a:xfrm>
          <a:prstGeom prst="ellipse">
            <a:avLst/>
          </a:prstGeom>
          <a:solidFill>
            <a:srgbClr val="13223A"/>
          </a:solidFill>
          <a:ln w="12700">
            <a:solidFill>
              <a:srgbClr val="13223A"/>
            </a:solidFill>
            <a:prstDash val="solid"/>
          </a:ln>
        </p:spPr>
      </p:sp>
      <p:sp>
        <p:nvSpPr>
          <p:cNvPr id="16" name="Text 14"/>
          <p:cNvSpPr txBox="1"/>
          <p:nvPr/>
        </p:nvSpPr>
        <p:spPr>
          <a:xfrm>
            <a:off x="64465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Protocol</a:t>
            </a:r>
            <a:endParaRPr lang="en-US" sz="1700" dirty="0"/>
          </a:p>
        </p:txBody>
      </p:sp>
      <p:sp>
        <p:nvSpPr>
          <p:cNvPr id="18" name="Text 16"/>
          <p:cNvSpPr txBox="1"/>
          <p:nvPr/>
        </p:nvSpPr>
        <p:spPr>
          <a:xfrm>
            <a:off x="644652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 seeds × 9 workloads × 29 configurations = 2,610 runs, plus a 1,800-run cost/SLO frontier sweep. Scored on minutes 70–100 only.</a:t>
            </a:r>
            <a:endParaRPr lang="en-US" sz="1300" dirty="0"/>
          </a:p>
        </p:txBody>
      </p:sp>
      <p:sp>
        <p:nvSpPr>
          <p:cNvPr id="19" name="Shape 17"/>
          <p:cNvSpPr/>
          <p:nvPr/>
        </p:nvSpPr>
        <p:spPr>
          <a:xfrm>
            <a:off x="9052560" y="1554480"/>
            <a:ext cx="2587752" cy="2514600"/>
          </a:xfrm>
          <a:prstGeom prst="roundRect">
            <a:avLst>
              <a:gd name="adj" fmla="val 2909"/>
            </a:avLst>
          </a:prstGeom>
          <a:solidFill>
            <a:srgbClr val="F3F5F8"/>
          </a:solidFill>
          <a:ln w="12700">
            <a:solidFill>
              <a:srgbClr val="F3F5F8"/>
            </a:solidFill>
            <a:prstDash val="solid"/>
          </a:ln>
        </p:spPr>
      </p:sp>
      <p:sp>
        <p:nvSpPr>
          <p:cNvPr id="20" name="Shape 18"/>
          <p:cNvSpPr/>
          <p:nvPr/>
        </p:nvSpPr>
        <p:spPr>
          <a:xfrm>
            <a:off x="9281160" y="1783080"/>
            <a:ext cx="411480" cy="411480"/>
          </a:xfrm>
          <a:prstGeom prst="ellipse">
            <a:avLst/>
          </a:prstGeom>
          <a:solidFill>
            <a:srgbClr val="13223A"/>
          </a:solidFill>
          <a:ln w="12700">
            <a:solidFill>
              <a:srgbClr val="13223A"/>
            </a:solidFill>
            <a:prstDash val="solid"/>
          </a:ln>
        </p:spPr>
      </p:sp>
      <p:sp>
        <p:nvSpPr>
          <p:cNvPr id="21" name="Text 19"/>
          <p:cNvSpPr txBox="1"/>
          <p:nvPr/>
        </p:nvSpPr>
        <p:spPr>
          <a:xfrm>
            <a:off x="928116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Metrics</a:t>
            </a:r>
            <a:endParaRPr lang="en-US" sz="1700" dirty="0"/>
          </a:p>
        </p:txBody>
      </p:sp>
      <p:sp>
        <p:nvSpPr>
          <p:cNvPr id="23" name="Text 21"/>
          <p:cNvSpPr txBox="1"/>
          <p:nvPr/>
        </p:nvSpPr>
        <p:spPr>
          <a:xfrm>
            <a:off x="928116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SLO violation rate (500 ms), p99 latency, CPU core-minutes (real cost), pod-minutes, scaling actions.</a:t>
            </a:r>
            <a:endParaRPr lang="en-US" sz="1300" dirty="0"/>
          </a:p>
        </p:txBody>
      </p:sp>
      <p:sp>
        <p:nvSpPr>
          <p:cNvPr id="24" name="Shape 22"/>
          <p:cNvSpPr/>
          <p:nvPr/>
        </p:nvSpPr>
        <p:spPr>
          <a:xfrm>
            <a:off x="548640" y="4343400"/>
            <a:ext cx="11091672" cy="1783080"/>
          </a:xfrm>
          <a:prstGeom prst="roundRect">
            <a:avLst>
              <a:gd name="adj" fmla="val 4103"/>
            </a:avLst>
          </a:prstGeom>
          <a:solidFill>
            <a:srgbClr val="13223A"/>
          </a:solidFill>
          <a:ln w="12700">
            <a:solidFill>
              <a:srgbClr val="13223A"/>
            </a:solidFill>
            <a:prstDash val="solid"/>
          </a:ln>
        </p:spPr>
      </p:sp>
      <p:sp>
        <p:nvSpPr>
          <p:cNvPr id="25" name="Text 23"/>
          <p:cNvSpPr txBox="1"/>
          <p:nvPr/>
        </p:nvSpPr>
        <p:spPr>
          <a:xfrm>
            <a:off x="868680" y="4572000"/>
            <a:ext cx="457200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FAIRNESS CONTROL</a:t>
            </a:r>
            <a:endParaRPr lang="en-US" sz="1100" dirty="0"/>
          </a:p>
        </p:txBody>
      </p:sp>
      <p:sp>
        <p:nvSpPr>
          <p:cNvPr id="26" name="Text 24"/>
          <p:cNvSpPr txBox="1"/>
          <p:nvPr/>
        </p:nvSpPr>
        <p:spPr>
          <a:xfrm>
            <a:off x="868680" y="4919472"/>
            <a:ext cx="1042416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Every controller starts from identical resource bounds (0.5 cores/pod, 2 replicas) and targets the same 70 % utilisation. Baseline bugs found in audit were fixed first: MagicScaler assumed 3× larger pods, HPA+VPA never fired its VPA loop, and a load-sensor cap hid overload from every controller. 1.5-core head-start variants are reported separately.</a:t>
            </a:r>
            <a:endParaRPr lang="en-US" sz="1400" dirty="0"/>
          </a:p>
        </p:txBody>
      </p:sp>
      <p:sp>
        <p:nvSpPr>
          <p:cNvPr id="27" name="Text 25"/>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8"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IDENTIFICATION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Twelve modules across four subsystems</a:t>
            </a:r>
            <a:endParaRPr lang="en-US" sz="3000" dirty="0"/>
          </a:p>
        </p:txBody>
      </p:sp>
      <p:sp>
        <p:nvSpPr>
          <p:cNvPr id="4" name="Text 2"/>
          <p:cNvSpPr txBox="1"/>
          <p:nvPr/>
        </p:nvSpPr>
        <p:spPr>
          <a:xfrm>
            <a:off x="548640" y="1508760"/>
            <a:ext cx="2606040" cy="365760"/>
          </a:xfrm>
          <a:prstGeom prst="rect">
            <a:avLst/>
          </a:prstGeom>
          <a:noFill/>
          <a:ln/>
        </p:spPr>
        <p:txBody>
          <a:bodyPr wrap="square" lIns="0" tIns="0" rIns="0" bIns="0" rtlCol="0" anchor="t"/>
          <a:lstStyle/>
          <a:p>
            <a:pPr indent="0" marL="0">
              <a:buNone/>
            </a:pPr>
            <a:r>
              <a:rPr lang="en-US" sz="1600" b="1" dirty="0">
                <a:solidFill>
                  <a:srgbClr val="2563EB"/>
                </a:solidFill>
                <a:latin typeface="Cambria" pitchFamily="34" charset="0"/>
                <a:ea typeface="Cambria" pitchFamily="34" charset="-122"/>
                <a:cs typeface="Cambria" pitchFamily="34" charset="-120"/>
              </a:rPr>
              <a:t>Data &amp; Prediction</a:t>
            </a:r>
            <a:endParaRPr lang="en-US" sz="1600" dirty="0"/>
          </a:p>
        </p:txBody>
      </p:sp>
      <p:sp>
        <p:nvSpPr>
          <p:cNvPr id="5" name="Shape 3"/>
          <p:cNvSpPr/>
          <p:nvPr/>
        </p:nvSpPr>
        <p:spPr>
          <a:xfrm>
            <a:off x="548640" y="1920240"/>
            <a:ext cx="2606040" cy="0"/>
          </a:xfrm>
          <a:prstGeom prst="line">
            <a:avLst/>
          </a:prstGeom>
          <a:noFill/>
          <a:ln w="19050">
            <a:solidFill>
              <a:srgbClr val="2563EB"/>
            </a:solidFill>
            <a:prstDash val="solid"/>
          </a:ln>
        </p:spPr>
      </p:sp>
      <p:sp>
        <p:nvSpPr>
          <p:cNvPr id="6" name="Shape 4"/>
          <p:cNvSpPr/>
          <p:nvPr/>
        </p:nvSpPr>
        <p:spPr>
          <a:xfrm>
            <a:off x="548640" y="2103120"/>
            <a:ext cx="2606040" cy="868680"/>
          </a:xfrm>
          <a:prstGeom prst="roundRect">
            <a:avLst>
              <a:gd name="adj" fmla="val 8421"/>
            </a:avLst>
          </a:prstGeom>
          <a:solidFill>
            <a:srgbClr val="F3F5F8"/>
          </a:solidFill>
          <a:ln w="12700">
            <a:solidFill>
              <a:srgbClr val="F3F5F8"/>
            </a:solidFill>
            <a:prstDash val="solid"/>
          </a:ln>
        </p:spPr>
      </p:sp>
      <p:sp>
        <p:nvSpPr>
          <p:cNvPr id="7" name="Shape 5"/>
          <p:cNvSpPr/>
          <p:nvPr/>
        </p:nvSpPr>
        <p:spPr>
          <a:xfrm>
            <a:off x="676656" y="2331720"/>
            <a:ext cx="402336" cy="402336"/>
          </a:xfrm>
          <a:prstGeom prst="ellipse">
            <a:avLst/>
          </a:prstGeom>
          <a:solidFill>
            <a:srgbClr val="2563EB"/>
          </a:solidFill>
          <a:ln w="12700">
            <a:solidFill>
              <a:srgbClr val="2563EB"/>
            </a:solidFill>
            <a:prstDash val="solid"/>
          </a:ln>
        </p:spPr>
      </p:sp>
      <p:sp>
        <p:nvSpPr>
          <p:cNvPr id="8" name="Text 6"/>
          <p:cNvSpPr txBox="1"/>
          <p:nvPr/>
        </p:nvSpPr>
        <p:spPr>
          <a:xfrm>
            <a:off x="67665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Workload loader + trace parser</a:t>
            </a:r>
            <a:endParaRPr lang="en-US" sz="1200" dirty="0"/>
          </a:p>
        </p:txBody>
      </p:sp>
      <p:sp>
        <p:nvSpPr>
          <p:cNvPr id="10" name="Text 8"/>
          <p:cNvSpPr txBox="1"/>
          <p:nvPr/>
        </p:nvSpPr>
        <p:spPr>
          <a:xfrm>
            <a:off x="118872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src/data/loader.py</a:t>
            </a:r>
            <a:endParaRPr lang="en-US" sz="800" dirty="0"/>
          </a:p>
        </p:txBody>
      </p:sp>
      <p:sp>
        <p:nvSpPr>
          <p:cNvPr id="11" name="Shape 9"/>
          <p:cNvSpPr/>
          <p:nvPr/>
        </p:nvSpPr>
        <p:spPr>
          <a:xfrm>
            <a:off x="548640" y="3108960"/>
            <a:ext cx="2606040" cy="868680"/>
          </a:xfrm>
          <a:prstGeom prst="roundRect">
            <a:avLst>
              <a:gd name="adj" fmla="val 8421"/>
            </a:avLst>
          </a:prstGeom>
          <a:solidFill>
            <a:srgbClr val="F3F5F8"/>
          </a:solidFill>
          <a:ln w="12700">
            <a:solidFill>
              <a:srgbClr val="F3F5F8"/>
            </a:solidFill>
            <a:prstDash val="solid"/>
          </a:ln>
        </p:spPr>
      </p:sp>
      <p:sp>
        <p:nvSpPr>
          <p:cNvPr id="12" name="Shape 10"/>
          <p:cNvSpPr/>
          <p:nvPr/>
        </p:nvSpPr>
        <p:spPr>
          <a:xfrm>
            <a:off x="676656" y="3337560"/>
            <a:ext cx="402336" cy="402336"/>
          </a:xfrm>
          <a:prstGeom prst="ellipse">
            <a:avLst/>
          </a:prstGeom>
          <a:solidFill>
            <a:srgbClr val="2563EB"/>
          </a:solidFill>
          <a:ln w="12700">
            <a:solidFill>
              <a:srgbClr val="2563EB"/>
            </a:solidFill>
            <a:prstDash val="solid"/>
          </a:ln>
        </p:spPr>
      </p:sp>
      <p:sp>
        <p:nvSpPr>
          <p:cNvPr id="13" name="Text 11"/>
          <p:cNvSpPr txBox="1"/>
          <p:nvPr/>
        </p:nvSpPr>
        <p:spPr>
          <a:xfrm>
            <a:off x="67665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Rolling feature extractor</a:t>
            </a:r>
            <a:endParaRPr lang="en-US" sz="1200" dirty="0"/>
          </a:p>
        </p:txBody>
      </p:sp>
      <p:sp>
        <p:nvSpPr>
          <p:cNvPr id="15" name="Text 13"/>
          <p:cNvSpPr txBox="1"/>
          <p:nvPr/>
        </p:nvSpPr>
        <p:spPr>
          <a:xfrm>
            <a:off x="118872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src/data/features.py</a:t>
            </a:r>
            <a:endParaRPr lang="en-US" sz="800" dirty="0"/>
          </a:p>
        </p:txBody>
      </p:sp>
      <p:sp>
        <p:nvSpPr>
          <p:cNvPr id="16" name="Shape 14"/>
          <p:cNvSpPr/>
          <p:nvPr/>
        </p:nvSpPr>
        <p:spPr>
          <a:xfrm>
            <a:off x="548640" y="4114800"/>
            <a:ext cx="2606040" cy="868680"/>
          </a:xfrm>
          <a:prstGeom prst="roundRect">
            <a:avLst>
              <a:gd name="adj" fmla="val 8421"/>
            </a:avLst>
          </a:prstGeom>
          <a:solidFill>
            <a:srgbClr val="F3F5F8"/>
          </a:solidFill>
          <a:ln w="12700">
            <a:solidFill>
              <a:srgbClr val="F3F5F8"/>
            </a:solidFill>
            <a:prstDash val="solid"/>
          </a:ln>
        </p:spPr>
      </p:sp>
      <p:sp>
        <p:nvSpPr>
          <p:cNvPr id="17" name="Shape 15"/>
          <p:cNvSpPr/>
          <p:nvPr/>
        </p:nvSpPr>
        <p:spPr>
          <a:xfrm>
            <a:off x="676656" y="4343400"/>
            <a:ext cx="402336" cy="402336"/>
          </a:xfrm>
          <a:prstGeom prst="ellipse">
            <a:avLst/>
          </a:prstGeom>
          <a:solidFill>
            <a:srgbClr val="2563EB"/>
          </a:solidFill>
          <a:ln w="12700">
            <a:solidFill>
              <a:srgbClr val="2563EB"/>
            </a:solidFill>
            <a:prstDash val="solid"/>
          </a:ln>
        </p:spPr>
      </p:sp>
      <p:sp>
        <p:nvSpPr>
          <p:cNvPr id="18" name="Text 16"/>
          <p:cNvSpPr txBox="1"/>
          <p:nvPr/>
        </p:nvSpPr>
        <p:spPr>
          <a:xfrm>
            <a:off x="67665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Conformal quantile regressor</a:t>
            </a:r>
            <a:endParaRPr lang="en-US" sz="1200" dirty="0"/>
          </a:p>
        </p:txBody>
      </p:sp>
      <p:sp>
        <p:nvSpPr>
          <p:cNvPr id="20" name="Text 18"/>
          <p:cNvSpPr txBox="1"/>
          <p:nvPr/>
        </p:nvSpPr>
        <p:spPr>
          <a:xfrm>
            <a:off x="118872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src/models/cqr_uncertainty.py</a:t>
            </a:r>
            <a:endParaRPr lang="en-US" sz="800" dirty="0"/>
          </a:p>
        </p:txBody>
      </p:sp>
      <p:sp>
        <p:nvSpPr>
          <p:cNvPr id="21" name="Shape 19"/>
          <p:cNvSpPr/>
          <p:nvPr/>
        </p:nvSpPr>
        <p:spPr>
          <a:xfrm>
            <a:off x="548640" y="5120640"/>
            <a:ext cx="2606040" cy="868680"/>
          </a:xfrm>
          <a:prstGeom prst="roundRect">
            <a:avLst>
              <a:gd name="adj" fmla="val 8421"/>
            </a:avLst>
          </a:prstGeom>
          <a:solidFill>
            <a:srgbClr val="F3F5F8"/>
          </a:solidFill>
          <a:ln w="12700">
            <a:solidFill>
              <a:srgbClr val="F3F5F8"/>
            </a:solidFill>
            <a:prstDash val="solid"/>
          </a:ln>
        </p:spPr>
      </p:sp>
      <p:sp>
        <p:nvSpPr>
          <p:cNvPr id="22" name="Shape 20"/>
          <p:cNvSpPr/>
          <p:nvPr/>
        </p:nvSpPr>
        <p:spPr>
          <a:xfrm>
            <a:off x="676656" y="5349240"/>
            <a:ext cx="402336" cy="402336"/>
          </a:xfrm>
          <a:prstGeom prst="ellipse">
            <a:avLst/>
          </a:prstGeom>
          <a:solidFill>
            <a:srgbClr val="2563EB"/>
          </a:solidFill>
          <a:ln w="12700">
            <a:solidFill>
              <a:srgbClr val="2563EB"/>
            </a:solidFill>
            <a:prstDash val="solid"/>
          </a:ln>
        </p:spPr>
      </p:sp>
      <p:sp>
        <p:nvSpPr>
          <p:cNvPr id="23" name="Text 21"/>
          <p:cNvSpPr txBox="1"/>
          <p:nvPr/>
        </p:nvSpPr>
        <p:spPr>
          <a:xfrm>
            <a:off x="67665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ADWIN drift detector</a:t>
            </a:r>
            <a:endParaRPr lang="en-US" sz="1200" dirty="0"/>
          </a:p>
        </p:txBody>
      </p:sp>
      <p:sp>
        <p:nvSpPr>
          <p:cNvPr id="25" name="Text 23"/>
          <p:cNvSpPr txBox="1"/>
          <p:nvPr/>
        </p:nvSpPr>
        <p:spPr>
          <a:xfrm>
            <a:off x="118872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src/models/drift_detector.py</a:t>
            </a:r>
            <a:endParaRPr lang="en-US" sz="800" dirty="0"/>
          </a:p>
        </p:txBody>
      </p:sp>
      <p:sp>
        <p:nvSpPr>
          <p:cNvPr id="26" name="Text 24"/>
          <p:cNvSpPr txBox="1"/>
          <p:nvPr/>
        </p:nvSpPr>
        <p:spPr>
          <a:xfrm>
            <a:off x="3383280" y="1508760"/>
            <a:ext cx="2606040" cy="365760"/>
          </a:xfrm>
          <a:prstGeom prst="rect">
            <a:avLst/>
          </a:prstGeom>
          <a:noFill/>
          <a:ln/>
        </p:spPr>
        <p:txBody>
          <a:bodyPr wrap="square" lIns="0" tIns="0" rIns="0" bIns="0" rtlCol="0" anchor="t"/>
          <a:lstStyle/>
          <a:p>
            <a:pPr indent="0" marL="0">
              <a:buNone/>
            </a:pPr>
            <a:r>
              <a:rPr lang="en-US" sz="1600" b="1" dirty="0">
                <a:solidFill>
                  <a:srgbClr val="C7811A"/>
                </a:solidFill>
                <a:latin typeface="Cambria" pitchFamily="34" charset="0"/>
                <a:ea typeface="Cambria" pitchFamily="34" charset="-122"/>
                <a:cs typeface="Cambria" pitchFamily="34" charset="-120"/>
              </a:rPr>
              <a:t>Control</a:t>
            </a:r>
            <a:endParaRPr lang="en-US" sz="1600" dirty="0"/>
          </a:p>
        </p:txBody>
      </p:sp>
      <p:sp>
        <p:nvSpPr>
          <p:cNvPr id="27" name="Shape 25"/>
          <p:cNvSpPr/>
          <p:nvPr/>
        </p:nvSpPr>
        <p:spPr>
          <a:xfrm>
            <a:off x="3383280" y="1920240"/>
            <a:ext cx="2606040" cy="0"/>
          </a:xfrm>
          <a:prstGeom prst="line">
            <a:avLst/>
          </a:prstGeom>
          <a:noFill/>
          <a:ln w="19050">
            <a:solidFill>
              <a:srgbClr val="C7811A"/>
            </a:solidFill>
            <a:prstDash val="solid"/>
          </a:ln>
        </p:spPr>
      </p:sp>
      <p:sp>
        <p:nvSpPr>
          <p:cNvPr id="28" name="Shape 26"/>
          <p:cNvSpPr/>
          <p:nvPr/>
        </p:nvSpPr>
        <p:spPr>
          <a:xfrm>
            <a:off x="3383280" y="2103120"/>
            <a:ext cx="2606040" cy="868680"/>
          </a:xfrm>
          <a:prstGeom prst="roundRect">
            <a:avLst>
              <a:gd name="adj" fmla="val 8421"/>
            </a:avLst>
          </a:prstGeom>
          <a:solidFill>
            <a:srgbClr val="F3F5F8"/>
          </a:solidFill>
          <a:ln w="12700">
            <a:solidFill>
              <a:srgbClr val="F3F5F8"/>
            </a:solidFill>
            <a:prstDash val="solid"/>
          </a:ln>
        </p:spPr>
      </p:sp>
      <p:sp>
        <p:nvSpPr>
          <p:cNvPr id="29" name="Shape 27"/>
          <p:cNvSpPr/>
          <p:nvPr/>
        </p:nvSpPr>
        <p:spPr>
          <a:xfrm>
            <a:off x="3511296" y="2331720"/>
            <a:ext cx="402336" cy="402336"/>
          </a:xfrm>
          <a:prstGeom prst="ellipse">
            <a:avLst/>
          </a:prstGeom>
          <a:solidFill>
            <a:srgbClr val="C7811A"/>
          </a:solidFill>
          <a:ln w="12700">
            <a:solidFill>
              <a:srgbClr val="C7811A"/>
            </a:solidFill>
            <a:prstDash val="solid"/>
          </a:ln>
        </p:spPr>
      </p:sp>
      <p:sp>
        <p:nvSpPr>
          <p:cNvPr id="30" name="Text 28"/>
          <p:cNvSpPr txBox="1"/>
          <p:nvPr/>
        </p:nvSpPr>
        <p:spPr>
          <a:xfrm>
            <a:off x="351129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02336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DARE / LQR gain solver</a:t>
            </a:r>
            <a:endParaRPr lang="en-US" sz="1200" dirty="0"/>
          </a:p>
        </p:txBody>
      </p:sp>
      <p:sp>
        <p:nvSpPr>
          <p:cNvPr id="32" name="Text 30"/>
          <p:cNvSpPr txBox="1"/>
          <p:nvPr/>
        </p:nvSpPr>
        <p:spPr>
          <a:xfrm>
            <a:off x="402336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3" name="Shape 31"/>
          <p:cNvSpPr/>
          <p:nvPr/>
        </p:nvSpPr>
        <p:spPr>
          <a:xfrm>
            <a:off x="3383280" y="3108960"/>
            <a:ext cx="2606040" cy="868680"/>
          </a:xfrm>
          <a:prstGeom prst="roundRect">
            <a:avLst>
              <a:gd name="adj" fmla="val 8421"/>
            </a:avLst>
          </a:prstGeom>
          <a:solidFill>
            <a:srgbClr val="F3F5F8"/>
          </a:solidFill>
          <a:ln w="12700">
            <a:solidFill>
              <a:srgbClr val="F3F5F8"/>
            </a:solidFill>
            <a:prstDash val="solid"/>
          </a:ln>
        </p:spPr>
      </p:sp>
      <p:sp>
        <p:nvSpPr>
          <p:cNvPr id="34" name="Shape 32"/>
          <p:cNvSpPr/>
          <p:nvPr/>
        </p:nvSpPr>
        <p:spPr>
          <a:xfrm>
            <a:off x="3511296" y="3337560"/>
            <a:ext cx="402336" cy="402336"/>
          </a:xfrm>
          <a:prstGeom prst="ellipse">
            <a:avLst/>
          </a:prstGeom>
          <a:solidFill>
            <a:srgbClr val="C7811A"/>
          </a:solidFill>
          <a:ln w="12700">
            <a:solidFill>
              <a:srgbClr val="C7811A"/>
            </a:solidFill>
            <a:prstDash val="solid"/>
          </a:ln>
        </p:spPr>
      </p:sp>
      <p:sp>
        <p:nvSpPr>
          <p:cNvPr id="35" name="Text 33"/>
          <p:cNvSpPr txBox="1"/>
          <p:nvPr/>
        </p:nvSpPr>
        <p:spPr>
          <a:xfrm>
            <a:off x="351129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402336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Delay-state augmentation</a:t>
            </a:r>
            <a:endParaRPr lang="en-US" sz="1200" dirty="0"/>
          </a:p>
        </p:txBody>
      </p:sp>
      <p:sp>
        <p:nvSpPr>
          <p:cNvPr id="37" name="Text 35"/>
          <p:cNvSpPr txBox="1"/>
          <p:nvPr/>
        </p:nvSpPr>
        <p:spPr>
          <a:xfrm>
            <a:off x="402336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8" name="Shape 36"/>
          <p:cNvSpPr/>
          <p:nvPr/>
        </p:nvSpPr>
        <p:spPr>
          <a:xfrm>
            <a:off x="3383280" y="4114800"/>
            <a:ext cx="2606040" cy="868680"/>
          </a:xfrm>
          <a:prstGeom prst="roundRect">
            <a:avLst>
              <a:gd name="adj" fmla="val 8421"/>
            </a:avLst>
          </a:prstGeom>
          <a:solidFill>
            <a:srgbClr val="F3F5F8"/>
          </a:solidFill>
          <a:ln w="12700">
            <a:solidFill>
              <a:srgbClr val="F3F5F8"/>
            </a:solidFill>
            <a:prstDash val="solid"/>
          </a:ln>
        </p:spPr>
      </p:sp>
      <p:sp>
        <p:nvSpPr>
          <p:cNvPr id="39" name="Shape 37"/>
          <p:cNvSpPr/>
          <p:nvPr/>
        </p:nvSpPr>
        <p:spPr>
          <a:xfrm>
            <a:off x="3511296" y="4343400"/>
            <a:ext cx="402336" cy="402336"/>
          </a:xfrm>
          <a:prstGeom prst="ellipse">
            <a:avLst/>
          </a:prstGeom>
          <a:solidFill>
            <a:srgbClr val="C7811A"/>
          </a:solidFill>
          <a:ln w="12700">
            <a:solidFill>
              <a:srgbClr val="C7811A"/>
            </a:solidFill>
            <a:prstDash val="solid"/>
          </a:ln>
        </p:spPr>
      </p:sp>
      <p:sp>
        <p:nvSpPr>
          <p:cNvPr id="40" name="Text 38"/>
          <p:cNvSpPr txBox="1"/>
          <p:nvPr/>
        </p:nvSpPr>
        <p:spPr>
          <a:xfrm>
            <a:off x="351129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402336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Lyapunov CLF safety filter</a:t>
            </a:r>
            <a:endParaRPr lang="en-US" sz="1200" dirty="0"/>
          </a:p>
        </p:txBody>
      </p:sp>
      <p:sp>
        <p:nvSpPr>
          <p:cNvPr id="42" name="Text 40"/>
          <p:cNvSpPr txBox="1"/>
          <p:nvPr/>
        </p:nvSpPr>
        <p:spPr>
          <a:xfrm>
            <a:off x="402336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3" name="Shape 41"/>
          <p:cNvSpPr/>
          <p:nvPr/>
        </p:nvSpPr>
        <p:spPr>
          <a:xfrm>
            <a:off x="3383280" y="5120640"/>
            <a:ext cx="2606040" cy="868680"/>
          </a:xfrm>
          <a:prstGeom prst="roundRect">
            <a:avLst>
              <a:gd name="adj" fmla="val 8421"/>
            </a:avLst>
          </a:prstGeom>
          <a:solidFill>
            <a:srgbClr val="F3F5F8"/>
          </a:solidFill>
          <a:ln w="12700">
            <a:solidFill>
              <a:srgbClr val="F3F5F8"/>
            </a:solidFill>
            <a:prstDash val="solid"/>
          </a:ln>
        </p:spPr>
      </p:sp>
      <p:sp>
        <p:nvSpPr>
          <p:cNvPr id="44" name="Shape 42"/>
          <p:cNvSpPr/>
          <p:nvPr/>
        </p:nvSpPr>
        <p:spPr>
          <a:xfrm>
            <a:off x="3511296" y="5349240"/>
            <a:ext cx="402336" cy="402336"/>
          </a:xfrm>
          <a:prstGeom prst="ellipse">
            <a:avLst/>
          </a:prstGeom>
          <a:solidFill>
            <a:srgbClr val="C7811A"/>
          </a:solidFill>
          <a:ln w="12700">
            <a:solidFill>
              <a:srgbClr val="C7811A"/>
            </a:solidFill>
            <a:prstDash val="solid"/>
          </a:ln>
        </p:spPr>
      </p:sp>
      <p:sp>
        <p:nvSpPr>
          <p:cNvPr id="45" name="Text 43"/>
          <p:cNvSpPr txBox="1"/>
          <p:nvPr/>
        </p:nvSpPr>
        <p:spPr>
          <a:xfrm>
            <a:off x="351129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4"/>
          <p:cNvSpPr txBox="1"/>
          <p:nvPr/>
        </p:nvSpPr>
        <p:spPr>
          <a:xfrm>
            <a:off x="402336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Cross-coupling penalty</a:t>
            </a:r>
            <a:endParaRPr lang="en-US" sz="1200" dirty="0"/>
          </a:p>
        </p:txBody>
      </p:sp>
      <p:sp>
        <p:nvSpPr>
          <p:cNvPr id="47" name="Text 45"/>
          <p:cNvSpPr txBox="1"/>
          <p:nvPr/>
        </p:nvSpPr>
        <p:spPr>
          <a:xfrm>
            <a:off x="402336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8" name="Text 46"/>
          <p:cNvSpPr txBox="1"/>
          <p:nvPr/>
        </p:nvSpPr>
        <p:spPr>
          <a:xfrm>
            <a:off x="6217920" y="1508760"/>
            <a:ext cx="26060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Simulation &amp; Evaluation</a:t>
            </a:r>
            <a:endParaRPr lang="en-US" sz="1600" dirty="0"/>
          </a:p>
        </p:txBody>
      </p:sp>
      <p:sp>
        <p:nvSpPr>
          <p:cNvPr id="49" name="Shape 47"/>
          <p:cNvSpPr/>
          <p:nvPr/>
        </p:nvSpPr>
        <p:spPr>
          <a:xfrm>
            <a:off x="6217920" y="1920240"/>
            <a:ext cx="2606040" cy="0"/>
          </a:xfrm>
          <a:prstGeom prst="line">
            <a:avLst/>
          </a:prstGeom>
          <a:noFill/>
          <a:ln w="19050">
            <a:solidFill>
              <a:srgbClr val="0F766E"/>
            </a:solidFill>
            <a:prstDash val="solid"/>
          </a:ln>
        </p:spPr>
      </p:sp>
      <p:sp>
        <p:nvSpPr>
          <p:cNvPr id="50" name="Shape 48"/>
          <p:cNvSpPr/>
          <p:nvPr/>
        </p:nvSpPr>
        <p:spPr>
          <a:xfrm>
            <a:off x="6217920" y="2103120"/>
            <a:ext cx="2606040" cy="868680"/>
          </a:xfrm>
          <a:prstGeom prst="roundRect">
            <a:avLst>
              <a:gd name="adj" fmla="val 8421"/>
            </a:avLst>
          </a:prstGeom>
          <a:solidFill>
            <a:srgbClr val="F3F5F8"/>
          </a:solidFill>
          <a:ln w="12700">
            <a:solidFill>
              <a:srgbClr val="F3F5F8"/>
            </a:solidFill>
            <a:prstDash val="solid"/>
          </a:ln>
        </p:spPr>
      </p:sp>
      <p:sp>
        <p:nvSpPr>
          <p:cNvPr id="51" name="Shape 49"/>
          <p:cNvSpPr/>
          <p:nvPr/>
        </p:nvSpPr>
        <p:spPr>
          <a:xfrm>
            <a:off x="6345936" y="2331720"/>
            <a:ext cx="402336" cy="402336"/>
          </a:xfrm>
          <a:prstGeom prst="ellipse">
            <a:avLst/>
          </a:prstGeom>
          <a:solidFill>
            <a:srgbClr val="0F766E"/>
          </a:solidFill>
          <a:ln w="12700">
            <a:solidFill>
              <a:srgbClr val="0F766E"/>
            </a:solidFill>
            <a:prstDash val="solid"/>
          </a:ln>
        </p:spPr>
      </p:sp>
      <p:sp>
        <p:nvSpPr>
          <p:cNvPr id="52" name="Text 50"/>
          <p:cNvSpPr txBox="1"/>
          <p:nvPr/>
        </p:nvSpPr>
        <p:spPr>
          <a:xfrm>
            <a:off x="634593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685800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SimPy 2D cluster simulator</a:t>
            </a:r>
            <a:endParaRPr lang="en-US" sz="1200" dirty="0"/>
          </a:p>
        </p:txBody>
      </p:sp>
      <p:sp>
        <p:nvSpPr>
          <p:cNvPr id="54" name="Text 52"/>
          <p:cNvSpPr txBox="1"/>
          <p:nvPr/>
        </p:nvSpPr>
        <p:spPr>
          <a:xfrm>
            <a:off x="685800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chimera_simulator.py</a:t>
            </a:r>
            <a:endParaRPr lang="en-US" sz="800" dirty="0"/>
          </a:p>
        </p:txBody>
      </p:sp>
      <p:sp>
        <p:nvSpPr>
          <p:cNvPr id="55" name="Shape 53"/>
          <p:cNvSpPr/>
          <p:nvPr/>
        </p:nvSpPr>
        <p:spPr>
          <a:xfrm>
            <a:off x="6217920" y="3108960"/>
            <a:ext cx="2606040" cy="868680"/>
          </a:xfrm>
          <a:prstGeom prst="roundRect">
            <a:avLst>
              <a:gd name="adj" fmla="val 8421"/>
            </a:avLst>
          </a:prstGeom>
          <a:solidFill>
            <a:srgbClr val="F3F5F8"/>
          </a:solidFill>
          <a:ln w="12700">
            <a:solidFill>
              <a:srgbClr val="F3F5F8"/>
            </a:solidFill>
            <a:prstDash val="solid"/>
          </a:ln>
        </p:spPr>
      </p:sp>
      <p:sp>
        <p:nvSpPr>
          <p:cNvPr id="56" name="Shape 54"/>
          <p:cNvSpPr/>
          <p:nvPr/>
        </p:nvSpPr>
        <p:spPr>
          <a:xfrm>
            <a:off x="6345936" y="3337560"/>
            <a:ext cx="402336" cy="402336"/>
          </a:xfrm>
          <a:prstGeom prst="ellipse">
            <a:avLst/>
          </a:prstGeom>
          <a:solidFill>
            <a:srgbClr val="0F766E"/>
          </a:solidFill>
          <a:ln w="12700">
            <a:solidFill>
              <a:srgbClr val="0F766E"/>
            </a:solidFill>
            <a:prstDash val="solid"/>
          </a:ln>
        </p:spPr>
      </p:sp>
      <p:sp>
        <p:nvSpPr>
          <p:cNvPr id="57" name="Text 55"/>
          <p:cNvSpPr txBox="1"/>
          <p:nvPr/>
        </p:nvSpPr>
        <p:spPr>
          <a:xfrm>
            <a:off x="634593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txBox="1"/>
          <p:nvPr/>
        </p:nvSpPr>
        <p:spPr>
          <a:xfrm>
            <a:off x="685800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Six baseline controllers</a:t>
            </a:r>
            <a:endParaRPr lang="en-US" sz="1200" dirty="0"/>
          </a:p>
        </p:txBody>
      </p:sp>
      <p:sp>
        <p:nvSpPr>
          <p:cNvPr id="59" name="Text 57"/>
          <p:cNvSpPr txBox="1"/>
          <p:nvPr/>
        </p:nvSpPr>
        <p:spPr>
          <a:xfrm>
            <a:off x="685800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0" name="Shape 58"/>
          <p:cNvSpPr/>
          <p:nvPr/>
        </p:nvSpPr>
        <p:spPr>
          <a:xfrm>
            <a:off x="6217920" y="4114800"/>
            <a:ext cx="2606040" cy="868680"/>
          </a:xfrm>
          <a:prstGeom prst="roundRect">
            <a:avLst>
              <a:gd name="adj" fmla="val 8421"/>
            </a:avLst>
          </a:prstGeom>
          <a:solidFill>
            <a:srgbClr val="F3F5F8"/>
          </a:solidFill>
          <a:ln w="12700">
            <a:solidFill>
              <a:srgbClr val="F3F5F8"/>
            </a:solidFill>
            <a:prstDash val="solid"/>
          </a:ln>
        </p:spPr>
      </p:sp>
      <p:sp>
        <p:nvSpPr>
          <p:cNvPr id="61" name="Shape 59"/>
          <p:cNvSpPr/>
          <p:nvPr/>
        </p:nvSpPr>
        <p:spPr>
          <a:xfrm>
            <a:off x="6345936" y="4343400"/>
            <a:ext cx="402336" cy="402336"/>
          </a:xfrm>
          <a:prstGeom prst="ellipse">
            <a:avLst/>
          </a:prstGeom>
          <a:solidFill>
            <a:srgbClr val="0F766E"/>
          </a:solidFill>
          <a:ln w="12700">
            <a:solidFill>
              <a:srgbClr val="0F766E"/>
            </a:solidFill>
            <a:prstDash val="solid"/>
          </a:ln>
        </p:spPr>
      </p:sp>
      <p:sp>
        <p:nvSpPr>
          <p:cNvPr id="62" name="Text 60"/>
          <p:cNvSpPr txBox="1"/>
          <p:nvPr/>
        </p:nvSpPr>
        <p:spPr>
          <a:xfrm>
            <a:off x="634593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3" name="Text 61"/>
          <p:cNvSpPr txBox="1"/>
          <p:nvPr/>
        </p:nvSpPr>
        <p:spPr>
          <a:xfrm>
            <a:off x="685800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Evaluation harness, 27 configs</a:t>
            </a:r>
            <a:endParaRPr lang="en-US" sz="1200" dirty="0"/>
          </a:p>
        </p:txBody>
      </p:sp>
      <p:sp>
        <p:nvSpPr>
          <p:cNvPr id="64" name="Text 62"/>
          <p:cNvSpPr txBox="1"/>
          <p:nvPr/>
        </p:nvSpPr>
        <p:spPr>
          <a:xfrm>
            <a:off x="685800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5" name="Text 63"/>
          <p:cNvSpPr txBox="1"/>
          <p:nvPr/>
        </p:nvSpPr>
        <p:spPr>
          <a:xfrm>
            <a:off x="9052560" y="1508760"/>
            <a:ext cx="2606040" cy="365760"/>
          </a:xfrm>
          <a:prstGeom prst="rect">
            <a:avLst/>
          </a:prstGeom>
          <a:noFill/>
          <a:ln/>
        </p:spPr>
        <p:txBody>
          <a:bodyPr wrap="square" lIns="0" tIns="0" rIns="0" bIns="0" rtlCol="0" anchor="t"/>
          <a:lstStyle/>
          <a:p>
            <a:pPr indent="0" marL="0">
              <a:buNone/>
            </a:pPr>
            <a:r>
              <a:rPr lang="en-US" sz="1600" b="1" dirty="0">
                <a:solidFill>
                  <a:srgbClr val="B42318"/>
                </a:solidFill>
                <a:latin typeface="Cambria" pitchFamily="34" charset="0"/>
                <a:ea typeface="Cambria" pitchFamily="34" charset="-122"/>
                <a:cs typeface="Cambria" pitchFamily="34" charset="-120"/>
              </a:rPr>
              <a:t>Deployment</a:t>
            </a:r>
            <a:endParaRPr lang="en-US" sz="1600" dirty="0"/>
          </a:p>
        </p:txBody>
      </p:sp>
      <p:sp>
        <p:nvSpPr>
          <p:cNvPr id="66" name="Shape 64"/>
          <p:cNvSpPr/>
          <p:nvPr/>
        </p:nvSpPr>
        <p:spPr>
          <a:xfrm>
            <a:off x="9052560" y="1920240"/>
            <a:ext cx="2606040" cy="0"/>
          </a:xfrm>
          <a:prstGeom prst="line">
            <a:avLst/>
          </a:prstGeom>
          <a:noFill/>
          <a:ln w="19050">
            <a:solidFill>
              <a:srgbClr val="B42318"/>
            </a:solidFill>
            <a:prstDash val="solid"/>
          </a:ln>
        </p:spPr>
      </p:sp>
      <p:sp>
        <p:nvSpPr>
          <p:cNvPr id="67" name="Shape 65"/>
          <p:cNvSpPr/>
          <p:nvPr/>
        </p:nvSpPr>
        <p:spPr>
          <a:xfrm>
            <a:off x="9052560" y="2103120"/>
            <a:ext cx="2606040" cy="868680"/>
          </a:xfrm>
          <a:prstGeom prst="roundRect">
            <a:avLst>
              <a:gd name="adj" fmla="val 8421"/>
            </a:avLst>
          </a:prstGeom>
          <a:solidFill>
            <a:srgbClr val="F3F5F8"/>
          </a:solidFill>
          <a:ln w="12700">
            <a:solidFill>
              <a:srgbClr val="F3F5F8"/>
            </a:solidFill>
            <a:prstDash val="solid"/>
          </a:ln>
        </p:spPr>
      </p:sp>
      <p:sp>
        <p:nvSpPr>
          <p:cNvPr id="68" name="Shape 66"/>
          <p:cNvSpPr/>
          <p:nvPr/>
        </p:nvSpPr>
        <p:spPr>
          <a:xfrm>
            <a:off x="9180576" y="2331720"/>
            <a:ext cx="402336" cy="402336"/>
          </a:xfrm>
          <a:prstGeom prst="ellipse">
            <a:avLst/>
          </a:prstGeom>
          <a:solidFill>
            <a:srgbClr val="B42318"/>
          </a:solidFill>
          <a:ln w="12700">
            <a:solidFill>
              <a:srgbClr val="B42318"/>
            </a:solidFill>
            <a:prstDash val="solid"/>
          </a:ln>
        </p:spPr>
      </p:sp>
      <p:sp>
        <p:nvSpPr>
          <p:cNvPr id="69" name="Text 67"/>
          <p:cNvSpPr txBox="1"/>
          <p:nvPr/>
        </p:nvSpPr>
        <p:spPr>
          <a:xfrm>
            <a:off x="918057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0" name="Text 68"/>
          <p:cNvSpPr txBox="1"/>
          <p:nvPr/>
        </p:nvSpPr>
        <p:spPr>
          <a:xfrm>
            <a:off x="969264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Kubernetes CRD + operator</a:t>
            </a:r>
            <a:endParaRPr lang="en-US" sz="1200" dirty="0"/>
          </a:p>
        </p:txBody>
      </p:sp>
      <p:sp>
        <p:nvSpPr>
          <p:cNvPr id="71" name="Text 69"/>
          <p:cNvSpPr txBox="1"/>
          <p:nvPr/>
        </p:nvSpPr>
        <p:spPr>
          <a:xfrm>
            <a:off x="969264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k8s/manager.py</a:t>
            </a:r>
            <a:endParaRPr lang="en-US" sz="800" dirty="0"/>
          </a:p>
        </p:txBody>
      </p:sp>
      <p:sp>
        <p:nvSpPr>
          <p:cNvPr id="72" name="Text 7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73" name="Text 7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COMPLETION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Module completion status</a:t>
            </a:r>
            <a:endParaRPr lang="en-US" sz="3000" dirty="0"/>
          </a:p>
        </p:txBody>
      </p:sp>
      <p:sp>
        <p:nvSpPr>
          <p:cNvPr id="4" name="Shape 2"/>
          <p:cNvSpPr/>
          <p:nvPr/>
        </p:nvSpPr>
        <p:spPr>
          <a:xfrm>
            <a:off x="548640" y="1508760"/>
            <a:ext cx="2587752" cy="1234440"/>
          </a:xfrm>
          <a:prstGeom prst="roundRect">
            <a:avLst>
              <a:gd name="adj" fmla="val 5926"/>
            </a:avLst>
          </a:prstGeom>
          <a:solidFill>
            <a:srgbClr val="F3F5F8"/>
          </a:solidFill>
          <a:ln w="12700">
            <a:solidFill>
              <a:srgbClr val="F3F5F8"/>
            </a:solidFill>
            <a:prstDash val="solid"/>
          </a:ln>
        </p:spPr>
      </p:sp>
      <p:sp>
        <p:nvSpPr>
          <p:cNvPr id="5" name="Text 3"/>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12 / 12</a:t>
            </a:r>
            <a:endParaRPr lang="en-US" sz="3200" dirty="0"/>
          </a:p>
        </p:txBody>
      </p:sp>
      <p:sp>
        <p:nvSpPr>
          <p:cNvPr id="6" name="Text 4"/>
          <p:cNvSpPr txBox="1"/>
          <p:nvPr/>
        </p:nvSpPr>
        <p:spPr>
          <a:xfrm>
            <a:off x="77724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modules implemented and unit-tested</a:t>
            </a:r>
            <a:endParaRPr lang="en-US" sz="1200" dirty="0"/>
          </a:p>
        </p:txBody>
      </p:sp>
      <p:sp>
        <p:nvSpPr>
          <p:cNvPr id="7" name="Shape 5"/>
          <p:cNvSpPr/>
          <p:nvPr/>
        </p:nvSpPr>
        <p:spPr>
          <a:xfrm>
            <a:off x="3383280" y="1508760"/>
            <a:ext cx="2587752" cy="1234440"/>
          </a:xfrm>
          <a:prstGeom prst="roundRect">
            <a:avLst>
              <a:gd name="adj" fmla="val 5926"/>
            </a:avLst>
          </a:prstGeom>
          <a:solidFill>
            <a:srgbClr val="F3F5F8"/>
          </a:solidFill>
          <a:ln w="12700">
            <a:solidFill>
              <a:srgbClr val="F3F5F8"/>
            </a:solidFill>
            <a:prstDash val="solid"/>
          </a:ln>
        </p:spPr>
      </p:sp>
      <p:sp>
        <p:nvSpPr>
          <p:cNvPr id="8" name="Text 6"/>
          <p:cNvSpPr txBox="1"/>
          <p:nvPr/>
        </p:nvSpPr>
        <p:spPr>
          <a:xfrm>
            <a:off x="361188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33 / 33</a:t>
            </a:r>
            <a:endParaRPr lang="en-US" sz="3200" dirty="0"/>
          </a:p>
        </p:txBody>
      </p:sp>
      <p:sp>
        <p:nvSpPr>
          <p:cNvPr id="9" name="Text 7"/>
          <p:cNvSpPr txBox="1"/>
          <p:nvPr/>
        </p:nvSpPr>
        <p:spPr>
          <a:xfrm>
            <a:off x="361188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6217920" y="1508760"/>
            <a:ext cx="2587752" cy="1234440"/>
          </a:xfrm>
          <a:prstGeom prst="roundRect">
            <a:avLst>
              <a:gd name="adj" fmla="val 5926"/>
            </a:avLst>
          </a:prstGeom>
          <a:solidFill>
            <a:srgbClr val="F3F5F8"/>
          </a:solidFill>
          <a:ln w="12700">
            <a:solidFill>
              <a:srgbClr val="F3F5F8"/>
            </a:solidFill>
            <a:prstDash val="solid"/>
          </a:ln>
        </p:spPr>
      </p:sp>
      <p:sp>
        <p:nvSpPr>
          <p:cNvPr id="11" name="Text 9"/>
          <p:cNvSpPr txBox="1"/>
          <p:nvPr/>
        </p:nvSpPr>
        <p:spPr>
          <a:xfrm>
            <a:off x="644652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4,410</a:t>
            </a:r>
            <a:endParaRPr lang="en-US" sz="3200" dirty="0"/>
          </a:p>
        </p:txBody>
      </p:sp>
      <p:sp>
        <p:nvSpPr>
          <p:cNvPr id="12" name="Text 10"/>
          <p:cNvSpPr txBox="1"/>
          <p:nvPr/>
        </p:nvSpPr>
        <p:spPr>
          <a:xfrm>
            <a:off x="644652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simulation runs on disk (10 seeds)</a:t>
            </a:r>
            <a:endParaRPr lang="en-US" sz="1200" dirty="0"/>
          </a:p>
        </p:txBody>
      </p:sp>
      <p:sp>
        <p:nvSpPr>
          <p:cNvPr id="13" name="Shape 11"/>
          <p:cNvSpPr/>
          <p:nvPr/>
        </p:nvSpPr>
        <p:spPr>
          <a:xfrm>
            <a:off x="9052560" y="1508760"/>
            <a:ext cx="2587752" cy="1234440"/>
          </a:xfrm>
          <a:prstGeom prst="roundRect">
            <a:avLst>
              <a:gd name="adj" fmla="val 5926"/>
            </a:avLst>
          </a:prstGeom>
          <a:solidFill>
            <a:srgbClr val="F3F5F8"/>
          </a:solidFill>
          <a:ln w="12700">
            <a:solidFill>
              <a:srgbClr val="F3F5F8"/>
            </a:solidFill>
            <a:prstDash val="solid"/>
          </a:ln>
        </p:spPr>
      </p:sp>
      <p:sp>
        <p:nvSpPr>
          <p:cNvPr id="14" name="Text 12"/>
          <p:cNvSpPr txBox="1"/>
          <p:nvPr/>
        </p:nvSpPr>
        <p:spPr>
          <a:xfrm>
            <a:off x="928116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29</a:t>
            </a:r>
            <a:endParaRPr lang="en-US" sz="3200" dirty="0"/>
          </a:p>
        </p:txBody>
      </p:sp>
      <p:sp>
        <p:nvSpPr>
          <p:cNvPr id="15" name="Text 13"/>
          <p:cNvSpPr txBox="1"/>
          <p:nvPr/>
        </p:nvSpPr>
        <p:spPr>
          <a:xfrm>
            <a:off x="928116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controller configurations compared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1554480"/>
                <a:gridCol w="2834640"/>
                <a:gridCol w="5330952"/>
                <a:gridCol w="1371600"/>
              </a:tblGrid>
              <a:tr h="438912">
                <a:tc>
                  <a:txBody>
                    <a:bodyPr/>
                    <a:lstStyle/>
                    <a:p>
                      <a:pPr indent="0" marL="0">
                        <a:buNone/>
                      </a:pPr>
                      <a:r>
                        <a:rPr lang="en-US" sz="1200" b="1" dirty="0">
                          <a:solidFill>
                            <a:srgbClr val="FFFFFF"/>
                          </a:solidFill>
                        </a:rPr>
                        <a:t>Module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Component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Evidence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Status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438912">
                <a:tc>
                  <a:txBody>
                    <a:bodyPr/>
                    <a:lstStyle/>
                    <a:p>
                      <a:pPr indent="0" marL="0">
                        <a:buNone/>
                      </a:pPr>
                      <a:r>
                        <a:rPr lang="en-US" sz="1200" b="1" dirty="0">
                          <a:solidFill>
                            <a:srgbClr val="13223A"/>
                          </a:solidFill>
                        </a:rPr>
                        <a:t>Modules 1–4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Data &amp; prediction pipeline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Trained offline; strict train / calibrate / test split at 10–50–70–100 min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5–6</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LQR solver &amp; delay augmentation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Riccati solution positive-definite; delay buffer corrected to one slot for a 20 s boot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7</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Lyapunov safety filter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Runs correctly; no measurable effect on outcomes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8</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Cross-coupling penalty</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Penalises only opposing moves; cuts scaling actions 36 → 34 for +0.1 pp SLO</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9–11</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Simulator &amp; evaluation harness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6 baselines incl. KOSMOS; 3 baseline bugs fixed; cost/SLO frontier sweep</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12</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Kubernetes operator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Real PromQL client, in-place resize via pods/resize, status, dry-run; not yet run on a live cluster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Code 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C7811A"/>
                    </a:solidFill>
                  </a:tcPr>
                </a:tc>
              </a:tr>
            </a:tbl>
          </a:graphicData>
        </a:graphic>
      </p:graphicFrame>
      <p:sp>
        <p:nvSpPr>
          <p:cNvPr id="17"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8"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Cost and quality must be read together</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8-1.png">    </p:cNvPr>
          <p:cNvPicPr>
            <a:picLocks noChangeAspect="1"/>
          </p:cNvPicPr>
          <p:nvPr/>
        </p:nvPicPr>
        <p:blipFill>
          <a:blip r:embed="rId1"/>
          <a:stretch>
            <a:fillRect/>
          </a:stretch>
        </p:blipFill>
        <p:spPr>
          <a:xfrm>
            <a:off x="640080" y="1801850"/>
            <a:ext cx="7498080" cy="4077259"/>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6.9 %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violations, 5 real traces (next best: AAPA 8.3 %)</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250</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core-minutes per run (AAPA 234)</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Where costs overlap, CHIMERA, AAPA and VPA sit on the same frontier (within ±1.0 pp). CHIMERA extends it: 3.5 % at 349 and 2.6 % at 434 core-min — no baseline gets below 5.0 % at any setting. KOSMOS is dominated everywhere.</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Where the coordinated controller wins decisively</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9-1.png">    </p:cNvPr>
          <p:cNvPicPr>
            <a:picLocks noChangeAspect="1"/>
          </p:cNvPicPr>
          <p:nvPr/>
        </p:nvPicPr>
        <p:blipFill>
          <a:blip r:embed="rId1"/>
          <a:stretch>
            <a:fillRect/>
          </a:stretch>
        </p:blipFill>
        <p:spPr>
          <a:xfrm>
            <a:off x="640080" y="2087258"/>
            <a:ext cx="7498080" cy="3506443"/>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19×</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AAPA (0.91 s vs 17.8 s)</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23×</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KOSMOS, with 6× fewer scaling actions (40 vs 256)</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tail is where coordination pays: CPU is resized in 0.1 s while pods boot, so requests do not queue for 20 s. The price at the default 70 % target is 7 % more CPU than AAPA.</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Ablation: which modules earn their place</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10-1.png">    </p:cNvPr>
          <p:cNvPicPr>
            <a:picLocks noChangeAspect="1"/>
          </p:cNvPicPr>
          <p:nvPr/>
        </p:nvPicPr>
        <p:blipFill>
          <a:blip r:embed="rId1"/>
          <a:stretch>
            <a:fillRect/>
          </a:stretch>
        </p:blipFill>
        <p:spPr>
          <a:xfrm>
            <a:off x="640080" y="1966979"/>
            <a:ext cx="7498080" cy="3747001"/>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B42318"/>
                </a:solidFill>
                <a:latin typeface="Cambria" pitchFamily="34" charset="0"/>
                <a:ea typeface="Cambria" pitchFamily="34" charset="-122"/>
                <a:cs typeface="Cambria" pitchFamily="34" charset="-120"/>
              </a:rPr>
              <a:t>+15.6 pp</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cost of removing the reactive / OOD fallback</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C7811A"/>
                </a:solidFill>
                <a:latin typeface="Cambria" pitchFamily="34" charset="0"/>
                <a:ea typeface="Cambria" pitchFamily="34" charset="-122"/>
                <a:cs typeface="Cambria" pitchFamily="34" charset="-120"/>
              </a:rPr>
              <a:t>+27 %</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cost of removing delay augmentation (-0.5 pp SLO)</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Uncertainty handling (fallback, conformal margin, CQR) buys most of the SLO; delay augmentation now pays in CPU, because without it the controller re-orders booting pods. The Lyapunov filter, ADWIN and online recalibration show no measurable effect — reported, not hidden.</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Positioning against existing autoscalers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4572000"/>
                <a:gridCol w="3867912"/>
              </a:tblGrid>
              <a:tr h="585216">
                <a:tc>
                  <a:txBody>
                    <a:bodyPr/>
                    <a:lstStyle/>
                    <a:p>
                      <a:pPr indent="0" marL="0">
                        <a:buNone/>
                      </a:pPr>
                      <a:r>
                        <a:rPr lang="en-US" sz="1250" b="1" dirty="0">
                          <a:solidFill>
                            <a:srgbClr val="FFFFFF"/>
                          </a:solidFill>
                        </a:rPr>
                        <a:t>System</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Approach</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How CHIMERA differs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585216">
                <a:tc>
                  <a:txBody>
                    <a:bodyPr/>
                    <a:lstStyle/>
                    <a:p>
                      <a:pPr indent="0" marL="0">
                        <a:buNone/>
                      </a:pPr>
                      <a:r>
                        <a:rPr lang="en-US" sz="1250" b="1" dirty="0">
                          <a:solidFill>
                            <a:srgbClr val="13223A"/>
                          </a:solidFill>
                        </a:rPr>
                        <a:t>Kubernetes HPA / VPA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Industry defaults: HPA adds pods reactively; VPA resizes CPU with a fixed pod count.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levers from one law; run together, HPA + VPA fight.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AAPA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Predictive, pods only; the paper this project builds on.</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Adds the vertical axis and models the 20 s boot delay.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KOSMOS (2021)</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Both scaling directions, but two separate control laws.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One coordinated law — 23× better tail, 13 pp fewer violations, 6× fewer actions.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GKE Multidimensional Pod Autoscaler</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Avoids loop conflict by giving each loop a different metric (CPU vs memory).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Coordinates both loops on the same resource.</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ADAPT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Delay-aware, pods only; solves a fresh optimisation every step.</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Gain K is computed once, up front.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OptScaler, BACC</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Use confidence intervals, pods only; interval feeds a budget.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Interval feeds a Lyapunov stability constraint.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Two related patents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Pick one axis or the other using threshold rules.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axes at once from a control law.</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bl>
          </a:graphicData>
        </a:graphic>
      </p:graphicFrame>
      <p:sp>
        <p:nvSpPr>
          <p:cNvPr id="5" name="Text 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ENGINEERING VERIFICATION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Defects found and fixed during verification</a:t>
            </a:r>
            <a:endParaRPr lang="en-US" sz="3000" dirty="0"/>
          </a:p>
        </p:txBody>
      </p:sp>
      <p:sp>
        <p:nvSpPr>
          <p:cNvPr id="4" name="Text 2"/>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Three of these were discovered by auditing our own results rather than by a failing test. Each one changed the published numbers.</a:t>
            </a:r>
            <a:endParaRPr lang="en-US" sz="1400" dirty="0"/>
          </a:p>
        </p:txBody>
      </p:sp>
      <p:sp>
        <p:nvSpPr>
          <p:cNvPr id="5" name="Shape 3"/>
          <p:cNvSpPr/>
          <p:nvPr/>
        </p:nvSpPr>
        <p:spPr>
          <a:xfrm>
            <a:off x="548640" y="2057400"/>
            <a:ext cx="5422392" cy="1920240"/>
          </a:xfrm>
          <a:prstGeom prst="roundRect">
            <a:avLst>
              <a:gd name="adj" fmla="val 3810"/>
            </a:avLst>
          </a:prstGeom>
          <a:solidFill>
            <a:srgbClr val="F3F5F8"/>
          </a:solidFill>
          <a:ln w="12700">
            <a:solidFill>
              <a:srgbClr val="F3F5F8"/>
            </a:solidFill>
            <a:prstDash val="solid"/>
          </a:ln>
        </p:spPr>
      </p:sp>
      <p:sp>
        <p:nvSpPr>
          <p:cNvPr id="6" name="Shape 4"/>
          <p:cNvSpPr/>
          <p:nvPr/>
        </p:nvSpPr>
        <p:spPr>
          <a:xfrm>
            <a:off x="777240" y="2286000"/>
            <a:ext cx="411480" cy="411480"/>
          </a:xfrm>
          <a:prstGeom prst="ellipse">
            <a:avLst/>
          </a:prstGeom>
          <a:solidFill>
            <a:srgbClr val="B42318"/>
          </a:solidFill>
          <a:ln w="12700">
            <a:solidFill>
              <a:srgbClr val="B42318"/>
            </a:solidFill>
            <a:prstDash val="solid"/>
          </a:ln>
        </p:spPr>
      </p:sp>
      <p:sp>
        <p:nvSpPr>
          <p:cNvPr id="7" name="Text 5"/>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7160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Pod warm-up delay</a:t>
            </a:r>
            <a:endParaRPr lang="en-US" sz="1600" dirty="0"/>
          </a:p>
        </p:txBody>
      </p:sp>
      <p:sp>
        <p:nvSpPr>
          <p:cNvPr id="9" name="Text 7"/>
          <p:cNvSpPr txBox="1"/>
          <p:nvPr/>
        </p:nvSpPr>
        <p:spPr>
          <a:xfrm>
            <a:off x="137160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New replicas became ready in 0.1 s instead of the real 20 s, giving every horizontal baseline near-instant capacity.</a:t>
            </a:r>
            <a:endParaRPr lang="en-US" sz="1200" dirty="0"/>
          </a:p>
        </p:txBody>
      </p:sp>
      <p:sp>
        <p:nvSpPr>
          <p:cNvPr id="10" name="Text 8"/>
          <p:cNvSpPr txBox="1"/>
          <p:nvPr/>
        </p:nvSpPr>
        <p:spPr>
          <a:xfrm>
            <a:off x="137160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Pods now constructed with an explicit 20 s startup_time.</a:t>
            </a:r>
            <a:endParaRPr lang="en-US" sz="1200" dirty="0"/>
          </a:p>
        </p:txBody>
      </p:sp>
      <p:sp>
        <p:nvSpPr>
          <p:cNvPr id="11" name="Shape 9"/>
          <p:cNvSpPr/>
          <p:nvPr/>
        </p:nvSpPr>
        <p:spPr>
          <a:xfrm>
            <a:off x="6217920" y="2057400"/>
            <a:ext cx="5422392" cy="1920240"/>
          </a:xfrm>
          <a:prstGeom prst="roundRect">
            <a:avLst>
              <a:gd name="adj" fmla="val 3810"/>
            </a:avLst>
          </a:prstGeom>
          <a:solidFill>
            <a:srgbClr val="F3F5F8"/>
          </a:solidFill>
          <a:ln w="12700">
            <a:solidFill>
              <a:srgbClr val="F3F5F8"/>
            </a:solidFill>
            <a:prstDash val="solid"/>
          </a:ln>
        </p:spPr>
      </p:sp>
      <p:sp>
        <p:nvSpPr>
          <p:cNvPr id="12" name="Shape 10"/>
          <p:cNvSpPr/>
          <p:nvPr/>
        </p:nvSpPr>
        <p:spPr>
          <a:xfrm>
            <a:off x="6446520" y="2286000"/>
            <a:ext cx="411480" cy="411480"/>
          </a:xfrm>
          <a:prstGeom prst="ellipse">
            <a:avLst/>
          </a:prstGeom>
          <a:solidFill>
            <a:srgbClr val="B42318"/>
          </a:solidFill>
          <a:ln w="12700">
            <a:solidFill>
              <a:srgbClr val="B42318"/>
            </a:solidFill>
            <a:prstDash val="solid"/>
          </a:ln>
        </p:spPr>
      </p:sp>
      <p:sp>
        <p:nvSpPr>
          <p:cNvPr id="13" name="Text 11"/>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04088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Baseline headroom confound</a:t>
            </a:r>
            <a:endParaRPr lang="en-US" sz="1600" dirty="0"/>
          </a:p>
        </p:txBody>
      </p:sp>
      <p:sp>
        <p:nvSpPr>
          <p:cNvPr id="15" name="Text 13"/>
          <p:cNvSpPr txBox="1"/>
          <p:nvPr/>
        </p:nvSpPr>
        <p:spPr>
          <a:xfrm>
            <a:off x="704088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Horizontal-only baselines started at 1.5 cores/pod while CHIMERA started at 0.5 — a 3× advantage.</a:t>
            </a:r>
            <a:endParaRPr lang="en-US" sz="1200" dirty="0"/>
          </a:p>
        </p:txBody>
      </p:sp>
      <p:sp>
        <p:nvSpPr>
          <p:cNvPr id="16" name="Text 14"/>
          <p:cNvSpPr txBox="1"/>
          <p:nvPr/>
        </p:nvSpPr>
        <p:spPr>
          <a:xfrm>
            <a:off x="704088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All controllers initialise from the same v_min; 1.5-core variants kept as a separate study.</a:t>
            </a:r>
            <a:endParaRPr lang="en-US" sz="1200" dirty="0"/>
          </a:p>
        </p:txBody>
      </p:sp>
      <p:sp>
        <p:nvSpPr>
          <p:cNvPr id="17" name="Shape 15"/>
          <p:cNvSpPr/>
          <p:nvPr/>
        </p:nvSpPr>
        <p:spPr>
          <a:xfrm>
            <a:off x="548640" y="4160520"/>
            <a:ext cx="5422392" cy="1920240"/>
          </a:xfrm>
          <a:prstGeom prst="roundRect">
            <a:avLst>
              <a:gd name="adj" fmla="val 3810"/>
            </a:avLst>
          </a:prstGeom>
          <a:solidFill>
            <a:srgbClr val="F3F5F8"/>
          </a:solidFill>
          <a:ln w="12700">
            <a:solidFill>
              <a:srgbClr val="F3F5F8"/>
            </a:solidFill>
            <a:prstDash val="solid"/>
          </a:ln>
        </p:spPr>
      </p:sp>
      <p:sp>
        <p:nvSpPr>
          <p:cNvPr id="18" name="Shape 16"/>
          <p:cNvSpPr/>
          <p:nvPr/>
        </p:nvSpPr>
        <p:spPr>
          <a:xfrm>
            <a:off x="777240" y="4389120"/>
            <a:ext cx="411480" cy="411480"/>
          </a:xfrm>
          <a:prstGeom prst="ellipse">
            <a:avLst/>
          </a:prstGeom>
          <a:solidFill>
            <a:srgbClr val="B42318"/>
          </a:solidFill>
          <a:ln w="12700">
            <a:solidFill>
              <a:srgbClr val="B42318"/>
            </a:solidFill>
            <a:prstDash val="solid"/>
          </a:ln>
        </p:spPr>
      </p:sp>
      <p:sp>
        <p:nvSpPr>
          <p:cNvPr id="19" name="Text 17"/>
          <p:cNvSpPr txBox="1"/>
          <p:nvPr/>
        </p:nvSpPr>
        <p:spPr>
          <a:xfrm>
            <a:off x="77724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37160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CQR calibration leakage</a:t>
            </a:r>
            <a:endParaRPr lang="en-US" sz="1600" dirty="0"/>
          </a:p>
        </p:txBody>
      </p:sp>
      <p:sp>
        <p:nvSpPr>
          <p:cNvPr id="21" name="Text 19"/>
          <p:cNvSpPr txBox="1"/>
          <p:nvPr/>
        </p:nvSpPr>
        <p:spPr>
          <a:xfrm>
            <a:off x="137160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The conformal calibration window overlapped the test window, inflating coverage above 98 %.</a:t>
            </a:r>
            <a:endParaRPr lang="en-US" sz="1200" dirty="0"/>
          </a:p>
        </p:txBody>
      </p:sp>
      <p:sp>
        <p:nvSpPr>
          <p:cNvPr id="22" name="Text 20"/>
          <p:cNvSpPr txBox="1"/>
          <p:nvPr/>
        </p:nvSpPr>
        <p:spPr>
          <a:xfrm>
            <a:off x="137160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Strict disjoint partitions: train 10–50, calibrate 50–70, test 70–100 min.</a:t>
            </a:r>
            <a:endParaRPr lang="en-US" sz="1200" dirty="0"/>
          </a:p>
        </p:txBody>
      </p:sp>
      <p:sp>
        <p:nvSpPr>
          <p:cNvPr id="23" name="Shape 21"/>
          <p:cNvSpPr/>
          <p:nvPr/>
        </p:nvSpPr>
        <p:spPr>
          <a:xfrm>
            <a:off x="6217920" y="4160520"/>
            <a:ext cx="5422392" cy="1920240"/>
          </a:xfrm>
          <a:prstGeom prst="roundRect">
            <a:avLst>
              <a:gd name="adj" fmla="val 3810"/>
            </a:avLst>
          </a:prstGeom>
          <a:solidFill>
            <a:srgbClr val="F3F5F8"/>
          </a:solidFill>
          <a:ln w="12700">
            <a:solidFill>
              <a:srgbClr val="F3F5F8"/>
            </a:solidFill>
            <a:prstDash val="solid"/>
          </a:ln>
        </p:spPr>
      </p:sp>
      <p:sp>
        <p:nvSpPr>
          <p:cNvPr id="24" name="Shape 22"/>
          <p:cNvSpPr/>
          <p:nvPr/>
        </p:nvSpPr>
        <p:spPr>
          <a:xfrm>
            <a:off x="6446520" y="4389120"/>
            <a:ext cx="411480" cy="411480"/>
          </a:xfrm>
          <a:prstGeom prst="ellipse">
            <a:avLst/>
          </a:prstGeom>
          <a:solidFill>
            <a:srgbClr val="B42318"/>
          </a:solidFill>
          <a:ln w="12700">
            <a:solidFill>
              <a:srgbClr val="B42318"/>
            </a:solidFill>
            <a:prstDash val="solid"/>
          </a:ln>
        </p:spPr>
      </p:sp>
      <p:sp>
        <p:nvSpPr>
          <p:cNvPr id="25" name="Text 23"/>
          <p:cNvSpPr txBox="1"/>
          <p:nvPr/>
        </p:nvSpPr>
        <p:spPr>
          <a:xfrm>
            <a:off x="644652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04088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DARE solver crash</a:t>
            </a:r>
            <a:endParaRPr lang="en-US" sz="1600" dirty="0"/>
          </a:p>
        </p:txBody>
      </p:sp>
      <p:sp>
        <p:nvSpPr>
          <p:cNvPr id="27" name="Text 25"/>
          <p:cNvSpPr txBox="1"/>
          <p:nvPr/>
        </p:nvSpPr>
        <p:spPr>
          <a:xfrm>
            <a:off x="704088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scipy's Riccati solver threw on extreme parameter sweeps and killed the whole run.</a:t>
            </a:r>
            <a:endParaRPr lang="en-US" sz="1200" dirty="0"/>
          </a:p>
        </p:txBody>
      </p:sp>
      <p:sp>
        <p:nvSpPr>
          <p:cNvPr id="28" name="Text 26"/>
          <p:cNvSpPr txBox="1"/>
          <p:nvPr/>
        </p:nvSpPr>
        <p:spPr>
          <a:xfrm>
            <a:off x="704088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Falls back to analytical gains; 720 consecutive runs with no crash.</a:t>
            </a:r>
            <a:endParaRPr lang="en-US" sz="1200" dirty="0"/>
          </a:p>
        </p:txBody>
      </p:sp>
      <p:sp>
        <p:nvSpPr>
          <p:cNvPr id="29" name="Text 27"/>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0" name="Text 2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KUBERNETES INTEGRATION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From simulator to cluster</a:t>
            </a:r>
            <a:endParaRPr lang="en-US" sz="3000" dirty="0"/>
          </a:p>
        </p:txBody>
      </p:sp>
      <p:sp>
        <p:nvSpPr>
          <p:cNvPr id="4" name="Shape 2"/>
          <p:cNvSpPr/>
          <p:nvPr/>
        </p:nvSpPr>
        <p:spPr>
          <a:xfrm>
            <a:off x="548640" y="1554480"/>
            <a:ext cx="3502152" cy="2103120"/>
          </a:xfrm>
          <a:prstGeom prst="roundRect">
            <a:avLst>
              <a:gd name="adj" fmla="val 3478"/>
            </a:avLst>
          </a:prstGeom>
          <a:solidFill>
            <a:srgbClr val="F3F5F8"/>
          </a:solidFill>
          <a:ln w="12700">
            <a:solidFill>
              <a:srgbClr val="F3F5F8"/>
            </a:solidFill>
            <a:prstDash val="solid"/>
          </a:ln>
        </p:spPr>
      </p:sp>
      <p:sp>
        <p:nvSpPr>
          <p:cNvPr id="5" name="Shape 3"/>
          <p:cNvSpPr/>
          <p:nvPr/>
        </p:nvSpPr>
        <p:spPr>
          <a:xfrm>
            <a:off x="777240" y="1783080"/>
            <a:ext cx="1188720" cy="27432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7" name="Text 5"/>
          <p:cNvSpPr txBox="1"/>
          <p:nvPr/>
        </p:nvSpPr>
        <p:spPr>
          <a:xfrm>
            <a:off x="77724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CustomResourceDefinition</a:t>
            </a:r>
            <a:endParaRPr lang="en-US" sz="1550" dirty="0"/>
          </a:p>
        </p:txBody>
      </p:sp>
      <p:sp>
        <p:nvSpPr>
          <p:cNvPr id="8" name="Text 6"/>
          <p:cNvSpPr txBox="1"/>
          <p:nvPr/>
        </p:nvSpPr>
        <p:spPr>
          <a:xfrm>
            <a:off x="77724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chimeraautoscalers.autoscaling.k8s.io declares bounds, target utilisation, pod start-up time and resize mode as a first-class cluster object, with a status subresource.</a:t>
            </a:r>
            <a:endParaRPr lang="en-US" sz="1200" dirty="0"/>
          </a:p>
        </p:txBody>
      </p:sp>
      <p:sp>
        <p:nvSpPr>
          <p:cNvPr id="9" name="Shape 7"/>
          <p:cNvSpPr/>
          <p:nvPr/>
        </p:nvSpPr>
        <p:spPr>
          <a:xfrm>
            <a:off x="4297680" y="1554480"/>
            <a:ext cx="3502152" cy="2103120"/>
          </a:xfrm>
          <a:prstGeom prst="roundRect">
            <a:avLst>
              <a:gd name="adj" fmla="val 3478"/>
            </a:avLst>
          </a:prstGeom>
          <a:solidFill>
            <a:srgbClr val="F3F5F8"/>
          </a:solidFill>
          <a:ln w="12700">
            <a:solidFill>
              <a:srgbClr val="F3F5F8"/>
            </a:solidFill>
            <a:prstDash val="solid"/>
          </a:ln>
        </p:spPr>
      </p:sp>
      <p:sp>
        <p:nvSpPr>
          <p:cNvPr id="10" name="Shape 8"/>
          <p:cNvSpPr/>
          <p:nvPr/>
        </p:nvSpPr>
        <p:spPr>
          <a:xfrm>
            <a:off x="4526280" y="1783080"/>
            <a:ext cx="1188720" cy="274320"/>
          </a:xfrm>
          <a:prstGeom prst="roundRect">
            <a:avLst>
              <a:gd name="adj" fmla="val 50000"/>
            </a:avLst>
          </a:prstGeom>
          <a:solidFill>
            <a:srgbClr val="0F766E"/>
          </a:solidFill>
          <a:ln w="12700">
            <a:solidFill>
              <a:srgbClr val="0F766E"/>
            </a:solidFill>
            <a:prstDash val="solid"/>
          </a:ln>
        </p:spPr>
      </p:sp>
      <p:sp>
        <p:nvSpPr>
          <p:cNvPr id="11" name="Text 9"/>
          <p:cNvSpPr txBox="1"/>
          <p:nvPr/>
        </p:nvSpPr>
        <p:spPr>
          <a:xfrm>
            <a:off x="452628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2" name="Text 10"/>
          <p:cNvSpPr txBox="1"/>
          <p:nvPr/>
        </p:nvSpPr>
        <p:spPr>
          <a:xfrm>
            <a:off x="452628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RBAC + controller manifest</a:t>
            </a:r>
            <a:endParaRPr lang="en-US" sz="1550" dirty="0"/>
          </a:p>
        </p:txBody>
      </p:sp>
      <p:sp>
        <p:nvSpPr>
          <p:cNvPr id="13" name="Text 11"/>
          <p:cNvSpPr txBox="1"/>
          <p:nvPr/>
        </p:nvSpPr>
        <p:spPr>
          <a:xfrm>
            <a:off x="452628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Patch rights on deployments, deployments/scale and pods/resize.</a:t>
            </a:r>
            <a:endParaRPr lang="en-US" sz="1200" dirty="0"/>
          </a:p>
        </p:txBody>
      </p:sp>
      <p:sp>
        <p:nvSpPr>
          <p:cNvPr id="14" name="Shape 12"/>
          <p:cNvSpPr/>
          <p:nvPr/>
        </p:nvSpPr>
        <p:spPr>
          <a:xfrm>
            <a:off x="8046720" y="1554480"/>
            <a:ext cx="3502152" cy="2103120"/>
          </a:xfrm>
          <a:prstGeom prst="roundRect">
            <a:avLst>
              <a:gd name="adj" fmla="val 3478"/>
            </a:avLst>
          </a:prstGeom>
          <a:solidFill>
            <a:srgbClr val="F3F5F8"/>
          </a:solidFill>
          <a:ln w="12700">
            <a:solidFill>
              <a:srgbClr val="F3F5F8"/>
            </a:solidFill>
            <a:prstDash val="solid"/>
          </a:ln>
        </p:spPr>
      </p:sp>
      <p:sp>
        <p:nvSpPr>
          <p:cNvPr id="15" name="Shape 13"/>
          <p:cNvSpPr/>
          <p:nvPr/>
        </p:nvSpPr>
        <p:spPr>
          <a:xfrm>
            <a:off x="8275320" y="1783080"/>
            <a:ext cx="1188720" cy="274320"/>
          </a:xfrm>
          <a:prstGeom prst="roundRect">
            <a:avLst>
              <a:gd name="adj" fmla="val 50000"/>
            </a:avLst>
          </a:prstGeom>
          <a:solidFill>
            <a:srgbClr val="0F766E"/>
          </a:solidFill>
          <a:ln w="12700">
            <a:solidFill>
              <a:srgbClr val="0F766E"/>
            </a:solidFill>
            <a:prstDash val="solid"/>
          </a:ln>
        </p:spPr>
      </p:sp>
      <p:sp>
        <p:nvSpPr>
          <p:cNvPr id="16" name="Text 14"/>
          <p:cNvSpPr txBox="1"/>
          <p:nvPr/>
        </p:nvSpPr>
        <p:spPr>
          <a:xfrm>
            <a:off x="827532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7" name="Text 15"/>
          <p:cNvSpPr txBox="1"/>
          <p:nvPr/>
        </p:nvSpPr>
        <p:spPr>
          <a:xfrm>
            <a:off x="827532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Container image</a:t>
            </a:r>
            <a:endParaRPr lang="en-US" sz="1550" dirty="0"/>
          </a:p>
        </p:txBody>
      </p:sp>
      <p:sp>
        <p:nvSpPr>
          <p:cNvPr id="18" name="Text 16"/>
          <p:cNvSpPr txBox="1"/>
          <p:nvPr/>
        </p:nvSpPr>
        <p:spPr>
          <a:xfrm>
            <a:off x="827532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Slim image: the operator and control core only (numpy, scipy, kubernetes client).</a:t>
            </a:r>
            <a:endParaRPr lang="en-US" sz="1200" dirty="0"/>
          </a:p>
        </p:txBody>
      </p:sp>
      <p:sp>
        <p:nvSpPr>
          <p:cNvPr id="19" name="Shape 17"/>
          <p:cNvSpPr/>
          <p:nvPr/>
        </p:nvSpPr>
        <p:spPr>
          <a:xfrm>
            <a:off x="548640" y="3886200"/>
            <a:ext cx="3502152" cy="2103120"/>
          </a:xfrm>
          <a:prstGeom prst="roundRect">
            <a:avLst>
              <a:gd name="adj" fmla="val 3478"/>
            </a:avLst>
          </a:prstGeom>
          <a:solidFill>
            <a:srgbClr val="F3F5F8"/>
          </a:solidFill>
          <a:ln w="12700">
            <a:solidFill>
              <a:srgbClr val="F3F5F8"/>
            </a:solidFill>
            <a:prstDash val="solid"/>
          </a:ln>
        </p:spPr>
      </p:sp>
      <p:sp>
        <p:nvSpPr>
          <p:cNvPr id="20" name="Shape 18"/>
          <p:cNvSpPr/>
          <p:nvPr/>
        </p:nvSpPr>
        <p:spPr>
          <a:xfrm>
            <a:off x="777240" y="4114800"/>
            <a:ext cx="1188720" cy="274320"/>
          </a:xfrm>
          <a:prstGeom prst="roundRect">
            <a:avLst>
              <a:gd name="adj" fmla="val 50000"/>
            </a:avLst>
          </a:prstGeom>
          <a:solidFill>
            <a:srgbClr val="0F766E"/>
          </a:solidFill>
          <a:ln w="12700">
            <a:solidFill>
              <a:srgbClr val="0F766E"/>
            </a:solidFill>
            <a:prstDash val="solid"/>
          </a:ln>
        </p:spPr>
      </p:sp>
      <p:sp>
        <p:nvSpPr>
          <p:cNvPr id="21" name="Text 19"/>
          <p:cNvSpPr txBox="1"/>
          <p:nvPr/>
        </p:nvSpPr>
        <p:spPr>
          <a:xfrm>
            <a:off x="77724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2" name="Text 20"/>
          <p:cNvSpPr txBox="1"/>
          <p:nvPr/>
        </p:nvSpPr>
        <p:spPr>
          <a:xfrm>
            <a:off x="77724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Reconciler loop</a:t>
            </a:r>
            <a:endParaRPr lang="en-US" sz="1550" dirty="0"/>
          </a:p>
        </p:txBody>
      </p:sp>
      <p:sp>
        <p:nvSpPr>
          <p:cNvPr id="23" name="Text 21"/>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15 s: reads pods and Ready count, runs the control step, resizes CPU in place, scales replicas, writes status. Tested end to end against a simulated API.</a:t>
            </a:r>
            <a:endParaRPr lang="en-US" sz="1200" dirty="0"/>
          </a:p>
        </p:txBody>
      </p:sp>
      <p:sp>
        <p:nvSpPr>
          <p:cNvPr id="24" name="Shape 22"/>
          <p:cNvSpPr/>
          <p:nvPr/>
        </p:nvSpPr>
        <p:spPr>
          <a:xfrm>
            <a:off x="4297680" y="3886200"/>
            <a:ext cx="3502152" cy="2103120"/>
          </a:xfrm>
          <a:prstGeom prst="roundRect">
            <a:avLst>
              <a:gd name="adj" fmla="val 3478"/>
            </a:avLst>
          </a:prstGeom>
          <a:solidFill>
            <a:srgbClr val="F3F5F8"/>
          </a:solidFill>
          <a:ln w="12700">
            <a:solidFill>
              <a:srgbClr val="F3F5F8"/>
            </a:solidFill>
            <a:prstDash val="solid"/>
          </a:ln>
        </p:spPr>
      </p:sp>
      <p:sp>
        <p:nvSpPr>
          <p:cNvPr id="25" name="Shape 23"/>
          <p:cNvSpPr/>
          <p:nvPr/>
        </p:nvSpPr>
        <p:spPr>
          <a:xfrm>
            <a:off x="4526280" y="4114800"/>
            <a:ext cx="1188720" cy="274320"/>
          </a:xfrm>
          <a:prstGeom prst="roundRect">
            <a:avLst>
              <a:gd name="adj" fmla="val 50000"/>
            </a:avLst>
          </a:prstGeom>
          <a:solidFill>
            <a:srgbClr val="0F766E"/>
          </a:solidFill>
          <a:ln w="12700">
            <a:solidFill>
              <a:srgbClr val="0F766E"/>
            </a:solidFill>
            <a:prstDash val="solid"/>
          </a:ln>
        </p:spPr>
      </p:sp>
      <p:sp>
        <p:nvSpPr>
          <p:cNvPr id="26" name="Text 24"/>
          <p:cNvSpPr txBox="1"/>
          <p:nvPr/>
        </p:nvSpPr>
        <p:spPr>
          <a:xfrm>
            <a:off x="452628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7" name="Text 25"/>
          <p:cNvSpPr txBox="1"/>
          <p:nvPr/>
        </p:nvSpPr>
        <p:spPr>
          <a:xfrm>
            <a:off x="452628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Prometheus adapter</a:t>
            </a:r>
            <a:endParaRPr lang="en-US" sz="1550" dirty="0"/>
          </a:p>
        </p:txBody>
      </p:sp>
      <p:sp>
        <p:nvSpPr>
          <p:cNvPr id="28" name="Text 26"/>
          <p:cNvSpPr txBox="1"/>
          <p:nvPr/>
        </p:nvSpPr>
        <p:spPr>
          <a:xfrm>
            <a:off x="452628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Real PromQL client over HTTP, tested against a live HTTP server; default query reads cAdvisor CPU usage.</a:t>
            </a:r>
            <a:endParaRPr lang="en-US" sz="1200" dirty="0"/>
          </a:p>
        </p:txBody>
      </p:sp>
      <p:sp>
        <p:nvSpPr>
          <p:cNvPr id="29" name="Shape 27"/>
          <p:cNvSpPr/>
          <p:nvPr/>
        </p:nvSpPr>
        <p:spPr>
          <a:xfrm>
            <a:off x="8046720" y="3886200"/>
            <a:ext cx="3502152" cy="2103120"/>
          </a:xfrm>
          <a:prstGeom prst="roundRect">
            <a:avLst>
              <a:gd name="adj" fmla="val 3478"/>
            </a:avLst>
          </a:prstGeom>
          <a:solidFill>
            <a:srgbClr val="F3F5F8"/>
          </a:solidFill>
          <a:ln w="12700">
            <a:solidFill>
              <a:srgbClr val="F3F5F8"/>
            </a:solidFill>
            <a:prstDash val="solid"/>
          </a:ln>
        </p:spPr>
      </p:sp>
      <p:sp>
        <p:nvSpPr>
          <p:cNvPr id="30" name="Shape 28"/>
          <p:cNvSpPr/>
          <p:nvPr/>
        </p:nvSpPr>
        <p:spPr>
          <a:xfrm>
            <a:off x="8275320" y="4114800"/>
            <a:ext cx="1188720" cy="274320"/>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827532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Ready to run</a:t>
            </a:r>
            <a:endParaRPr lang="en-US" sz="1000" dirty="0"/>
          </a:p>
        </p:txBody>
      </p:sp>
      <p:sp>
        <p:nvSpPr>
          <p:cNvPr id="32" name="Text 30"/>
          <p:cNvSpPr txBox="1"/>
          <p:nvPr/>
        </p:nvSpPr>
        <p:spPr>
          <a:xfrm>
            <a:off x="827532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In-place resize on a live cluster</a:t>
            </a:r>
            <a:endParaRPr lang="en-US" sz="1550" dirty="0"/>
          </a:p>
        </p:txBody>
      </p:sp>
      <p:sp>
        <p:nvSpPr>
          <p:cNvPr id="33" name="Text 31"/>
          <p:cNvSpPr txBox="1"/>
          <p:nvPr/>
        </p:nvSpPr>
        <p:spPr>
          <a:xfrm>
            <a:off x="827532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Quickstart pins kind on Kubernetes 1.33 (in-place resize on by default). Not yet run on a live cluster.</a:t>
            </a:r>
            <a:endParaRPr lang="en-US" sz="1200" dirty="0"/>
          </a:p>
        </p:txBody>
      </p:sp>
      <p:sp>
        <p:nvSpPr>
          <p:cNvPr id="34" name="Text 3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5" name="Text 3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Test suite and the live demonstration run</a:t>
            </a:r>
            <a:endParaRPr lang="en-US" sz="3000" dirty="0"/>
          </a:p>
        </p:txBody>
      </p:sp>
      <p:pic>
        <p:nvPicPr>
          <p:cNvPr id="4" name="Image 0" descr="img/image-13-1.png">    </p:cNvPr>
          <p:cNvPicPr>
            <a:picLocks noChangeAspect="1"/>
          </p:cNvPicPr>
          <p:nvPr/>
        </p:nvPicPr>
        <p:blipFill>
          <a:blip r:embed="rId1"/>
          <a:stretch>
            <a:fillRect/>
          </a:stretch>
        </p:blipFill>
        <p:spPr>
          <a:xfrm>
            <a:off x="548640" y="1600200"/>
            <a:ext cx="5440680" cy="2540229"/>
          </a:xfrm>
          <a:prstGeom prst="rect">
            <a:avLst/>
          </a:prstGeom>
        </p:spPr>
      </p:pic>
      <p:pic>
        <p:nvPicPr>
          <p:cNvPr id="5" name="Image 1" descr="img/demo_run.png">    </p:cNvPr>
          <p:cNvPicPr>
            <a:picLocks noChangeAspect="1"/>
          </p:cNvPicPr>
          <p:nvPr/>
        </p:nvPicPr>
        <p:blipFill>
          <a:blip r:embed="rId2"/>
          <a:stretch>
            <a:fillRect/>
          </a:stretch>
        </p:blipFill>
        <p:spPr>
          <a:xfrm>
            <a:off x="6199632" y="1600200"/>
            <a:ext cx="5440680" cy="2824968"/>
          </a:xfrm>
          <a:prstGeom prst="rect">
            <a:avLst/>
          </a:prstGeom>
        </p:spPr>
      </p:pic>
      <p:sp>
        <p:nvSpPr>
          <p:cNvPr id="6" name="Text 2"/>
          <p:cNvSpPr txBox="1"/>
          <p:nvPr/>
        </p:nvSpPr>
        <p:spPr>
          <a:xfrm>
            <a:off x="548640" y="4323309"/>
            <a:ext cx="5440680" cy="64008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Unit tests  </a:t>
            </a:r>
            <a:pPr indent="0" marL="0">
              <a:buNone/>
            </a:pPr>
            <a:r>
              <a:rPr lang="en-US" sz="1250" dirty="0">
                <a:solidFill>
                  <a:srgbClr val="1F2937"/>
                </a:solidFill>
                <a:latin typeface="Calibri" pitchFamily="34" charset="0"/>
                <a:ea typeface="Calibri" pitchFamily="34" charset="-122"/>
                <a:cs typeface="Calibri" pitchFamily="34" charset="-120"/>
              </a:rPr>
              <a:t>All 33 pass: controller maths, delay model, coupling, sensor and target-split fixes, Prometheus client over HTTP, operator reconcile loop.</a:t>
            </a:r>
            <a:endParaRPr lang="en-US" sz="1250" dirty="0"/>
          </a:p>
        </p:txBody>
      </p:sp>
      <p:sp>
        <p:nvSpPr>
          <p:cNvPr id="7" name="Text 3"/>
          <p:cNvSpPr txBox="1"/>
          <p:nvPr/>
        </p:nvSpPr>
        <p:spPr>
          <a:xfrm>
            <a:off x="6199632" y="4608048"/>
            <a:ext cx="5440680" cy="91440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demo_run.py  </a:t>
            </a:r>
            <a:pPr indent="0" marL="0">
              <a:buNone/>
            </a:pPr>
            <a:r>
              <a:rPr lang="en-US" sz="1250" dirty="0">
                <a:solidFill>
                  <a:srgbClr val="1F2937"/>
                </a:solidFill>
                <a:latin typeface="Calibri" pitchFamily="34" charset="0"/>
                <a:ea typeface="Calibri" pitchFamily="34" charset="-122"/>
                <a:cs typeface="Calibri" pitchFamily="34" charset="-120"/>
              </a:rPr>
              <a:t>Real trace w_0004, seed 42: 6.97 % SLO violations vs AAPA 8.62 % and HPA 17.25 %, at 186 CPU-min (AAPA 179, HPA 145). Without delay augmentation: +65 % CPU.</a:t>
            </a:r>
            <a:endParaRPr lang="en-US" sz="1250" dirty="0"/>
          </a:p>
        </p:txBody>
      </p:sp>
      <p:sp>
        <p:nvSpPr>
          <p:cNvPr id="8" name="Text 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9" name="Text 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Results database and cluster objects</a:t>
            </a:r>
            <a:endParaRPr lang="en-US" sz="3000" dirty="0"/>
          </a:p>
        </p:txBody>
      </p:sp>
      <p:pic>
        <p:nvPicPr>
          <p:cNvPr id="4" name="Image 0" descr="img/image-14-1.png">    </p:cNvPr>
          <p:cNvPicPr>
            <a:picLocks noChangeAspect="1"/>
          </p:cNvPicPr>
          <p:nvPr/>
        </p:nvPicPr>
        <p:blipFill>
          <a:blip r:embed="rId1"/>
          <a:stretch>
            <a:fillRect/>
          </a:stretch>
        </p:blipFill>
        <p:spPr>
          <a:xfrm>
            <a:off x="548640" y="1600200"/>
            <a:ext cx="6309360" cy="2239823"/>
          </a:xfrm>
          <a:prstGeom prst="rect">
            <a:avLst/>
          </a:prstGeom>
        </p:spPr>
      </p:pic>
      <p:pic>
        <p:nvPicPr>
          <p:cNvPr id="5" name="Image 1" descr="img/image-14-2.png">    </p:cNvPr>
          <p:cNvPicPr>
            <a:picLocks noChangeAspect="1"/>
          </p:cNvPicPr>
          <p:nvPr/>
        </p:nvPicPr>
        <p:blipFill>
          <a:blip r:embed="rId2"/>
          <a:stretch>
            <a:fillRect/>
          </a:stretch>
        </p:blipFill>
        <p:spPr>
          <a:xfrm>
            <a:off x="7114032" y="1600200"/>
            <a:ext cx="4526280" cy="3223771"/>
          </a:xfrm>
          <a:prstGeom prst="rect">
            <a:avLst/>
          </a:prstGeom>
        </p:spPr>
      </p:pic>
      <p:sp>
        <p:nvSpPr>
          <p:cNvPr id="6" name="Text 2"/>
          <p:cNvSpPr txBox="1"/>
          <p:nvPr/>
        </p:nvSpPr>
        <p:spPr>
          <a:xfrm>
            <a:off x="548640" y="4022903"/>
            <a:ext cx="630936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results_v2.csv   </a:t>
            </a:r>
            <a:pPr indent="0" marL="0">
              <a:buNone/>
            </a:pPr>
            <a:r>
              <a:rPr lang="en-US" sz="1250" dirty="0">
                <a:solidFill>
                  <a:srgbClr val="1F2937"/>
                </a:solidFill>
                <a:latin typeface="Calibri" pitchFamily="34" charset="0"/>
                <a:ea typeface="Calibri" pitchFamily="34" charset="-122"/>
                <a:cs typeface="Calibri" pitchFamily="34" charset="-120"/>
              </a:rPr>
              <a:t>Every run of the 2,610-run evaluation; src/scripts/analyze_v2.py turns it into the report, statistics and frontier. Review-2 data is kept unmodified.</a:t>
            </a:r>
            <a:endParaRPr lang="en-US" sz="1250" dirty="0"/>
          </a:p>
        </p:txBody>
      </p:sp>
      <p:sp>
        <p:nvSpPr>
          <p:cNvPr id="7" name="Text 3"/>
          <p:cNvSpPr txBox="1"/>
          <p:nvPr/>
        </p:nvSpPr>
        <p:spPr>
          <a:xfrm>
            <a:off x="7114032" y="5006851"/>
            <a:ext cx="452628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Example custom resource   </a:t>
            </a:r>
            <a:pPr indent="0" marL="0">
              <a:buNone/>
            </a:pPr>
            <a:r>
              <a:rPr lang="en-US" sz="1250" dirty="0">
                <a:solidFill>
                  <a:srgbClr val="1F2937"/>
                </a:solidFill>
                <a:latin typeface="Calibri" pitchFamily="34" charset="0"/>
                <a:ea typeface="Calibri" pitchFamily="34" charset="-122"/>
                <a:cs typeface="Calibri" pitchFamily="34" charset="-120"/>
              </a:rPr>
              <a:t>k8s/example-autoscaler.yaml, applied by the quickstart; the decision log below it is from the reconcile-loop test.</a:t>
            </a:r>
            <a:endParaRPr lang="en-US" sz="1250" dirty="0"/>
          </a:p>
        </p:txBody>
      </p:sp>
      <p:sp>
        <p:nvSpPr>
          <p:cNvPr id="8" name="Shape 4"/>
          <p:cNvSpPr/>
          <p:nvPr/>
        </p:nvSpPr>
        <p:spPr>
          <a:xfrm>
            <a:off x="548640" y="4663440"/>
            <a:ext cx="1463040" cy="1280160"/>
          </a:xfrm>
          <a:prstGeom prst="roundRect">
            <a:avLst>
              <a:gd name="adj" fmla="val 5714"/>
            </a:avLst>
          </a:prstGeom>
          <a:solidFill>
            <a:srgbClr val="F3F5F8"/>
          </a:solidFill>
          <a:ln w="12700">
            <a:solidFill>
              <a:srgbClr val="F3F5F8"/>
            </a:solidFill>
            <a:prstDash val="solid"/>
          </a:ln>
        </p:spPr>
      </p:sp>
      <p:sp>
        <p:nvSpPr>
          <p:cNvPr id="9" name="Text 5"/>
          <p:cNvSpPr txBox="1"/>
          <p:nvPr/>
        </p:nvSpPr>
        <p:spPr>
          <a:xfrm>
            <a:off x="731520"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2,610</a:t>
            </a:r>
            <a:endParaRPr lang="en-US" sz="2800" dirty="0"/>
          </a:p>
        </p:txBody>
      </p:sp>
      <p:sp>
        <p:nvSpPr>
          <p:cNvPr id="10" name="Text 6"/>
          <p:cNvSpPr txBox="1"/>
          <p:nvPr/>
        </p:nvSpPr>
        <p:spPr>
          <a:xfrm>
            <a:off x="731520"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rows</a:t>
            </a:r>
            <a:endParaRPr lang="en-US" sz="1200" dirty="0"/>
          </a:p>
        </p:txBody>
      </p:sp>
      <p:sp>
        <p:nvSpPr>
          <p:cNvPr id="11" name="Shape 7"/>
          <p:cNvSpPr/>
          <p:nvPr/>
        </p:nvSpPr>
        <p:spPr>
          <a:xfrm>
            <a:off x="2167128" y="4663440"/>
            <a:ext cx="1463040" cy="1280160"/>
          </a:xfrm>
          <a:prstGeom prst="roundRect">
            <a:avLst>
              <a:gd name="adj" fmla="val 5714"/>
            </a:avLst>
          </a:prstGeom>
          <a:solidFill>
            <a:srgbClr val="F3F5F8"/>
          </a:solidFill>
          <a:ln w="12700">
            <a:solidFill>
              <a:srgbClr val="F3F5F8"/>
            </a:solidFill>
            <a:prstDash val="solid"/>
          </a:ln>
        </p:spPr>
      </p:sp>
      <p:sp>
        <p:nvSpPr>
          <p:cNvPr id="12" name="Text 8"/>
          <p:cNvSpPr txBox="1"/>
          <p:nvPr/>
        </p:nvSpPr>
        <p:spPr>
          <a:xfrm>
            <a:off x="2350008"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29</a:t>
            </a:r>
            <a:endParaRPr lang="en-US" sz="2800" dirty="0"/>
          </a:p>
        </p:txBody>
      </p:sp>
      <p:sp>
        <p:nvSpPr>
          <p:cNvPr id="13" name="Text 9"/>
          <p:cNvSpPr txBox="1"/>
          <p:nvPr/>
        </p:nvSpPr>
        <p:spPr>
          <a:xfrm>
            <a:off x="2350008"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configurations</a:t>
            </a:r>
            <a:endParaRPr lang="en-US" sz="1200" dirty="0"/>
          </a:p>
        </p:txBody>
      </p:sp>
      <p:sp>
        <p:nvSpPr>
          <p:cNvPr id="14" name="Shape 10"/>
          <p:cNvSpPr/>
          <p:nvPr/>
        </p:nvSpPr>
        <p:spPr>
          <a:xfrm>
            <a:off x="3785616" y="4663440"/>
            <a:ext cx="1463040" cy="1280160"/>
          </a:xfrm>
          <a:prstGeom prst="roundRect">
            <a:avLst>
              <a:gd name="adj" fmla="val 5714"/>
            </a:avLst>
          </a:prstGeom>
          <a:solidFill>
            <a:srgbClr val="F3F5F8"/>
          </a:solidFill>
          <a:ln w="12700">
            <a:solidFill>
              <a:srgbClr val="F3F5F8"/>
            </a:solidFill>
            <a:prstDash val="solid"/>
          </a:ln>
        </p:spPr>
      </p:sp>
      <p:sp>
        <p:nvSpPr>
          <p:cNvPr id="15" name="Text 11"/>
          <p:cNvSpPr txBox="1"/>
          <p:nvPr/>
        </p:nvSpPr>
        <p:spPr>
          <a:xfrm>
            <a:off x="3968496"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9</a:t>
            </a:r>
            <a:endParaRPr lang="en-US" sz="2800" dirty="0"/>
          </a:p>
        </p:txBody>
      </p:sp>
      <p:sp>
        <p:nvSpPr>
          <p:cNvPr id="16" name="Text 12"/>
          <p:cNvSpPr txBox="1"/>
          <p:nvPr/>
        </p:nvSpPr>
        <p:spPr>
          <a:xfrm>
            <a:off x="3968496"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workloads</a:t>
            </a:r>
            <a:endParaRPr lang="en-US" sz="1200" dirty="0"/>
          </a:p>
        </p:txBody>
      </p:sp>
      <p:sp>
        <p:nvSpPr>
          <p:cNvPr id="17" name="Shape 13"/>
          <p:cNvSpPr/>
          <p:nvPr/>
        </p:nvSpPr>
        <p:spPr>
          <a:xfrm>
            <a:off x="5404104" y="4663440"/>
            <a:ext cx="1463040" cy="1280160"/>
          </a:xfrm>
          <a:prstGeom prst="roundRect">
            <a:avLst>
              <a:gd name="adj" fmla="val 5714"/>
            </a:avLst>
          </a:prstGeom>
          <a:solidFill>
            <a:srgbClr val="F3F5F8"/>
          </a:solidFill>
          <a:ln w="12700">
            <a:solidFill>
              <a:srgbClr val="F3F5F8"/>
            </a:solidFill>
            <a:prstDash val="solid"/>
          </a:ln>
        </p:spPr>
      </p:sp>
      <p:sp>
        <p:nvSpPr>
          <p:cNvPr id="18" name="Text 14"/>
          <p:cNvSpPr txBox="1"/>
          <p:nvPr/>
        </p:nvSpPr>
        <p:spPr>
          <a:xfrm>
            <a:off x="5586984"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10</a:t>
            </a:r>
            <a:endParaRPr lang="en-US" sz="2800" dirty="0"/>
          </a:p>
        </p:txBody>
      </p:sp>
      <p:sp>
        <p:nvSpPr>
          <p:cNvPr id="19" name="Text 15"/>
          <p:cNvSpPr txBox="1"/>
          <p:nvPr/>
        </p:nvSpPr>
        <p:spPr>
          <a:xfrm>
            <a:off x="5586984"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seeds</a:t>
            </a:r>
            <a:endParaRPr lang="en-US" sz="1200" dirty="0"/>
          </a:p>
        </p:txBody>
      </p:sp>
      <p:sp>
        <p:nvSpPr>
          <p:cNvPr id="20" name="Text 16"/>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1" name="Text 1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One command, about ten seconds</a:t>
            </a:r>
            <a:endParaRPr lang="en-US" sz="3000" dirty="0"/>
          </a:p>
        </p:txBody>
      </p:sp>
      <p:sp>
        <p:nvSpPr>
          <p:cNvPr id="4" name="Shape 2"/>
          <p:cNvSpPr/>
          <p:nvPr/>
        </p:nvSpPr>
        <p:spPr>
          <a:xfrm>
            <a:off x="548640" y="1554480"/>
            <a:ext cx="5120640" cy="1051560"/>
          </a:xfrm>
          <a:prstGeom prst="roundRect">
            <a:avLst>
              <a:gd name="adj" fmla="val 6957"/>
            </a:avLst>
          </a:prstGeom>
          <a:solidFill>
            <a:srgbClr val="13223A"/>
          </a:solidFill>
          <a:ln w="12700">
            <a:solidFill>
              <a:srgbClr val="13223A"/>
            </a:solidFill>
            <a:prstDash val="solid"/>
          </a:ln>
        </p:spPr>
      </p:sp>
      <p:sp>
        <p:nvSpPr>
          <p:cNvPr id="5" name="Text 3"/>
          <p:cNvSpPr txBox="1"/>
          <p:nvPr/>
        </p:nvSpPr>
        <p:spPr>
          <a:xfrm>
            <a:off x="822960" y="1664208"/>
            <a:ext cx="4572000" cy="274320"/>
          </a:xfrm>
          <a:prstGeom prst="rect">
            <a:avLst/>
          </a:prstGeom>
          <a:noFill/>
          <a:ln/>
        </p:spPr>
        <p:txBody>
          <a:bodyPr wrap="square" lIns="0" tIns="0" rIns="0" bIns="0" rtlCol="0" anchor="t"/>
          <a:lstStyle/>
          <a:p>
            <a:pPr indent="0" marL="0">
              <a:buNone/>
            </a:pPr>
            <a:r>
              <a:rPr lang="en-US" sz="1100" dirty="0">
                <a:solidFill>
                  <a:srgbClr val="AFC0D8"/>
                </a:solidFill>
                <a:latin typeface="Calibri" pitchFamily="34" charset="0"/>
                <a:ea typeface="Calibri" pitchFamily="34" charset="-122"/>
                <a:cs typeface="Calibri" pitchFamily="34" charset="-120"/>
              </a:rPr>
              <a:t>PowerShell, from the project folder</a:t>
            </a:r>
            <a:endParaRPr lang="en-US" sz="1100" dirty="0"/>
          </a:p>
        </p:txBody>
      </p:sp>
      <p:sp>
        <p:nvSpPr>
          <p:cNvPr id="6" name="Text 4"/>
          <p:cNvSpPr txBox="1"/>
          <p:nvPr/>
        </p:nvSpPr>
        <p:spPr>
          <a:xfrm>
            <a:off x="822960" y="1984248"/>
            <a:ext cx="4754880" cy="411480"/>
          </a:xfrm>
          <a:prstGeom prst="rect">
            <a:avLst/>
          </a:prstGeom>
          <a:noFill/>
          <a:ln/>
        </p:spPr>
        <p:txBody>
          <a:bodyPr wrap="square" lIns="0" tIns="0" rIns="0" bIns="0" rtlCol="0" anchor="t"/>
          <a:lstStyle/>
          <a:p>
            <a:pPr indent="0" marL="0">
              <a:buNone/>
            </a:pPr>
            <a:r>
              <a:rPr lang="en-US" sz="1500" b="1" dirty="0">
                <a:solidFill>
                  <a:srgbClr val="E8A840"/>
                </a:solidFill>
                <a:latin typeface="Courier New" pitchFamily="34" charset="0"/>
                <a:ea typeface="Courier New" pitchFamily="34" charset="-122"/>
                <a:cs typeface="Courier New" pitchFamily="34" charset="-120"/>
              </a:rPr>
              <a:t>$env:PYTHONPATH="."; python demo_run.py</a:t>
            </a:r>
            <a:endParaRPr lang="en-US" sz="1500" dirty="0"/>
          </a:p>
        </p:txBody>
      </p:sp>
      <p:sp>
        <p:nvSpPr>
          <p:cNvPr id="7" name="Text 5"/>
          <p:cNvSpPr txBox="1"/>
          <p:nvPr/>
        </p:nvSpPr>
        <p:spPr>
          <a:xfrm>
            <a:off x="548640" y="2788920"/>
            <a:ext cx="51206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Same code as the full evaluation — the demo calls the harness's own run_simulation on one workload. The full evaluation takes ~10 minutes on 12 cores and writes results_v2.csv.</a:t>
            </a:r>
            <a:endParaRPr lang="en-US" sz="1300" dirty="0"/>
          </a:p>
        </p:txBody>
      </p:sp>
      <p:sp>
        <p:nvSpPr>
          <p:cNvPr id="8" name="Text 6"/>
          <p:cNvSpPr txBox="1"/>
          <p:nvPr/>
        </p:nvSpPr>
        <p:spPr>
          <a:xfrm>
            <a:off x="548640" y="4251960"/>
            <a:ext cx="4572000" cy="274320"/>
          </a:xfrm>
          <a:prstGeom prst="rect">
            <a:avLst/>
          </a:prstGeom>
          <a:noFill/>
          <a:ln/>
        </p:spPr>
        <p:txBody>
          <a:bodyPr wrap="square" lIns="0" tIns="0" rIns="0" bIns="0" rtlCol="0" anchor="t"/>
          <a:lstStyle/>
          <a:p>
            <a:pPr indent="0" marL="0">
              <a:buNone/>
            </a:pPr>
            <a:r>
              <a:rPr lang="en-US" sz="1050" b="1" spc="200" kern="0" dirty="0">
                <a:solidFill>
                  <a:srgbClr val="C7811A"/>
                </a:solidFill>
                <a:latin typeface="Calibri" pitchFamily="34" charset="0"/>
                <a:ea typeface="Calibri" pitchFamily="34" charset="-122"/>
                <a:cs typeface="Calibri" pitchFamily="34" charset="-120"/>
              </a:rPr>
              <a:t>BEFORE THE REVIEW</a:t>
            </a:r>
            <a:endParaRPr lang="en-US" sz="1050" dirty="0"/>
          </a:p>
        </p:txBody>
      </p:sp>
      <p:sp>
        <p:nvSpPr>
          <p:cNvPr id="9" name="Text 7"/>
          <p:cNvSpPr txBox="1"/>
          <p:nvPr/>
        </p:nvSpPr>
        <p:spPr>
          <a:xfrm>
            <a:off x="548640" y="4572000"/>
            <a:ext cx="5120640" cy="1188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demo once to warm Python imports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Clear the terminal with cls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Have the command pre-typed; only press Enter</a:t>
            </a:r>
            <a:endParaRPr lang="en-US" sz="1300" dirty="0"/>
          </a:p>
        </p:txBody>
      </p:sp>
      <p:sp>
        <p:nvSpPr>
          <p:cNvPr id="10" name="Shape 8"/>
          <p:cNvSpPr/>
          <p:nvPr/>
        </p:nvSpPr>
        <p:spPr>
          <a:xfrm>
            <a:off x="6035040" y="1554480"/>
            <a:ext cx="5605272" cy="777240"/>
          </a:xfrm>
          <a:prstGeom prst="roundRect">
            <a:avLst>
              <a:gd name="adj" fmla="val 9412"/>
            </a:avLst>
          </a:prstGeom>
          <a:solidFill>
            <a:srgbClr val="F3F5F8"/>
          </a:solidFill>
          <a:ln w="12700">
            <a:solidFill>
              <a:srgbClr val="F3F5F8"/>
            </a:solidFill>
            <a:prstDash val="solid"/>
          </a:ln>
        </p:spPr>
      </p:sp>
      <p:sp>
        <p:nvSpPr>
          <p:cNvPr id="11" name="Shape 9"/>
          <p:cNvSpPr/>
          <p:nvPr/>
        </p:nvSpPr>
        <p:spPr>
          <a:xfrm>
            <a:off x="6217920" y="1719072"/>
            <a:ext cx="457200" cy="457200"/>
          </a:xfrm>
          <a:prstGeom prst="ellipse">
            <a:avLst/>
          </a:prstGeom>
          <a:solidFill>
            <a:srgbClr val="13223A"/>
          </a:solidFill>
          <a:ln w="12700">
            <a:solidFill>
              <a:srgbClr val="13223A"/>
            </a:solidFill>
            <a:prstDash val="solid"/>
          </a:ln>
        </p:spPr>
      </p:sp>
      <p:sp>
        <p:nvSpPr>
          <p:cNvPr id="12" name="Text 10"/>
          <p:cNvSpPr txBox="1"/>
          <p:nvPr/>
        </p:nvSpPr>
        <p:spPr>
          <a:xfrm>
            <a:off x="6217920" y="1719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858000" y="16276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Setup</a:t>
            </a:r>
            <a:endParaRPr lang="en-US" sz="1300" dirty="0"/>
          </a:p>
        </p:txBody>
      </p:sp>
      <p:sp>
        <p:nvSpPr>
          <p:cNvPr id="14" name="Text 12"/>
          <p:cNvSpPr txBox="1"/>
          <p:nvPr/>
        </p:nvSpPr>
        <p:spPr>
          <a:xfrm>
            <a:off x="6858000" y="19019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Trace w_0004 (ramp), 500 ms SLO, 20 s vs 0.1 s delays, seed 42 for all controllers.</a:t>
            </a:r>
            <a:endParaRPr lang="en-US" sz="1100" dirty="0"/>
          </a:p>
        </p:txBody>
      </p:sp>
      <p:sp>
        <p:nvSpPr>
          <p:cNvPr id="15" name="Shape 13"/>
          <p:cNvSpPr/>
          <p:nvPr/>
        </p:nvSpPr>
        <p:spPr>
          <a:xfrm>
            <a:off x="6035040" y="2468880"/>
            <a:ext cx="5605272" cy="777240"/>
          </a:xfrm>
          <a:prstGeom prst="roundRect">
            <a:avLst>
              <a:gd name="adj" fmla="val 9412"/>
            </a:avLst>
          </a:prstGeom>
          <a:solidFill>
            <a:srgbClr val="F3F5F8"/>
          </a:solidFill>
          <a:ln w="12700">
            <a:solidFill>
              <a:srgbClr val="F3F5F8"/>
            </a:solidFill>
            <a:prstDash val="solid"/>
          </a:ln>
        </p:spPr>
      </p:sp>
      <p:sp>
        <p:nvSpPr>
          <p:cNvPr id="16" name="Shape 14"/>
          <p:cNvSpPr/>
          <p:nvPr/>
        </p:nvSpPr>
        <p:spPr>
          <a:xfrm>
            <a:off x="6217920" y="2633472"/>
            <a:ext cx="457200" cy="457200"/>
          </a:xfrm>
          <a:prstGeom prst="ellipse">
            <a:avLst/>
          </a:prstGeom>
          <a:solidFill>
            <a:srgbClr val="13223A"/>
          </a:solidFill>
          <a:ln w="12700">
            <a:solidFill>
              <a:srgbClr val="13223A"/>
            </a:solidFill>
            <a:prstDash val="solid"/>
          </a:ln>
        </p:spPr>
      </p:sp>
      <p:sp>
        <p:nvSpPr>
          <p:cNvPr id="17" name="Text 15"/>
          <p:cNvSpPr txBox="1"/>
          <p:nvPr/>
        </p:nvSpPr>
        <p:spPr>
          <a:xfrm>
            <a:off x="6217920" y="2633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6858000" y="25420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Control law</a:t>
            </a:r>
            <a:endParaRPr lang="en-US" sz="1300" dirty="0"/>
          </a:p>
        </p:txBody>
      </p:sp>
      <p:sp>
        <p:nvSpPr>
          <p:cNvPr id="19" name="Text 17"/>
          <p:cNvSpPr txBox="1"/>
          <p:nvPr/>
        </p:nvSpPr>
        <p:spPr>
          <a:xfrm>
            <a:off x="6858000" y="28163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3×3 augmented A matrix (one in-flight slot); all Riccati eigenvalues positive — V = eᵀPe is a valid Lyapunov function.</a:t>
            </a:r>
            <a:endParaRPr lang="en-US" sz="1100" dirty="0"/>
          </a:p>
        </p:txBody>
      </p:sp>
      <p:sp>
        <p:nvSpPr>
          <p:cNvPr id="20" name="Shape 18"/>
          <p:cNvSpPr/>
          <p:nvPr/>
        </p:nvSpPr>
        <p:spPr>
          <a:xfrm>
            <a:off x="6035040" y="3383280"/>
            <a:ext cx="5605272" cy="777240"/>
          </a:xfrm>
          <a:prstGeom prst="roundRect">
            <a:avLst>
              <a:gd name="adj" fmla="val 9412"/>
            </a:avLst>
          </a:prstGeom>
          <a:solidFill>
            <a:srgbClr val="F3F5F8"/>
          </a:solidFill>
          <a:ln w="12700">
            <a:solidFill>
              <a:srgbClr val="F3F5F8"/>
            </a:solidFill>
            <a:prstDash val="solid"/>
          </a:ln>
        </p:spPr>
      </p:sp>
      <p:sp>
        <p:nvSpPr>
          <p:cNvPr id="21" name="Shape 19"/>
          <p:cNvSpPr/>
          <p:nvPr/>
        </p:nvSpPr>
        <p:spPr>
          <a:xfrm>
            <a:off x="6217920" y="3547872"/>
            <a:ext cx="457200" cy="457200"/>
          </a:xfrm>
          <a:prstGeom prst="ellipse">
            <a:avLst/>
          </a:prstGeom>
          <a:solidFill>
            <a:srgbClr val="13223A"/>
          </a:solidFill>
          <a:ln w="12700">
            <a:solidFill>
              <a:srgbClr val="13223A"/>
            </a:solidFill>
            <a:prstDash val="solid"/>
          </a:ln>
        </p:spPr>
      </p:sp>
      <p:sp>
        <p:nvSpPr>
          <p:cNvPr id="22" name="Text 20"/>
          <p:cNvSpPr txBox="1"/>
          <p:nvPr/>
        </p:nvSpPr>
        <p:spPr>
          <a:xfrm>
            <a:off x="6217920" y="3547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858000" y="34564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Results</a:t>
            </a:r>
            <a:endParaRPr lang="en-US" sz="1300" dirty="0"/>
          </a:p>
        </p:txBody>
      </p:sp>
      <p:sp>
        <p:nvSpPr>
          <p:cNvPr id="24" name="Text 22"/>
          <p:cNvSpPr txBox="1"/>
          <p:nvPr/>
        </p:nvSpPr>
        <p:spPr>
          <a:xfrm>
            <a:off x="6858000" y="37307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CHIMERA 6.97 % vs AAPA 8.62 % vs HPA 17.25 %; without delay augmentation it spends +65 % CPU.</a:t>
            </a:r>
            <a:endParaRPr lang="en-US" sz="1100" dirty="0"/>
          </a:p>
        </p:txBody>
      </p:sp>
      <p:sp>
        <p:nvSpPr>
          <p:cNvPr id="25" name="Shape 23"/>
          <p:cNvSpPr/>
          <p:nvPr/>
        </p:nvSpPr>
        <p:spPr>
          <a:xfrm>
            <a:off x="6035040" y="4297680"/>
            <a:ext cx="5605272" cy="777240"/>
          </a:xfrm>
          <a:prstGeom prst="roundRect">
            <a:avLst>
              <a:gd name="adj" fmla="val 9412"/>
            </a:avLst>
          </a:prstGeom>
          <a:solidFill>
            <a:srgbClr val="F3F5F8"/>
          </a:solidFill>
          <a:ln w="12700">
            <a:solidFill>
              <a:srgbClr val="F3F5F8"/>
            </a:solidFill>
            <a:prstDash val="solid"/>
          </a:ln>
        </p:spPr>
      </p:sp>
      <p:sp>
        <p:nvSpPr>
          <p:cNvPr id="26" name="Shape 24"/>
          <p:cNvSpPr/>
          <p:nvPr/>
        </p:nvSpPr>
        <p:spPr>
          <a:xfrm>
            <a:off x="6217920" y="4462272"/>
            <a:ext cx="457200" cy="457200"/>
          </a:xfrm>
          <a:prstGeom prst="ellipse">
            <a:avLst/>
          </a:prstGeom>
          <a:solidFill>
            <a:srgbClr val="13223A"/>
          </a:solidFill>
          <a:ln w="12700">
            <a:solidFill>
              <a:srgbClr val="13223A"/>
            </a:solidFill>
            <a:prstDash val="solid"/>
          </a:ln>
        </p:spPr>
      </p:sp>
      <p:sp>
        <p:nvSpPr>
          <p:cNvPr id="27" name="Text 25"/>
          <p:cNvSpPr txBox="1"/>
          <p:nvPr/>
        </p:nvSpPr>
        <p:spPr>
          <a:xfrm>
            <a:off x="6217920" y="4462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58000" y="43708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Cluster behaviour</a:t>
            </a:r>
            <a:endParaRPr lang="en-US" sz="1300" dirty="0"/>
          </a:p>
        </p:txBody>
      </p:sp>
      <p:sp>
        <p:nvSpPr>
          <p:cNvPr id="29" name="Text 27"/>
          <p:cNvSpPr txBox="1"/>
          <p:nvPr/>
        </p:nvSpPr>
        <p:spPr>
          <a:xfrm>
            <a:off x="6858000" y="46451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HPA’s CPU line is flat — one lever, so it swings between 2 and 12 pods. CHIMERA holds 4 and moves CPU instead.</a:t>
            </a:r>
            <a:endParaRPr lang="en-US" sz="1100" dirty="0"/>
          </a:p>
        </p:txBody>
      </p:sp>
      <p:sp>
        <p:nvSpPr>
          <p:cNvPr id="30" name="Shape 28"/>
          <p:cNvSpPr/>
          <p:nvPr/>
        </p:nvSpPr>
        <p:spPr>
          <a:xfrm>
            <a:off x="6035040" y="5212080"/>
            <a:ext cx="5605272" cy="777240"/>
          </a:xfrm>
          <a:prstGeom prst="roundRect">
            <a:avLst>
              <a:gd name="adj" fmla="val 9412"/>
            </a:avLst>
          </a:prstGeom>
          <a:solidFill>
            <a:srgbClr val="F3F5F8"/>
          </a:solidFill>
          <a:ln w="12700">
            <a:solidFill>
              <a:srgbClr val="F3F5F8"/>
            </a:solidFill>
            <a:prstDash val="solid"/>
          </a:ln>
        </p:spPr>
      </p:sp>
      <p:sp>
        <p:nvSpPr>
          <p:cNvPr id="31" name="Shape 29"/>
          <p:cNvSpPr/>
          <p:nvPr/>
        </p:nvSpPr>
        <p:spPr>
          <a:xfrm>
            <a:off x="6217920" y="5376672"/>
            <a:ext cx="457200" cy="457200"/>
          </a:xfrm>
          <a:prstGeom prst="ellipse">
            <a:avLst/>
          </a:prstGeom>
          <a:solidFill>
            <a:srgbClr val="13223A"/>
          </a:solidFill>
          <a:ln w="12700">
            <a:solidFill>
              <a:srgbClr val="13223A"/>
            </a:solidFill>
            <a:prstDash val="solid"/>
          </a:ln>
        </p:spPr>
      </p:sp>
      <p:sp>
        <p:nvSpPr>
          <p:cNvPr id="32" name="Text 30"/>
          <p:cNvSpPr txBox="1"/>
          <p:nvPr/>
        </p:nvSpPr>
        <p:spPr>
          <a:xfrm>
            <a:off x="6217920" y="5376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6858000" y="52852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Contribution, step by step</a:t>
            </a:r>
            <a:endParaRPr lang="en-US" sz="1300" dirty="0"/>
          </a:p>
        </p:txBody>
      </p:sp>
      <p:sp>
        <p:nvSpPr>
          <p:cNvPr id="34" name="Text 32"/>
          <p:cNvSpPr txBox="1"/>
          <p:nvPr/>
        </p:nvSpPr>
        <p:spPr>
          <a:xfrm>
            <a:off x="6858000" y="55595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t = 15 s: +2 pods ordered one tick earlier are still booting, so the controller holds instead of re-ordering them.</a:t>
            </a:r>
            <a:endParaRPr lang="en-US" sz="1100" dirty="0"/>
          </a:p>
        </p:txBody>
      </p:sp>
      <p:sp>
        <p:nvSpPr>
          <p:cNvPr id="35" name="Text 3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6"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CRITICAL EVALUATION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Known limitations and what comes next</a:t>
            </a:r>
            <a:endParaRPr lang="en-US" sz="3000" dirty="0"/>
          </a:p>
        </p:txBody>
      </p:sp>
      <p:sp>
        <p:nvSpPr>
          <p:cNvPr id="4" name="Shape 2"/>
          <p:cNvSpPr/>
          <p:nvPr/>
        </p:nvSpPr>
        <p:spPr>
          <a:xfrm>
            <a:off x="548640" y="1554480"/>
            <a:ext cx="5422392" cy="4572000"/>
          </a:xfrm>
          <a:prstGeom prst="roundRect">
            <a:avLst>
              <a:gd name="adj" fmla="val 1600"/>
            </a:avLst>
          </a:prstGeom>
          <a:solidFill>
            <a:srgbClr val="F3F5F8"/>
          </a:solidFill>
          <a:ln w="12700">
            <a:solidFill>
              <a:srgbClr val="F3F5F8"/>
            </a:solidFill>
            <a:prstDash val="solid"/>
          </a:ln>
        </p:spPr>
      </p:sp>
      <p:sp>
        <p:nvSpPr>
          <p:cNvPr id="5" name="Shape 3"/>
          <p:cNvSpPr/>
          <p:nvPr/>
        </p:nvSpPr>
        <p:spPr>
          <a:xfrm>
            <a:off x="6217920" y="1554480"/>
            <a:ext cx="5422392" cy="4572000"/>
          </a:xfrm>
          <a:prstGeom prst="roundRect">
            <a:avLst>
              <a:gd name="adj" fmla="val 1600"/>
            </a:avLst>
          </a:prstGeom>
          <a:solidFill>
            <a:srgbClr val="13223A"/>
          </a:solidFill>
          <a:ln w="12700">
            <a:solidFill>
              <a:srgbClr val="13223A"/>
            </a:solidFill>
            <a:prstDash val="solid"/>
          </a:ln>
        </p:spPr>
      </p:sp>
      <p:sp>
        <p:nvSpPr>
          <p:cNvPr id="6" name="Text 4"/>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Current limitations</a:t>
            </a:r>
            <a:endParaRPr lang="en-US" sz="1800" dirty="0"/>
          </a:p>
        </p:txBody>
      </p:sp>
      <p:sp>
        <p:nvSpPr>
          <p:cNvPr id="7" name="Text 5"/>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800" b="1" dirty="0">
                <a:solidFill>
                  <a:srgbClr val="E3A646"/>
                </a:solidFill>
                <a:latin typeface="Cambria" pitchFamily="34" charset="0"/>
                <a:ea typeface="Cambria" pitchFamily="34" charset="-122"/>
                <a:cs typeface="Cambria" pitchFamily="34" charset="-120"/>
              </a:rPr>
              <a:t>Next milestones</a:t>
            </a:r>
            <a:endParaRPr lang="en-US" sz="1800" dirty="0"/>
          </a:p>
        </p:txBody>
      </p:sp>
      <p:sp>
        <p:nvSpPr>
          <p:cNvPr id="8" name="Text 6"/>
          <p:cNvSpPr txBox="1"/>
          <p:nvPr/>
        </p:nvSpPr>
        <p:spPr>
          <a:xfrm>
            <a:off x="82296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Evaluation uses 100-minute excerpts of five real traces — too narrow to claim general performance.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operator has not yet run on a live Kubernetes cluster (code and tests are complete).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Lyapunov filter, ADWIN and online recalibration show no measurable effect in ablation.</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At the 70 % target CHIMERA spends 7 % more CPU than AAPA; at equal CPU the two tie on SLO.</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reactive conformal margin was designed after analysing the synthetic traces.</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CHIMERA does not reach the cheapest region of the frontier (below 220 core-min).</a:t>
            </a:r>
            <a:endParaRPr lang="en-US" sz="1450" dirty="0"/>
          </a:p>
        </p:txBody>
      </p:sp>
      <p:sp>
        <p:nvSpPr>
          <p:cNvPr id="9" name="Text 7"/>
          <p:cNvSpPr txBox="1"/>
          <p:nvPr/>
        </p:nvSpPr>
        <p:spPr>
          <a:xfrm>
            <a:off x="649224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Convert the full Azure Functions 2019 dataset — 10,000+ workloads.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Run the quickstart on kind 1.33 and record a live trace.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Remove or rework the Lyapunov filter and ADWIN.</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Hold the synthetic traces out of design decisions; add fresh ones.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Sweep horizontal delay from 5 s to 80 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Extend the controller's range down to low-cost operating points.</a:t>
            </a:r>
            <a:endParaRPr lang="en-US" sz="1450" dirty="0"/>
          </a:p>
        </p:txBody>
      </p:sp>
      <p:sp>
        <p:nvSpPr>
          <p:cNvPr id="10" name="Text 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1" name="Text 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600200"/>
            <a:ext cx="11064240"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 Shahrad et al., "Serverless in the Wild: Characterizing and Optimizing the Serverless Workload at a Large Cloud Provider," USENIX ATC, 2020. (Azure Functions 2019 trace)</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Y. Romano, E. Patterson, E. Candès, "Conformalized Quantile Regression," NeurIPS, 2019.</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 Bifet, R. Gavaldà, "Learning from Time-Changing Data with Adaptive Windowing," SIAM SDM, 2007. (ADWIN)</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Enhancement Proposal KEP-1287, "In-Place Update of Pod Resources."</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documentation, "Horizontal Pod Autoscaling" and "Vertical Pod Autoscaler."</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Google Cloud documentation, "Multidimensional Pod Autoscaling" (GKE).</a:t>
            </a:r>
            <a:endParaRPr lang="en-US" sz="1400" dirty="0"/>
          </a:p>
        </p:txBody>
      </p:sp>
      <p:sp>
        <p:nvSpPr>
          <p:cNvPr id="5" name="Text 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100" b="1" spc="300" kern="0" dirty="0">
                <a:solidFill>
                  <a:srgbClr val="E3A64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96012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single control law for two actuators with very different delays.</a:t>
            </a:r>
            <a:endParaRPr lang="en-US" sz="3400" dirty="0"/>
          </a:p>
        </p:txBody>
      </p:sp>
      <p:sp>
        <p:nvSpPr>
          <p:cNvPr id="4" name="Text 2"/>
          <p:cNvSpPr txBox="1"/>
          <p:nvPr/>
        </p:nvSpPr>
        <p:spPr>
          <a:xfrm>
            <a:off x="7315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6.9 %</a:t>
            </a:r>
            <a:endParaRPr lang="en-US" sz="4400" dirty="0"/>
          </a:p>
        </p:txBody>
      </p:sp>
      <p:sp>
        <p:nvSpPr>
          <p:cNvPr id="5" name="Text 3"/>
          <p:cNvSpPr txBox="1"/>
          <p:nvPr/>
        </p:nvSpPr>
        <p:spPr>
          <a:xfrm>
            <a:off x="7315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SLO violations, real traces (next best 8.3 %)</a:t>
            </a:r>
            <a:endParaRPr lang="en-US" sz="1400" dirty="0"/>
          </a:p>
        </p:txBody>
      </p:sp>
      <p:sp>
        <p:nvSpPr>
          <p:cNvPr id="6" name="Text 4"/>
          <p:cNvSpPr txBox="1"/>
          <p:nvPr/>
        </p:nvSpPr>
        <p:spPr>
          <a:xfrm>
            <a:off x="34747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4,410</a:t>
            </a:r>
            <a:endParaRPr lang="en-US" sz="4400" dirty="0"/>
          </a:p>
        </p:txBody>
      </p:sp>
      <p:sp>
        <p:nvSpPr>
          <p:cNvPr id="7" name="Text 5"/>
          <p:cNvSpPr txBox="1"/>
          <p:nvPr/>
        </p:nvSpPr>
        <p:spPr>
          <a:xfrm>
            <a:off x="34747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simulation runs, 10 seeds</a:t>
            </a:r>
            <a:endParaRPr lang="en-US" sz="1400" dirty="0"/>
          </a:p>
        </p:txBody>
      </p:sp>
      <p:sp>
        <p:nvSpPr>
          <p:cNvPr id="8" name="Text 6"/>
          <p:cNvSpPr txBox="1"/>
          <p:nvPr/>
        </p:nvSpPr>
        <p:spPr>
          <a:xfrm>
            <a:off x="62179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19×</a:t>
            </a:r>
            <a:endParaRPr lang="en-US" sz="4400" dirty="0"/>
          </a:p>
        </p:txBody>
      </p:sp>
      <p:sp>
        <p:nvSpPr>
          <p:cNvPr id="9" name="Text 7"/>
          <p:cNvSpPr txBox="1"/>
          <p:nvPr/>
        </p:nvSpPr>
        <p:spPr>
          <a:xfrm>
            <a:off x="62179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better p99 than AAPA</a:t>
            </a:r>
            <a:endParaRPr lang="en-US" sz="1400" dirty="0"/>
          </a:p>
        </p:txBody>
      </p:sp>
      <p:sp>
        <p:nvSpPr>
          <p:cNvPr id="10" name="Text 8"/>
          <p:cNvSpPr txBox="1"/>
          <p:nvPr/>
        </p:nvSpPr>
        <p:spPr>
          <a:xfrm>
            <a:off x="89611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2.6 %</a:t>
            </a:r>
            <a:endParaRPr lang="en-US" sz="4400" dirty="0"/>
          </a:p>
        </p:txBody>
      </p:sp>
      <p:sp>
        <p:nvSpPr>
          <p:cNvPr id="11" name="Text 9"/>
          <p:cNvSpPr txBox="1"/>
          <p:nvPr/>
        </p:nvSpPr>
        <p:spPr>
          <a:xfrm>
            <a:off x="89611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lowest violation rate on the frontier (best baseline 5.0 %)</a:t>
            </a:r>
            <a:endParaRPr lang="en-US" sz="1400" dirty="0"/>
          </a:p>
        </p:txBody>
      </p:sp>
      <p:sp>
        <p:nvSpPr>
          <p:cNvPr id="12" name="Shape 10"/>
          <p:cNvSpPr/>
          <p:nvPr/>
        </p:nvSpPr>
        <p:spPr>
          <a:xfrm>
            <a:off x="731520" y="4114800"/>
            <a:ext cx="10725912" cy="0"/>
          </a:xfrm>
          <a:prstGeom prst="line">
            <a:avLst/>
          </a:prstGeom>
          <a:noFill/>
          <a:ln w="12700">
            <a:solidFill>
              <a:srgbClr val="2E4263"/>
            </a:solidFill>
            <a:prstDash val="solid"/>
          </a:ln>
        </p:spPr>
      </p:sp>
      <p:sp>
        <p:nvSpPr>
          <p:cNvPr id="13" name="Text 11"/>
          <p:cNvSpPr txBox="1"/>
          <p:nvPr/>
        </p:nvSpPr>
        <p:spPr>
          <a:xfrm>
            <a:off x="731520" y="434340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At equal CPU, CHIMERA ties the best baselines on SLO, wins decisively on tail latency, and extends the frontier to violation rates no baseline reaches. Next milestone: a live cluster.</a:t>
            </a:r>
            <a:endParaRPr lang="en-US" sz="1600" dirty="0"/>
          </a:p>
        </p:txBody>
      </p:sp>
      <p:sp>
        <p:nvSpPr>
          <p:cNvPr id="14" name="Text 12"/>
          <p:cNvSpPr txBox="1"/>
          <p:nvPr/>
        </p:nvSpPr>
        <p:spPr>
          <a:xfrm>
            <a:off x="731520" y="5394960"/>
            <a:ext cx="73152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5" name="Text 1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FA3BF"/>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FA3BF"/>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CHIMERA — Review 2</dc:title>
  <dc:subject>PptxGenJS Presentation</dc:subject>
  <dc:creator>Adithyan C S S, Vishal B S, Madhan A</dc:creator>
  <cp:lastModifiedBy>Adithyan C S S, Vishal B S, Madhan A</cp:lastModifiedBy>
  <cp:revision>1</cp:revision>
  <dcterms:created xsi:type="dcterms:W3CDTF">2026-09-28T10:34:39Z</dcterms:created>
  <dcterms:modified xsi:type="dcterms:W3CDTF">2026-09-28T10:34:39Z</dcterms:modified>
</cp:coreProperties>
</file>