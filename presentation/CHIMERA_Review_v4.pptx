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OS connection: this is resource scheduling and allocation under actuation delay. Kubernetes decides how many pods and how much CPU each gets — a classic OS resource-management problem, just at cluster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sections. The core contribution is in sections 2 and 3; the evidence is in 6 and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200× number is the whole motivation. Vertical is fast but capped by node size; horizontal is unbounded but slow. Neither alone is enough, and running both naively is worse than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stages running in a loop every fifteen seconds: we predict the load, decide how much CPU and how many pods, and act. The important arrow is the amber one. Pods take twenty seconds to start; this arrow feeds pending orders back into the controller so it knows capacity is on the way and doesn't order more. That's the part that's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LQR and not MPC: MPC solves a quadratic program every tick. We solve the Riccati equation once and get a fixed gain matrix, which is orders of magnitude cheaper per control step. In the demo, all eigenvalues of P are positive — that is what makes the Lyapunov stability argument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the five real traces are 100-minute excerpts. Say it before the examiner finds it — converting the full 10,000-workload dataset is our next step; the script is written, we just haven't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the first thing a good examiner asks is whether the comparison is rigged. Answer it before they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by subsystem rather than listing twelve items flat. If asked which module was hardest: module 6, the delay augmentation, because getting the state-space wiring to match the simulated plant took several iterations.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module 12 — the operator is written and containerised but has never touched a live cluster. That is the honest state and it is the next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a clean win. AAPA beats us on violations by 1.1 points only because it buys 272 pod-minutes against our 147. The dashed points show what a 1.5-core head-start is worth — about 9 points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results are paired t-test significant at p = 0.0001 and below, with very large effect sizes. This is the strongest claim in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Volunteering the two negative results is the right move — it shows the ablation is a real experiment and not a formality. Both are scheduled for rework.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rows are systems we measured; the rest are related work we did not run. Their purpose is to show we know the field and exactly how we differ. The patents rows keep our contribution clear of prior art: neither drives both axes from a control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separates a project that ran experiments from one that verified them. If asked how we found the headroom confound: CHIMERA was losing to HPA by a suspiciously large margin, so we read the baseline config rather than accepting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 operator has not run against a live cluster yet. The CRD and RBAC are real and reviewable; the telemetry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outputs from the project source. Do not say we use half the resources: pod-minutes count pods, not CPU, and our pods are bigger. In CPU we use about 12% more. The correct claim: about the same CPU, less than half the pods, 4.8 points better — and every pod avoided is a 20-second cold start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examiner spots identical HPA and HPA+VPA rows: we found that ourselves — the vertical loop never fires in that configuration because per-pod CPU stays below the minimum we allow, so that row is currently plain HPA. It is on our fix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the demo and not the whole project: the demo runs the same code as our full evaluation — it's one workload out of the 720 runs. It finishes in three seconds so you can watch it; the full sweep takes several minutes, only prints a progress log, and would overwrite the saved results our report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your own limitations before the panel does is the difference between a defensive review and a confident one. Every item on the left has a matching item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the full citations for AAPA and KOSMOS here as they appear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why LQR over MPC (cost per tick); why 12.9% still fail on the demo trace (70% utilisation target puts mean latency right at the 500 ms limit — same target as HPA, where we are 4.8 points better); has it run on a real cluster (no — the reader of live traffic still returns test numbers; that is the next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23A"/>
        </a:solidFill>
      </p:bgPr>
    </p:bg>
    <p:spTree>
      <p:nvGrpSpPr>
        <p:cNvPr id="1" name=""/>
        <p:cNvGrpSpPr/>
        <p:nvPr/>
      </p:nvGrpSpPr>
      <p:grpSpPr>
        <a:xfrm>
          <a:off x="0" y="0"/>
          <a:ext cx="0" cy="0"/>
          <a:chOff x="0" y="0"/>
          <a:chExt cx="0" cy="0"/>
        </a:xfrm>
      </p:grpSpPr>
      <p:sp>
        <p:nvSpPr>
          <p:cNvPr id="2" name="Text 0"/>
          <p:cNvSpPr txBox="1"/>
          <p:nvPr/>
        </p:nvSpPr>
        <p:spPr>
          <a:xfrm>
            <a:off x="731520" y="548640"/>
            <a:ext cx="8229600" cy="320040"/>
          </a:xfrm>
          <a:prstGeom prst="rect">
            <a:avLst/>
          </a:prstGeom>
          <a:noFill/>
          <a:ln/>
        </p:spPr>
        <p:txBody>
          <a:bodyPr wrap="square" lIns="0" tIns="0" rIns="0" bIns="0" rtlCol="0" anchor="t"/>
          <a:lstStyle/>
          <a:p>
            <a:pPr indent="0" marL="0">
              <a:buNone/>
            </a:pPr>
            <a:r>
              <a:rPr lang="en-US" sz="1300" b="1" spc="300" kern="0" dirty="0">
                <a:solidFill>
                  <a:srgbClr val="E3A646"/>
                </a:solidFill>
                <a:latin typeface="Calibri" pitchFamily="34" charset="0"/>
                <a:ea typeface="Calibri" pitchFamily="34" charset="-122"/>
                <a:cs typeface="Calibri" pitchFamily="34" charset="-120"/>
              </a:rPr>
              <a:t>VELLORE INSTITUTE OF TECHNOLOGY, VELLORE</a:t>
            </a:r>
            <a:endParaRPr lang="en-US" sz="1300" dirty="0"/>
          </a:p>
        </p:txBody>
      </p:sp>
      <p:sp>
        <p:nvSpPr>
          <p:cNvPr id="3" name="Text 1"/>
          <p:cNvSpPr txBox="1"/>
          <p:nvPr/>
        </p:nvSpPr>
        <p:spPr>
          <a:xfrm>
            <a:off x="731520" y="896112"/>
            <a:ext cx="8229600" cy="27432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School of Computer Science and Engineering (SCOPE)</a:t>
            </a:r>
            <a:endParaRPr lang="en-US" sz="1300" dirty="0"/>
          </a:p>
        </p:txBody>
      </p:sp>
      <p:sp>
        <p:nvSpPr>
          <p:cNvPr id="4" name="Text 2"/>
          <p:cNvSpPr txBox="1"/>
          <p:nvPr/>
        </p:nvSpPr>
        <p:spPr>
          <a:xfrm>
            <a:off x="731520" y="1874520"/>
            <a:ext cx="10058400" cy="320040"/>
          </a:xfrm>
          <a:prstGeom prst="rect">
            <a:avLst/>
          </a:prstGeom>
          <a:noFill/>
          <a:ln/>
        </p:spPr>
        <p:txBody>
          <a:bodyPr wrap="square" lIns="0" tIns="0" rIns="0" bIns="0" rtlCol="0" anchor="t"/>
          <a:lstStyle/>
          <a:p>
            <a:pPr indent="0" marL="0">
              <a:buNone/>
            </a:pPr>
            <a:r>
              <a:rPr lang="en-US" sz="1500" dirty="0">
                <a:solidFill>
                  <a:srgbClr val="AFC0D8"/>
                </a:solidFill>
                <a:latin typeface="Calibri" pitchFamily="34" charset="0"/>
                <a:ea typeface="Calibri" pitchFamily="34" charset="-122"/>
                <a:cs typeface="Calibri" pitchFamily="34" charset="-120"/>
              </a:rPr>
              <a:t>BCSE303P  ·  Operating Systems Laboratory  ·  Project Review 2</a:t>
            </a:r>
            <a:endParaRPr lang="en-US" sz="1500" dirty="0"/>
          </a:p>
        </p:txBody>
      </p:sp>
      <p:sp>
        <p:nvSpPr>
          <p:cNvPr id="5" name="Text 3"/>
          <p:cNvSpPr txBox="1"/>
          <p:nvPr/>
        </p:nvSpPr>
        <p:spPr>
          <a:xfrm>
            <a:off x="731520" y="2240280"/>
            <a:ext cx="10058400" cy="1005840"/>
          </a:xfrm>
          <a:prstGeom prst="rect">
            <a:avLst/>
          </a:prstGeom>
          <a:noFill/>
          <a:ln/>
        </p:spPr>
        <p:txBody>
          <a:bodyPr wrap="square" lIns="0" tIns="0" rIns="0" bIns="0" rtlCol="0" anchor="t"/>
          <a:lstStyle/>
          <a:p>
            <a:pPr indent="0" marL="0">
              <a:buNone/>
            </a:pPr>
            <a:r>
              <a:rPr lang="en-US" sz="6000" b="1" spc="400" kern="0" dirty="0">
                <a:solidFill>
                  <a:srgbClr val="FFFFFF"/>
                </a:solidFill>
                <a:latin typeface="Cambria" pitchFamily="34" charset="0"/>
                <a:ea typeface="Cambria" pitchFamily="34" charset="-122"/>
                <a:cs typeface="Cambria" pitchFamily="34" charset="-120"/>
              </a:rPr>
              <a:t>CHIMERA</a:t>
            </a:r>
            <a:endParaRPr lang="en-US" sz="6000" dirty="0"/>
          </a:p>
        </p:txBody>
      </p:sp>
      <p:sp>
        <p:nvSpPr>
          <p:cNvPr id="6" name="Text 4"/>
          <p:cNvSpPr txBox="1"/>
          <p:nvPr/>
        </p:nvSpPr>
        <p:spPr>
          <a:xfrm>
            <a:off x="731520" y="3246120"/>
            <a:ext cx="10515600" cy="457200"/>
          </a:xfrm>
          <a:prstGeom prst="rect">
            <a:avLst/>
          </a:prstGeom>
          <a:noFill/>
          <a:ln/>
        </p:spPr>
        <p:txBody>
          <a:bodyPr wrap="square" lIns="0" tIns="0" rIns="0" bIns="0" rtlCol="0" anchor="t"/>
          <a:lstStyle/>
          <a:p>
            <a:pPr indent="0" marL="0">
              <a:buNone/>
            </a:pPr>
            <a:r>
              <a:rPr lang="en-US" sz="2400" dirty="0">
                <a:solidFill>
                  <a:srgbClr val="CADCFC"/>
                </a:solidFill>
                <a:latin typeface="Cambria" pitchFamily="34" charset="0"/>
                <a:ea typeface="Cambria" pitchFamily="34" charset="-122"/>
                <a:cs typeface="Cambria" pitchFamily="34" charset="-120"/>
              </a:rPr>
              <a:t>Delay-Aware Predictive Coupled Autoscaling for Kubernetes</a:t>
            </a:r>
            <a:endParaRPr lang="en-US" sz="2400" dirty="0"/>
          </a:p>
        </p:txBody>
      </p:sp>
      <p:sp>
        <p:nvSpPr>
          <p:cNvPr id="7" name="Text 5"/>
          <p:cNvSpPr txBox="1"/>
          <p:nvPr/>
        </p:nvSpPr>
        <p:spPr>
          <a:xfrm>
            <a:off x="731520" y="3794760"/>
            <a:ext cx="9601200" cy="365760"/>
          </a:xfrm>
          <a:prstGeom prst="rect">
            <a:avLst/>
          </a:prstGeom>
          <a:noFill/>
          <a:ln/>
        </p:spPr>
        <p:txBody>
          <a:bodyPr wrap="square" lIns="0" tIns="0" rIns="0" bIns="0" rtlCol="0" anchor="t"/>
          <a:lstStyle/>
          <a:p>
            <a:pPr indent="0" marL="0">
              <a:buNone/>
            </a:pPr>
            <a:r>
              <a:rPr lang="en-US" sz="1500" dirty="0">
                <a:solidFill>
                  <a:srgbClr val="AFC0D8"/>
                </a:solidFill>
                <a:latin typeface="Calibri" pitchFamily="34" charset="0"/>
                <a:ea typeface="Calibri" pitchFamily="34" charset="-122"/>
                <a:cs typeface="Calibri" pitchFamily="34" charset="-120"/>
              </a:rPr>
              <a:t>A joint horizontal + vertical pod autoscaler that treats resource scaling as a delay-aware optimal control problem.</a:t>
            </a:r>
            <a:endParaRPr lang="en-US" sz="1500" dirty="0"/>
          </a:p>
        </p:txBody>
      </p:sp>
      <p:sp>
        <p:nvSpPr>
          <p:cNvPr id="8" name="Shape 6"/>
          <p:cNvSpPr/>
          <p:nvPr/>
        </p:nvSpPr>
        <p:spPr>
          <a:xfrm>
            <a:off x="731520" y="4754880"/>
            <a:ext cx="10725912" cy="0"/>
          </a:xfrm>
          <a:prstGeom prst="line">
            <a:avLst/>
          </a:prstGeom>
          <a:noFill/>
          <a:ln w="12700">
            <a:solidFill>
              <a:srgbClr val="2E4263"/>
            </a:solidFill>
            <a:prstDash val="solid"/>
          </a:ln>
        </p:spPr>
      </p:sp>
      <p:sp>
        <p:nvSpPr>
          <p:cNvPr id="9" name="Text 7"/>
          <p:cNvSpPr txBox="1"/>
          <p:nvPr/>
        </p:nvSpPr>
        <p:spPr>
          <a:xfrm>
            <a:off x="731520" y="4983480"/>
            <a:ext cx="3657600" cy="228600"/>
          </a:xfrm>
          <a:prstGeom prst="rect">
            <a:avLst/>
          </a:prstGeom>
          <a:noFill/>
          <a:ln/>
        </p:spPr>
        <p:txBody>
          <a:bodyPr wrap="square" lIns="0" tIns="0" rIns="0" bIns="0" rtlCol="0" anchor="t"/>
          <a:lstStyle/>
          <a:p>
            <a:pPr indent="0" marL="0">
              <a:buNone/>
            </a:pPr>
            <a:r>
              <a:rPr lang="en-US" sz="1000" b="1" spc="200" kern="0" dirty="0">
                <a:solidFill>
                  <a:srgbClr val="E3A646"/>
                </a:solidFill>
                <a:latin typeface="Calibri" pitchFamily="34" charset="0"/>
                <a:ea typeface="Calibri" pitchFamily="34" charset="-122"/>
                <a:cs typeface="Calibri" pitchFamily="34" charset="-120"/>
              </a:rPr>
              <a:t>SUBMITTED BY</a:t>
            </a:r>
            <a:endParaRPr lang="en-US" sz="1000" dirty="0"/>
          </a:p>
        </p:txBody>
      </p:sp>
      <p:sp>
        <p:nvSpPr>
          <p:cNvPr id="10" name="Text 8"/>
          <p:cNvSpPr txBox="1"/>
          <p:nvPr/>
        </p:nvSpPr>
        <p:spPr>
          <a:xfrm>
            <a:off x="731520" y="5303520"/>
            <a:ext cx="2834640" cy="3200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Adithyan C S S</a:t>
            </a:r>
            <a:endParaRPr lang="en-US" sz="1700" dirty="0"/>
          </a:p>
        </p:txBody>
      </p:sp>
      <p:sp>
        <p:nvSpPr>
          <p:cNvPr id="11" name="Text 9"/>
          <p:cNvSpPr txBox="1"/>
          <p:nvPr/>
        </p:nvSpPr>
        <p:spPr>
          <a:xfrm>
            <a:off x="731520" y="5641848"/>
            <a:ext cx="2834640" cy="274320"/>
          </a:xfrm>
          <a:prstGeom prst="rect">
            <a:avLst/>
          </a:prstGeom>
          <a:noFill/>
          <a:ln/>
        </p:spPr>
        <p:txBody>
          <a:bodyPr wrap="square" lIns="0" tIns="0" rIns="0" bIns="0" rtlCol="0" anchor="t"/>
          <a:lstStyle/>
          <a:p>
            <a:pPr indent="0" marL="0">
              <a:buNone/>
            </a:pPr>
            <a:r>
              <a:rPr lang="en-US" sz="1300" dirty="0">
                <a:solidFill>
                  <a:srgbClr val="AFC0D8"/>
                </a:solidFill>
                <a:latin typeface="Calibri" pitchFamily="34" charset="0"/>
                <a:ea typeface="Calibri" pitchFamily="34" charset="-122"/>
                <a:cs typeface="Calibri" pitchFamily="34" charset="-120"/>
              </a:rPr>
              <a:t>24BCE2820</a:t>
            </a:r>
            <a:endParaRPr lang="en-US" sz="1300" dirty="0"/>
          </a:p>
        </p:txBody>
      </p:sp>
      <p:sp>
        <p:nvSpPr>
          <p:cNvPr id="12" name="Text 10"/>
          <p:cNvSpPr txBox="1"/>
          <p:nvPr/>
        </p:nvSpPr>
        <p:spPr>
          <a:xfrm>
            <a:off x="3749040" y="5303520"/>
            <a:ext cx="2834640" cy="3200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Vishal B S</a:t>
            </a:r>
            <a:endParaRPr lang="en-US" sz="1700" dirty="0"/>
          </a:p>
        </p:txBody>
      </p:sp>
      <p:sp>
        <p:nvSpPr>
          <p:cNvPr id="13" name="Text 11"/>
          <p:cNvSpPr txBox="1"/>
          <p:nvPr/>
        </p:nvSpPr>
        <p:spPr>
          <a:xfrm>
            <a:off x="3749040" y="5641848"/>
            <a:ext cx="2834640" cy="274320"/>
          </a:xfrm>
          <a:prstGeom prst="rect">
            <a:avLst/>
          </a:prstGeom>
          <a:noFill/>
          <a:ln/>
        </p:spPr>
        <p:txBody>
          <a:bodyPr wrap="square" lIns="0" tIns="0" rIns="0" bIns="0" rtlCol="0" anchor="t"/>
          <a:lstStyle/>
          <a:p>
            <a:pPr indent="0" marL="0">
              <a:buNone/>
            </a:pPr>
            <a:r>
              <a:rPr lang="en-US" sz="1300" dirty="0">
                <a:solidFill>
                  <a:srgbClr val="AFC0D8"/>
                </a:solidFill>
                <a:latin typeface="Calibri" pitchFamily="34" charset="0"/>
                <a:ea typeface="Calibri" pitchFamily="34" charset="-122"/>
                <a:cs typeface="Calibri" pitchFamily="34" charset="-120"/>
              </a:rPr>
              <a:t>24BCE2475</a:t>
            </a:r>
            <a:endParaRPr lang="en-US" sz="1300" dirty="0"/>
          </a:p>
        </p:txBody>
      </p:sp>
      <p:sp>
        <p:nvSpPr>
          <p:cNvPr id="14" name="Text 12"/>
          <p:cNvSpPr txBox="1"/>
          <p:nvPr/>
        </p:nvSpPr>
        <p:spPr>
          <a:xfrm>
            <a:off x="6766560" y="5303520"/>
            <a:ext cx="2834640" cy="3200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Madhan A</a:t>
            </a:r>
            <a:endParaRPr lang="en-US" sz="1700" dirty="0"/>
          </a:p>
        </p:txBody>
      </p:sp>
      <p:sp>
        <p:nvSpPr>
          <p:cNvPr id="15" name="Text 13"/>
          <p:cNvSpPr txBox="1"/>
          <p:nvPr/>
        </p:nvSpPr>
        <p:spPr>
          <a:xfrm>
            <a:off x="6766560" y="5641848"/>
            <a:ext cx="2834640" cy="274320"/>
          </a:xfrm>
          <a:prstGeom prst="rect">
            <a:avLst/>
          </a:prstGeom>
          <a:noFill/>
          <a:ln/>
        </p:spPr>
        <p:txBody>
          <a:bodyPr wrap="square" lIns="0" tIns="0" rIns="0" bIns="0" rtlCol="0" anchor="t"/>
          <a:lstStyle/>
          <a:p>
            <a:pPr indent="0" marL="0">
              <a:buNone/>
            </a:pPr>
            <a:r>
              <a:rPr lang="en-US" sz="1300" dirty="0">
                <a:solidFill>
                  <a:srgbClr val="AFC0D8"/>
                </a:solidFill>
                <a:latin typeface="Calibri" pitchFamily="34" charset="0"/>
                <a:ea typeface="Calibri" pitchFamily="34" charset="-122"/>
                <a:cs typeface="Calibri" pitchFamily="34" charset="-120"/>
              </a:rPr>
              <a:t>24BCE0159</a:t>
            </a:r>
            <a:endParaRPr lang="en-US" sz="1300" dirty="0"/>
          </a:p>
        </p:txBody>
      </p:sp>
      <p:sp>
        <p:nvSpPr>
          <p:cNvPr id="16" name="Text 14"/>
          <p:cNvSpPr txBox="1"/>
          <p:nvPr/>
        </p:nvSpPr>
        <p:spPr>
          <a:xfrm>
            <a:off x="9628632" y="5303520"/>
            <a:ext cx="1828800" cy="320040"/>
          </a:xfrm>
          <a:prstGeom prst="rect">
            <a:avLst/>
          </a:prstGeom>
          <a:noFill/>
          <a:ln/>
        </p:spPr>
        <p:txBody>
          <a:bodyPr wrap="square" lIns="0" tIns="0" rIns="0" bIns="0" rtlCol="0" anchor="t"/>
          <a:lstStyle/>
          <a:p>
            <a:pPr algn="r" indent="0" marL="0">
              <a:buNone/>
            </a:pPr>
            <a:r>
              <a:rPr lang="en-US" sz="1300" dirty="0">
                <a:solidFill>
                  <a:srgbClr val="AFC0D8"/>
                </a:solidFill>
                <a:latin typeface="Calibri" pitchFamily="34" charset="0"/>
                <a:ea typeface="Calibri" pitchFamily="34" charset="-122"/>
                <a:cs typeface="Calibri" pitchFamily="34" charset="-120"/>
              </a:rPr>
              <a:t>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OVERVIEW</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Presentation outline</a:t>
            </a:r>
            <a:endParaRPr lang="en-US" sz="3000" dirty="0"/>
          </a:p>
        </p:txBody>
      </p:sp>
      <p:sp>
        <p:nvSpPr>
          <p:cNvPr id="4" name="Shape 2"/>
          <p:cNvSpPr/>
          <p:nvPr/>
        </p:nvSpPr>
        <p:spPr>
          <a:xfrm>
            <a:off x="731520" y="1691640"/>
            <a:ext cx="457200" cy="457200"/>
          </a:xfrm>
          <a:prstGeom prst="ellipse">
            <a:avLst/>
          </a:prstGeom>
          <a:solidFill>
            <a:srgbClr val="13223A"/>
          </a:solidFill>
          <a:ln w="12700">
            <a:solidFill>
              <a:srgbClr val="13223A"/>
            </a:solidFill>
            <a:prstDash val="solid"/>
          </a:ln>
        </p:spPr>
      </p:sp>
      <p:sp>
        <p:nvSpPr>
          <p:cNvPr id="5" name="Text 3"/>
          <p:cNvSpPr txBox="1"/>
          <p:nvPr/>
        </p:nvSpPr>
        <p:spPr>
          <a:xfrm>
            <a:off x="731520" y="16916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6" name="Text 4"/>
          <p:cNvSpPr txBox="1"/>
          <p:nvPr/>
        </p:nvSpPr>
        <p:spPr>
          <a:xfrm>
            <a:off x="1417320" y="169164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Problem statement</a:t>
            </a:r>
            <a:endParaRPr lang="en-US" sz="1800" dirty="0"/>
          </a:p>
        </p:txBody>
      </p:sp>
      <p:sp>
        <p:nvSpPr>
          <p:cNvPr id="7" name="Shape 5"/>
          <p:cNvSpPr/>
          <p:nvPr/>
        </p:nvSpPr>
        <p:spPr>
          <a:xfrm>
            <a:off x="731520" y="2423160"/>
            <a:ext cx="457200" cy="457200"/>
          </a:xfrm>
          <a:prstGeom prst="ellipse">
            <a:avLst/>
          </a:prstGeom>
          <a:solidFill>
            <a:srgbClr val="13223A"/>
          </a:solidFill>
          <a:ln w="12700">
            <a:solidFill>
              <a:srgbClr val="13223A"/>
            </a:solidFill>
            <a:prstDash val="solid"/>
          </a:ln>
        </p:spPr>
      </p:sp>
      <p:sp>
        <p:nvSpPr>
          <p:cNvPr id="8" name="Text 6"/>
          <p:cNvSpPr txBox="1"/>
          <p:nvPr/>
        </p:nvSpPr>
        <p:spPr>
          <a:xfrm>
            <a:off x="731520" y="24231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9" name="Text 7"/>
          <p:cNvSpPr txBox="1"/>
          <p:nvPr/>
        </p:nvSpPr>
        <p:spPr>
          <a:xfrm>
            <a:off x="1417320" y="242316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System design &amp; architecture</a:t>
            </a:r>
            <a:endParaRPr lang="en-US" sz="1800" dirty="0"/>
          </a:p>
        </p:txBody>
      </p:sp>
      <p:sp>
        <p:nvSpPr>
          <p:cNvPr id="10" name="Shape 8"/>
          <p:cNvSpPr/>
          <p:nvPr/>
        </p:nvSpPr>
        <p:spPr>
          <a:xfrm>
            <a:off x="731520" y="3154680"/>
            <a:ext cx="457200" cy="457200"/>
          </a:xfrm>
          <a:prstGeom prst="ellipse">
            <a:avLst/>
          </a:prstGeom>
          <a:solidFill>
            <a:srgbClr val="13223A"/>
          </a:solidFill>
          <a:ln w="12700">
            <a:solidFill>
              <a:srgbClr val="13223A"/>
            </a:solidFill>
            <a:prstDash val="solid"/>
          </a:ln>
        </p:spPr>
      </p:sp>
      <p:sp>
        <p:nvSpPr>
          <p:cNvPr id="11" name="Text 9"/>
          <p:cNvSpPr txBox="1"/>
          <p:nvPr/>
        </p:nvSpPr>
        <p:spPr>
          <a:xfrm>
            <a:off x="731520" y="31546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2" name="Text 10"/>
          <p:cNvSpPr txBox="1"/>
          <p:nvPr/>
        </p:nvSpPr>
        <p:spPr>
          <a:xfrm>
            <a:off x="1417320" y="315468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Core algorithm — the control law</a:t>
            </a:r>
            <a:endParaRPr lang="en-US" sz="1800" dirty="0"/>
          </a:p>
        </p:txBody>
      </p:sp>
      <p:sp>
        <p:nvSpPr>
          <p:cNvPr id="13" name="Shape 11"/>
          <p:cNvSpPr/>
          <p:nvPr/>
        </p:nvSpPr>
        <p:spPr>
          <a:xfrm>
            <a:off x="731520" y="3886200"/>
            <a:ext cx="457200" cy="457200"/>
          </a:xfrm>
          <a:prstGeom prst="ellipse">
            <a:avLst/>
          </a:prstGeom>
          <a:solidFill>
            <a:srgbClr val="13223A"/>
          </a:solidFill>
          <a:ln w="12700">
            <a:solidFill>
              <a:srgbClr val="13223A"/>
            </a:solidFill>
            <a:prstDash val="solid"/>
          </a:ln>
        </p:spPr>
      </p:sp>
      <p:sp>
        <p:nvSpPr>
          <p:cNvPr id="14" name="Text 12"/>
          <p:cNvSpPr txBox="1"/>
          <p:nvPr/>
        </p:nvSpPr>
        <p:spPr>
          <a:xfrm>
            <a:off x="731520" y="38862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15" name="Text 13"/>
          <p:cNvSpPr txBox="1"/>
          <p:nvPr/>
        </p:nvSpPr>
        <p:spPr>
          <a:xfrm>
            <a:off x="1417320" y="388620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Datasets &amp; experimental setup</a:t>
            </a:r>
            <a:endParaRPr lang="en-US" sz="1800" dirty="0"/>
          </a:p>
        </p:txBody>
      </p:sp>
      <p:sp>
        <p:nvSpPr>
          <p:cNvPr id="16" name="Shape 14"/>
          <p:cNvSpPr/>
          <p:nvPr/>
        </p:nvSpPr>
        <p:spPr>
          <a:xfrm>
            <a:off x="731520" y="4617720"/>
            <a:ext cx="457200" cy="457200"/>
          </a:xfrm>
          <a:prstGeom prst="ellipse">
            <a:avLst/>
          </a:prstGeom>
          <a:solidFill>
            <a:srgbClr val="13223A"/>
          </a:solidFill>
          <a:ln w="12700">
            <a:solidFill>
              <a:srgbClr val="13223A"/>
            </a:solidFill>
            <a:prstDash val="solid"/>
          </a:ln>
        </p:spPr>
      </p:sp>
      <p:sp>
        <p:nvSpPr>
          <p:cNvPr id="17" name="Text 15"/>
          <p:cNvSpPr txBox="1"/>
          <p:nvPr/>
        </p:nvSpPr>
        <p:spPr>
          <a:xfrm>
            <a:off x="731520" y="46177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18" name="Text 16"/>
          <p:cNvSpPr txBox="1"/>
          <p:nvPr/>
        </p:nvSpPr>
        <p:spPr>
          <a:xfrm>
            <a:off x="1417320" y="461772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Module identification &amp; completion</a:t>
            </a:r>
            <a:endParaRPr lang="en-US" sz="1800" dirty="0"/>
          </a:p>
        </p:txBody>
      </p:sp>
      <p:sp>
        <p:nvSpPr>
          <p:cNvPr id="19" name="Shape 17"/>
          <p:cNvSpPr/>
          <p:nvPr/>
        </p:nvSpPr>
        <p:spPr>
          <a:xfrm>
            <a:off x="731520" y="5349240"/>
            <a:ext cx="457200" cy="457200"/>
          </a:xfrm>
          <a:prstGeom prst="ellipse">
            <a:avLst/>
          </a:prstGeom>
          <a:solidFill>
            <a:srgbClr val="13223A"/>
          </a:solidFill>
          <a:ln w="12700">
            <a:solidFill>
              <a:srgbClr val="13223A"/>
            </a:solidFill>
            <a:prstDash val="solid"/>
          </a:ln>
        </p:spPr>
      </p:sp>
      <p:sp>
        <p:nvSpPr>
          <p:cNvPr id="20" name="Text 18"/>
          <p:cNvSpPr txBox="1"/>
          <p:nvPr/>
        </p:nvSpPr>
        <p:spPr>
          <a:xfrm>
            <a:off x="731520" y="53492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21" name="Text 19"/>
          <p:cNvSpPr txBox="1"/>
          <p:nvPr/>
        </p:nvSpPr>
        <p:spPr>
          <a:xfrm>
            <a:off x="1417320" y="534924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Results &amp; analysis</a:t>
            </a:r>
            <a:endParaRPr lang="en-US" sz="1800" dirty="0"/>
          </a:p>
        </p:txBody>
      </p:sp>
      <p:sp>
        <p:nvSpPr>
          <p:cNvPr id="22" name="Shape 20"/>
          <p:cNvSpPr/>
          <p:nvPr/>
        </p:nvSpPr>
        <p:spPr>
          <a:xfrm>
            <a:off x="6400800" y="1691640"/>
            <a:ext cx="457200" cy="457200"/>
          </a:xfrm>
          <a:prstGeom prst="ellipse">
            <a:avLst/>
          </a:prstGeom>
          <a:solidFill>
            <a:srgbClr val="C7811A"/>
          </a:solidFill>
          <a:ln w="12700">
            <a:solidFill>
              <a:srgbClr val="C7811A"/>
            </a:solidFill>
            <a:prstDash val="solid"/>
          </a:ln>
        </p:spPr>
      </p:sp>
      <p:sp>
        <p:nvSpPr>
          <p:cNvPr id="23" name="Text 21"/>
          <p:cNvSpPr txBox="1"/>
          <p:nvPr/>
        </p:nvSpPr>
        <p:spPr>
          <a:xfrm>
            <a:off x="6400800" y="16916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24" name="Text 22"/>
          <p:cNvSpPr txBox="1"/>
          <p:nvPr/>
        </p:nvSpPr>
        <p:spPr>
          <a:xfrm>
            <a:off x="7086600" y="169164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Positioning against related work</a:t>
            </a:r>
            <a:endParaRPr lang="en-US" sz="1800" dirty="0"/>
          </a:p>
        </p:txBody>
      </p:sp>
      <p:sp>
        <p:nvSpPr>
          <p:cNvPr id="25" name="Shape 23"/>
          <p:cNvSpPr/>
          <p:nvPr/>
        </p:nvSpPr>
        <p:spPr>
          <a:xfrm>
            <a:off x="6400800" y="2423160"/>
            <a:ext cx="457200" cy="457200"/>
          </a:xfrm>
          <a:prstGeom prst="ellipse">
            <a:avLst/>
          </a:prstGeom>
          <a:solidFill>
            <a:srgbClr val="C7811A"/>
          </a:solidFill>
          <a:ln w="12700">
            <a:solidFill>
              <a:srgbClr val="C7811A"/>
            </a:solidFill>
            <a:prstDash val="solid"/>
          </a:ln>
        </p:spPr>
      </p:sp>
      <p:sp>
        <p:nvSpPr>
          <p:cNvPr id="26" name="Text 24"/>
          <p:cNvSpPr txBox="1"/>
          <p:nvPr/>
        </p:nvSpPr>
        <p:spPr>
          <a:xfrm>
            <a:off x="6400800" y="24231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08</a:t>
            </a:r>
            <a:endParaRPr lang="en-US" sz="1200" dirty="0"/>
          </a:p>
        </p:txBody>
      </p:sp>
      <p:sp>
        <p:nvSpPr>
          <p:cNvPr id="27" name="Text 25"/>
          <p:cNvSpPr txBox="1"/>
          <p:nvPr/>
        </p:nvSpPr>
        <p:spPr>
          <a:xfrm>
            <a:off x="7086600" y="242316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Engineering verification</a:t>
            </a:r>
            <a:endParaRPr lang="en-US" sz="1800" dirty="0"/>
          </a:p>
        </p:txBody>
      </p:sp>
      <p:sp>
        <p:nvSpPr>
          <p:cNvPr id="28" name="Shape 26"/>
          <p:cNvSpPr/>
          <p:nvPr/>
        </p:nvSpPr>
        <p:spPr>
          <a:xfrm>
            <a:off x="6400800" y="3154680"/>
            <a:ext cx="457200" cy="457200"/>
          </a:xfrm>
          <a:prstGeom prst="ellipse">
            <a:avLst/>
          </a:prstGeom>
          <a:solidFill>
            <a:srgbClr val="C7811A"/>
          </a:solidFill>
          <a:ln w="12700">
            <a:solidFill>
              <a:srgbClr val="C7811A"/>
            </a:solidFill>
            <a:prstDash val="solid"/>
          </a:ln>
        </p:spPr>
      </p:sp>
      <p:sp>
        <p:nvSpPr>
          <p:cNvPr id="29" name="Text 27"/>
          <p:cNvSpPr txBox="1"/>
          <p:nvPr/>
        </p:nvSpPr>
        <p:spPr>
          <a:xfrm>
            <a:off x="6400800" y="31546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09</a:t>
            </a:r>
            <a:endParaRPr lang="en-US" sz="1200" dirty="0"/>
          </a:p>
        </p:txBody>
      </p:sp>
      <p:sp>
        <p:nvSpPr>
          <p:cNvPr id="30" name="Text 28"/>
          <p:cNvSpPr txBox="1"/>
          <p:nvPr/>
        </p:nvSpPr>
        <p:spPr>
          <a:xfrm>
            <a:off x="7086600" y="315468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Kubernetes integration</a:t>
            </a:r>
            <a:endParaRPr lang="en-US" sz="1800" dirty="0"/>
          </a:p>
        </p:txBody>
      </p:sp>
      <p:sp>
        <p:nvSpPr>
          <p:cNvPr id="31" name="Shape 29"/>
          <p:cNvSpPr/>
          <p:nvPr/>
        </p:nvSpPr>
        <p:spPr>
          <a:xfrm>
            <a:off x="6400800" y="3886200"/>
            <a:ext cx="457200" cy="457200"/>
          </a:xfrm>
          <a:prstGeom prst="ellipse">
            <a:avLst/>
          </a:prstGeom>
          <a:solidFill>
            <a:srgbClr val="C7811A"/>
          </a:solidFill>
          <a:ln w="12700">
            <a:solidFill>
              <a:srgbClr val="C7811A"/>
            </a:solidFill>
            <a:prstDash val="solid"/>
          </a:ln>
        </p:spPr>
      </p:sp>
      <p:sp>
        <p:nvSpPr>
          <p:cNvPr id="32" name="Text 30"/>
          <p:cNvSpPr txBox="1"/>
          <p:nvPr/>
        </p:nvSpPr>
        <p:spPr>
          <a:xfrm>
            <a:off x="6400800" y="38862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33" name="Text 31"/>
          <p:cNvSpPr txBox="1"/>
          <p:nvPr/>
        </p:nvSpPr>
        <p:spPr>
          <a:xfrm>
            <a:off x="7086600" y="388620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Outputs &amp; live demonstration</a:t>
            </a:r>
            <a:endParaRPr lang="en-US" sz="1800" dirty="0"/>
          </a:p>
        </p:txBody>
      </p:sp>
      <p:sp>
        <p:nvSpPr>
          <p:cNvPr id="34" name="Shape 32"/>
          <p:cNvSpPr/>
          <p:nvPr/>
        </p:nvSpPr>
        <p:spPr>
          <a:xfrm>
            <a:off x="6400800" y="4617720"/>
            <a:ext cx="457200" cy="457200"/>
          </a:xfrm>
          <a:prstGeom prst="ellipse">
            <a:avLst/>
          </a:prstGeom>
          <a:solidFill>
            <a:srgbClr val="C7811A"/>
          </a:solidFill>
          <a:ln w="12700">
            <a:solidFill>
              <a:srgbClr val="C7811A"/>
            </a:solidFill>
            <a:prstDash val="solid"/>
          </a:ln>
        </p:spPr>
      </p:sp>
      <p:sp>
        <p:nvSpPr>
          <p:cNvPr id="35" name="Text 33"/>
          <p:cNvSpPr txBox="1"/>
          <p:nvPr/>
        </p:nvSpPr>
        <p:spPr>
          <a:xfrm>
            <a:off x="6400800" y="46177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36" name="Text 34"/>
          <p:cNvSpPr txBox="1"/>
          <p:nvPr/>
        </p:nvSpPr>
        <p:spPr>
          <a:xfrm>
            <a:off x="7086600" y="461772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Limitations &amp; future work</a:t>
            </a:r>
            <a:endParaRPr lang="en-US" sz="1800" dirty="0"/>
          </a:p>
        </p:txBody>
      </p:sp>
      <p:sp>
        <p:nvSpPr>
          <p:cNvPr id="37" name="Shape 35"/>
          <p:cNvSpPr/>
          <p:nvPr/>
        </p:nvSpPr>
        <p:spPr>
          <a:xfrm>
            <a:off x="6400800" y="5349240"/>
            <a:ext cx="457200" cy="457200"/>
          </a:xfrm>
          <a:prstGeom prst="ellipse">
            <a:avLst/>
          </a:prstGeom>
          <a:solidFill>
            <a:srgbClr val="C7811A"/>
          </a:solidFill>
          <a:ln w="12700">
            <a:solidFill>
              <a:srgbClr val="C7811A"/>
            </a:solidFill>
            <a:prstDash val="solid"/>
          </a:ln>
        </p:spPr>
      </p:sp>
      <p:sp>
        <p:nvSpPr>
          <p:cNvPr id="38" name="Text 36"/>
          <p:cNvSpPr txBox="1"/>
          <p:nvPr/>
        </p:nvSpPr>
        <p:spPr>
          <a:xfrm>
            <a:off x="6400800" y="53492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39" name="Text 37"/>
          <p:cNvSpPr txBox="1"/>
          <p:nvPr/>
        </p:nvSpPr>
        <p:spPr>
          <a:xfrm>
            <a:off x="7086600" y="534924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Conclusion</a:t>
            </a:r>
            <a:endParaRPr lang="en-US" sz="1800" dirty="0"/>
          </a:p>
        </p:txBody>
      </p:sp>
      <p:sp>
        <p:nvSpPr>
          <p:cNvPr id="40" name="Text 38"/>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41" name="Text 39"/>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2 / 21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PROBLEM STATEMENT</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Two actuators, two very different delays</a:t>
            </a:r>
            <a:endParaRPr lang="en-US" sz="3000" dirty="0"/>
          </a:p>
        </p:txBody>
      </p:sp>
      <p:sp>
        <p:nvSpPr>
          <p:cNvPr id="4" name="Text 2"/>
          <p:cNvSpPr txBox="1"/>
          <p:nvPr/>
        </p:nvSpPr>
        <p:spPr>
          <a:xfrm>
            <a:off x="548640" y="1554480"/>
            <a:ext cx="6583680" cy="91440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Kubernetes can add replicas (horizontal) or resize a running container's CPU (vertical). Production systems run both loops independently, so they fight: each sees the other's correction as new error and over-reacts.</a:t>
            </a:r>
            <a:endParaRPr lang="en-US" sz="1600" dirty="0"/>
          </a:p>
        </p:txBody>
      </p:sp>
      <p:sp>
        <p:nvSpPr>
          <p:cNvPr id="5" name="Shape 3"/>
          <p:cNvSpPr/>
          <p:nvPr/>
        </p:nvSpPr>
        <p:spPr>
          <a:xfrm>
            <a:off x="548640" y="2697480"/>
            <a:ext cx="3154680" cy="1645920"/>
          </a:xfrm>
          <a:prstGeom prst="roundRect">
            <a:avLst>
              <a:gd name="adj" fmla="val 4444"/>
            </a:avLst>
          </a:prstGeom>
          <a:solidFill>
            <a:srgbClr val="F3F5F8"/>
          </a:solidFill>
          <a:ln w="12700">
            <a:solidFill>
              <a:srgbClr val="F3F5F8"/>
            </a:solidFill>
            <a:prstDash val="solid"/>
          </a:ln>
        </p:spPr>
      </p:sp>
      <p:sp>
        <p:nvSpPr>
          <p:cNvPr id="6" name="Text 4"/>
          <p:cNvSpPr txBox="1"/>
          <p:nvPr/>
        </p:nvSpPr>
        <p:spPr>
          <a:xfrm>
            <a:off x="777240" y="2834640"/>
            <a:ext cx="2743200" cy="731520"/>
          </a:xfrm>
          <a:prstGeom prst="rect">
            <a:avLst/>
          </a:prstGeom>
          <a:noFill/>
          <a:ln/>
        </p:spPr>
        <p:txBody>
          <a:bodyPr wrap="square" lIns="0" tIns="0" rIns="0" bIns="0" rtlCol="0" anchor="t"/>
          <a:lstStyle/>
          <a:p>
            <a:pPr indent="0" marL="0">
              <a:buNone/>
            </a:pPr>
            <a:r>
              <a:rPr lang="en-US" sz="4000" b="1" dirty="0">
                <a:solidFill>
                  <a:srgbClr val="C7811A"/>
                </a:solidFill>
                <a:latin typeface="Cambria" pitchFamily="34" charset="0"/>
                <a:ea typeface="Cambria" pitchFamily="34" charset="-122"/>
                <a:cs typeface="Cambria" pitchFamily="34" charset="-120"/>
              </a:rPr>
              <a:t>20.0 s</a:t>
            </a:r>
            <a:endParaRPr lang="en-US" sz="4000" dirty="0"/>
          </a:p>
        </p:txBody>
      </p:sp>
      <p:sp>
        <p:nvSpPr>
          <p:cNvPr id="7" name="Text 5"/>
          <p:cNvSpPr txBox="1"/>
          <p:nvPr/>
        </p:nvSpPr>
        <p:spPr>
          <a:xfrm>
            <a:off x="777240" y="3611880"/>
            <a:ext cx="2743200" cy="548640"/>
          </a:xfrm>
          <a:prstGeom prst="rect">
            <a:avLst/>
          </a:prstGeom>
          <a:noFill/>
          <a:ln/>
        </p:spPr>
        <p:txBody>
          <a:bodyPr wrap="square" lIns="0" tIns="0" rIns="0" bIns="0" rtlCol="0" anchor="t"/>
          <a:lstStyle/>
          <a:p>
            <a:pPr indent="0" marL="0">
              <a:buNone/>
            </a:pPr>
            <a:r>
              <a:rPr lang="en-US" sz="1300" dirty="0">
                <a:solidFill>
                  <a:srgbClr val="5B6675"/>
                </a:solidFill>
                <a:latin typeface="Calibri" pitchFamily="34" charset="0"/>
                <a:ea typeface="Calibri" pitchFamily="34" charset="-122"/>
                <a:cs typeface="Calibri" pitchFamily="34" charset="-120"/>
              </a:rPr>
              <a:t>Horizontal delay — schedule and boot a new pod</a:t>
            </a:r>
            <a:endParaRPr lang="en-US" sz="1300" dirty="0"/>
          </a:p>
        </p:txBody>
      </p:sp>
      <p:sp>
        <p:nvSpPr>
          <p:cNvPr id="8" name="Shape 6"/>
          <p:cNvSpPr/>
          <p:nvPr/>
        </p:nvSpPr>
        <p:spPr>
          <a:xfrm>
            <a:off x="3977640" y="2697480"/>
            <a:ext cx="3154680" cy="1645920"/>
          </a:xfrm>
          <a:prstGeom prst="roundRect">
            <a:avLst>
              <a:gd name="adj" fmla="val 4444"/>
            </a:avLst>
          </a:prstGeom>
          <a:solidFill>
            <a:srgbClr val="F3F5F8"/>
          </a:solidFill>
          <a:ln w="12700">
            <a:solidFill>
              <a:srgbClr val="F3F5F8"/>
            </a:solidFill>
            <a:prstDash val="solid"/>
          </a:ln>
        </p:spPr>
      </p:sp>
      <p:sp>
        <p:nvSpPr>
          <p:cNvPr id="9" name="Text 7"/>
          <p:cNvSpPr txBox="1"/>
          <p:nvPr/>
        </p:nvSpPr>
        <p:spPr>
          <a:xfrm>
            <a:off x="4206240" y="2834640"/>
            <a:ext cx="2743200" cy="731520"/>
          </a:xfrm>
          <a:prstGeom prst="rect">
            <a:avLst/>
          </a:prstGeom>
          <a:noFill/>
          <a:ln/>
        </p:spPr>
        <p:txBody>
          <a:bodyPr wrap="square" lIns="0" tIns="0" rIns="0" bIns="0" rtlCol="0" anchor="t"/>
          <a:lstStyle/>
          <a:p>
            <a:pPr indent="0" marL="0">
              <a:buNone/>
            </a:pPr>
            <a:r>
              <a:rPr lang="en-US" sz="4000" b="1" dirty="0">
                <a:solidFill>
                  <a:srgbClr val="0F766E"/>
                </a:solidFill>
                <a:latin typeface="Cambria" pitchFamily="34" charset="0"/>
                <a:ea typeface="Cambria" pitchFamily="34" charset="-122"/>
                <a:cs typeface="Cambria" pitchFamily="34" charset="-120"/>
              </a:rPr>
              <a:t>0.1 s</a:t>
            </a:r>
            <a:endParaRPr lang="en-US" sz="4000" dirty="0"/>
          </a:p>
        </p:txBody>
      </p:sp>
      <p:sp>
        <p:nvSpPr>
          <p:cNvPr id="10" name="Text 8"/>
          <p:cNvSpPr txBox="1"/>
          <p:nvPr/>
        </p:nvSpPr>
        <p:spPr>
          <a:xfrm>
            <a:off x="4206240" y="3611880"/>
            <a:ext cx="2743200" cy="548640"/>
          </a:xfrm>
          <a:prstGeom prst="rect">
            <a:avLst/>
          </a:prstGeom>
          <a:noFill/>
          <a:ln/>
        </p:spPr>
        <p:txBody>
          <a:bodyPr wrap="square" lIns="0" tIns="0" rIns="0" bIns="0" rtlCol="0" anchor="t"/>
          <a:lstStyle/>
          <a:p>
            <a:pPr indent="0" marL="0">
              <a:buNone/>
            </a:pPr>
            <a:r>
              <a:rPr lang="en-US" sz="1300" dirty="0">
                <a:solidFill>
                  <a:srgbClr val="5B6675"/>
                </a:solidFill>
                <a:latin typeface="Calibri" pitchFamily="34" charset="0"/>
                <a:ea typeface="Calibri" pitchFamily="34" charset="-122"/>
                <a:cs typeface="Calibri" pitchFamily="34" charset="-120"/>
              </a:rPr>
              <a:t>Vertical delay — in-place CPU resize (KEP-1287)</a:t>
            </a:r>
            <a:endParaRPr lang="en-US" sz="1300" dirty="0"/>
          </a:p>
        </p:txBody>
      </p:sp>
      <p:sp>
        <p:nvSpPr>
          <p:cNvPr id="11" name="Text 9"/>
          <p:cNvSpPr txBox="1"/>
          <p:nvPr/>
        </p:nvSpPr>
        <p:spPr>
          <a:xfrm>
            <a:off x="548640" y="4617720"/>
            <a:ext cx="6583680" cy="822960"/>
          </a:xfrm>
          <a:prstGeom prst="rect">
            <a:avLst/>
          </a:prstGeom>
          <a:noFill/>
          <a:ln/>
        </p:spPr>
        <p:txBody>
          <a:bodyPr wrap="square" lIns="0" tIns="0" rIns="0" bIns="0" rtlCol="0" anchor="t"/>
          <a:lstStyle/>
          <a:p>
            <a:pPr indent="0" marL="0">
              <a:buNone/>
            </a:pPr>
            <a:r>
              <a:rPr lang="en-US" sz="1500" b="1" dirty="0">
                <a:solidFill>
                  <a:srgbClr val="13223A"/>
                </a:solidFill>
                <a:latin typeface="Calibri" pitchFamily="34" charset="0"/>
                <a:ea typeface="Calibri" pitchFamily="34" charset="-122"/>
                <a:cs typeface="Calibri" pitchFamily="34" charset="-120"/>
              </a:rPr>
              <a:t>A 200× delay asymmetry. </a:t>
            </a:r>
            <a:pPr indent="0" marL="0">
              <a:buNone/>
            </a:pPr>
            <a:r>
              <a:rPr lang="en-US" sz="1500" dirty="0">
                <a:solidFill>
                  <a:srgbClr val="1F2937"/>
                </a:solidFill>
                <a:latin typeface="Calibri" pitchFamily="34" charset="0"/>
                <a:ea typeface="Calibri" pitchFamily="34" charset="-122"/>
                <a:cs typeface="Calibri" pitchFamily="34" charset="-120"/>
              </a:rPr>
              <a:t>A controller blind to it either over-shoots while waiting for pods to boot, or oscillates when they all arrive at once.</a:t>
            </a:r>
            <a:endParaRPr lang="en-US" sz="1500" dirty="0"/>
          </a:p>
        </p:txBody>
      </p:sp>
      <p:sp>
        <p:nvSpPr>
          <p:cNvPr id="12" name="Shape 10"/>
          <p:cNvSpPr/>
          <p:nvPr/>
        </p:nvSpPr>
        <p:spPr>
          <a:xfrm>
            <a:off x="7589520" y="1554480"/>
            <a:ext cx="4050792" cy="4480560"/>
          </a:xfrm>
          <a:prstGeom prst="roundRect">
            <a:avLst>
              <a:gd name="adj" fmla="val 1806"/>
            </a:avLst>
          </a:prstGeom>
          <a:solidFill>
            <a:srgbClr val="13223A"/>
          </a:solidFill>
          <a:ln w="12700">
            <a:solidFill>
              <a:srgbClr val="13223A"/>
            </a:solidFill>
            <a:prstDash val="solid"/>
          </a:ln>
        </p:spPr>
      </p:sp>
      <p:sp>
        <p:nvSpPr>
          <p:cNvPr id="13" name="Text 11"/>
          <p:cNvSpPr txBox="1"/>
          <p:nvPr/>
        </p:nvSpPr>
        <p:spPr>
          <a:xfrm>
            <a:off x="7909560" y="1828800"/>
            <a:ext cx="3474720" cy="274320"/>
          </a:xfrm>
          <a:prstGeom prst="rect">
            <a:avLst/>
          </a:prstGeom>
          <a:noFill/>
          <a:ln/>
        </p:spPr>
        <p:txBody>
          <a:bodyPr wrap="square" lIns="0" tIns="0" rIns="0" bIns="0" rtlCol="0" anchor="t"/>
          <a:lstStyle/>
          <a:p>
            <a:pPr indent="0" marL="0">
              <a:buNone/>
            </a:pPr>
            <a:r>
              <a:rPr lang="en-US" sz="1100" b="1" spc="200" kern="0" dirty="0">
                <a:solidFill>
                  <a:srgbClr val="E3A646"/>
                </a:solidFill>
                <a:latin typeface="Calibri" pitchFamily="34" charset="0"/>
                <a:ea typeface="Calibri" pitchFamily="34" charset="-122"/>
                <a:cs typeface="Calibri" pitchFamily="34" charset="-120"/>
              </a:rPr>
              <a:t>RESEARCH QUESTION</a:t>
            </a:r>
            <a:endParaRPr lang="en-US" sz="1100" dirty="0"/>
          </a:p>
        </p:txBody>
      </p:sp>
      <p:sp>
        <p:nvSpPr>
          <p:cNvPr id="14" name="Text 12"/>
          <p:cNvSpPr txBox="1"/>
          <p:nvPr/>
        </p:nvSpPr>
        <p:spPr>
          <a:xfrm>
            <a:off x="7909560" y="2194560"/>
            <a:ext cx="3474720" cy="1828800"/>
          </a:xfrm>
          <a:prstGeom prst="rect">
            <a:avLst/>
          </a:prstGeom>
          <a:noFill/>
          <a:ln/>
        </p:spPr>
        <p:txBody>
          <a:bodyPr wrap="square" lIns="0" tIns="0" rIns="0" bIns="0" rtlCol="0" anchor="t"/>
          <a:lstStyle/>
          <a:p>
            <a:pPr indent="0" marL="0">
              <a:buNone/>
            </a:pPr>
            <a:r>
              <a:rPr lang="en-US" sz="1800" dirty="0">
                <a:solidFill>
                  <a:srgbClr val="FFFFFF"/>
                </a:solidFill>
                <a:latin typeface="Cambria" pitchFamily="34" charset="0"/>
                <a:ea typeface="Cambria" pitchFamily="34" charset="-122"/>
                <a:cs typeface="Cambria" pitchFamily="34" charset="-120"/>
              </a:rPr>
              <a:t>Can both actuators be driven by a single optimal control law that explicitly models the delay mismatch — instead of two heuristic loops that fight?</a:t>
            </a:r>
            <a:endParaRPr lang="en-US" sz="1800" dirty="0"/>
          </a:p>
        </p:txBody>
      </p:sp>
      <p:sp>
        <p:nvSpPr>
          <p:cNvPr id="15" name="Text 13"/>
          <p:cNvSpPr txBox="1"/>
          <p:nvPr/>
        </p:nvSpPr>
        <p:spPr>
          <a:xfrm>
            <a:off x="7909560" y="4160520"/>
            <a:ext cx="3474720" cy="1645920"/>
          </a:xfrm>
          <a:prstGeom prst="rect">
            <a:avLst/>
          </a:prstGeom>
          <a:noFill/>
          <a:ln/>
        </p:spPr>
        <p:txBody>
          <a:bodyPr wrap="square" lIns="0" tIns="0" rIns="0" bIns="0" rtlCol="0" anchor="t"/>
          <a:lstStyle/>
          <a:p>
            <a:pPr indent="0" marL="0">
              <a:buNone/>
            </a:pPr>
            <a:r>
              <a:rPr lang="en-US" sz="1300" b="1" dirty="0">
                <a:solidFill>
                  <a:srgbClr val="E3A646"/>
                </a:solidFill>
                <a:latin typeface="Calibri" pitchFamily="34" charset="0"/>
                <a:ea typeface="Calibri" pitchFamily="34" charset="-122"/>
                <a:cs typeface="Calibri" pitchFamily="34" charset="-120"/>
              </a:rPr>
              <a:t>Target</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Coordinate v (CPU per pod) and h (replica count)</a:t>
            </a:r>
            <a:endParaRPr lang="en-US" sz="1300" dirty="0"/>
          </a:p>
          <a:p>
            <a:pPr indent="0" marL="0">
              <a:buNone/>
            </a:pPr>
            <a:r>
              <a:rPr lang="en-US" sz="600" dirty="0">
                <a:solidFill>
                  <a:srgbClr val="CADCFC"/>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E3A646"/>
                </a:solidFill>
                <a:latin typeface="Calibri" pitchFamily="34" charset="0"/>
                <a:ea typeface="Calibri" pitchFamily="34" charset="-122"/>
                <a:cs typeface="Calibri" pitchFamily="34" charset="-120"/>
              </a:rPr>
              <a:t>Constraint</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Meet a 500 ms latency SLO at minimum resource cost</a:t>
            </a:r>
            <a:endParaRPr lang="en-US" sz="1300" dirty="0"/>
          </a:p>
        </p:txBody>
      </p:sp>
      <p:sp>
        <p:nvSpPr>
          <p:cNvPr id="16" name="Text 14"/>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7" name="Text 15"/>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3 / 21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SYSTEM DESIGN &amp; ARCHITECTURE</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Three pipelines, one control loop every 15 seconds</a:t>
            </a:r>
            <a:endParaRPr lang="en-US" sz="3000" dirty="0"/>
          </a:p>
        </p:txBody>
      </p:sp>
      <p:sp>
        <p:nvSpPr>
          <p:cNvPr id="4" name="Shape 2"/>
          <p:cNvSpPr/>
          <p:nvPr/>
        </p:nvSpPr>
        <p:spPr>
          <a:xfrm>
            <a:off x="548640" y="1554480"/>
            <a:ext cx="11091672" cy="1005840"/>
          </a:xfrm>
          <a:prstGeom prst="roundRect">
            <a:avLst>
              <a:gd name="adj" fmla="val 7273"/>
            </a:avLst>
          </a:prstGeom>
          <a:solidFill>
            <a:srgbClr val="EEF3FD"/>
          </a:solidFill>
          <a:ln w="12700">
            <a:solidFill>
              <a:srgbClr val="EEF3FD"/>
            </a:solidFill>
            <a:prstDash val="solid"/>
          </a:ln>
        </p:spPr>
      </p:sp>
      <p:sp>
        <p:nvSpPr>
          <p:cNvPr id="5" name="Text 3"/>
          <p:cNvSpPr txBox="1"/>
          <p:nvPr/>
        </p:nvSpPr>
        <p:spPr>
          <a:xfrm>
            <a:off x="731520" y="1554480"/>
            <a:ext cx="1371600" cy="1005840"/>
          </a:xfrm>
          <a:prstGeom prst="rect">
            <a:avLst/>
          </a:prstGeom>
          <a:noFill/>
          <a:ln/>
        </p:spPr>
        <p:txBody>
          <a:bodyPr wrap="square" lIns="0" tIns="0" rIns="0" bIns="0" rtlCol="0" anchor="ctr"/>
          <a:lstStyle/>
          <a:p>
            <a:pPr indent="0" marL="0">
              <a:buNone/>
            </a:pPr>
            <a:r>
              <a:rPr lang="en-US" sz="1100" b="1" spc="100" kern="0" dirty="0">
                <a:solidFill>
                  <a:srgbClr val="2563EB"/>
                </a:solidFill>
                <a:latin typeface="Calibri" pitchFamily="34" charset="0"/>
                <a:ea typeface="Calibri" pitchFamily="34" charset="-122"/>
                <a:cs typeface="Calibri" pitchFamily="34" charset="-120"/>
              </a:rPr>
              <a:t>1 · PREDICTION</a:t>
            </a:r>
            <a:endParaRPr lang="en-US" sz="1100" dirty="0"/>
          </a:p>
        </p:txBody>
      </p:sp>
      <p:sp>
        <p:nvSpPr>
          <p:cNvPr id="6" name="Shape 4"/>
          <p:cNvSpPr/>
          <p:nvPr/>
        </p:nvSpPr>
        <p:spPr>
          <a:xfrm>
            <a:off x="2148840" y="1728216"/>
            <a:ext cx="1600200" cy="658368"/>
          </a:xfrm>
          <a:prstGeom prst="roundRect">
            <a:avLst>
              <a:gd name="adj" fmla="val 8333"/>
            </a:avLst>
          </a:prstGeom>
          <a:solidFill>
            <a:srgbClr val="FFFFFF"/>
          </a:solidFill>
          <a:ln w="12700">
            <a:solidFill>
              <a:srgbClr val="D9DEE5"/>
            </a:solidFill>
            <a:prstDash val="solid"/>
          </a:ln>
        </p:spPr>
      </p:sp>
      <p:sp>
        <p:nvSpPr>
          <p:cNvPr id="7" name="Text 5"/>
          <p:cNvSpPr txBox="1"/>
          <p:nvPr/>
        </p:nvSpPr>
        <p:spPr>
          <a:xfrm>
            <a:off x="2194560" y="172821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Workload trace</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Azure Functions</a:t>
            </a:r>
            <a:endParaRPr lang="en-US" sz="1150" dirty="0"/>
          </a:p>
        </p:txBody>
      </p:sp>
      <p:sp>
        <p:nvSpPr>
          <p:cNvPr id="8" name="Shape 6"/>
          <p:cNvSpPr/>
          <p:nvPr/>
        </p:nvSpPr>
        <p:spPr>
          <a:xfrm>
            <a:off x="3776472" y="2057400"/>
            <a:ext cx="274320" cy="0"/>
          </a:xfrm>
          <a:prstGeom prst="line">
            <a:avLst/>
          </a:prstGeom>
          <a:noFill/>
          <a:ln w="22225">
            <a:solidFill>
              <a:srgbClr val="8A94A3"/>
            </a:solidFill>
            <a:prstDash val="solid"/>
            <a:tailEnd type="triangle"/>
          </a:ln>
        </p:spPr>
      </p:sp>
      <p:sp>
        <p:nvSpPr>
          <p:cNvPr id="9" name="Shape 7"/>
          <p:cNvSpPr/>
          <p:nvPr/>
        </p:nvSpPr>
        <p:spPr>
          <a:xfrm>
            <a:off x="4078224" y="1728216"/>
            <a:ext cx="1600200" cy="658368"/>
          </a:xfrm>
          <a:prstGeom prst="roundRect">
            <a:avLst>
              <a:gd name="adj" fmla="val 8333"/>
            </a:avLst>
          </a:prstGeom>
          <a:solidFill>
            <a:srgbClr val="FFFFFF"/>
          </a:solidFill>
          <a:ln w="12700">
            <a:solidFill>
              <a:srgbClr val="D9DEE5"/>
            </a:solidFill>
            <a:prstDash val="solid"/>
          </a:ln>
        </p:spPr>
      </p:sp>
      <p:sp>
        <p:nvSpPr>
          <p:cNvPr id="10" name="Text 8"/>
          <p:cNvSpPr txBox="1"/>
          <p:nvPr/>
        </p:nvSpPr>
        <p:spPr>
          <a:xfrm>
            <a:off x="4123944" y="172821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Feature extractor</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11 rolling stats</a:t>
            </a:r>
            <a:endParaRPr lang="en-US" sz="1150" dirty="0"/>
          </a:p>
        </p:txBody>
      </p:sp>
      <p:sp>
        <p:nvSpPr>
          <p:cNvPr id="11" name="Shape 9"/>
          <p:cNvSpPr/>
          <p:nvPr/>
        </p:nvSpPr>
        <p:spPr>
          <a:xfrm>
            <a:off x="5705856" y="2057400"/>
            <a:ext cx="274320" cy="0"/>
          </a:xfrm>
          <a:prstGeom prst="line">
            <a:avLst/>
          </a:prstGeom>
          <a:noFill/>
          <a:ln w="22225">
            <a:solidFill>
              <a:srgbClr val="8A94A3"/>
            </a:solidFill>
            <a:prstDash val="solid"/>
            <a:tailEnd type="triangle"/>
          </a:ln>
        </p:spPr>
      </p:sp>
      <p:sp>
        <p:nvSpPr>
          <p:cNvPr id="12" name="Shape 10"/>
          <p:cNvSpPr/>
          <p:nvPr/>
        </p:nvSpPr>
        <p:spPr>
          <a:xfrm>
            <a:off x="6007608" y="1728216"/>
            <a:ext cx="1600200" cy="658368"/>
          </a:xfrm>
          <a:prstGeom prst="roundRect">
            <a:avLst>
              <a:gd name="adj" fmla="val 8333"/>
            </a:avLst>
          </a:prstGeom>
          <a:solidFill>
            <a:srgbClr val="FFFFFF"/>
          </a:solidFill>
          <a:ln w="12700">
            <a:solidFill>
              <a:srgbClr val="D9DEE5"/>
            </a:solidFill>
            <a:prstDash val="solid"/>
          </a:ln>
        </p:spPr>
      </p:sp>
      <p:sp>
        <p:nvSpPr>
          <p:cNvPr id="13" name="Text 11"/>
          <p:cNvSpPr txBox="1"/>
          <p:nvPr/>
        </p:nvSpPr>
        <p:spPr>
          <a:xfrm>
            <a:off x="6053328" y="172821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CQR forecast</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load + interval</a:t>
            </a:r>
            <a:endParaRPr lang="en-US" sz="1150" dirty="0"/>
          </a:p>
        </p:txBody>
      </p:sp>
      <p:sp>
        <p:nvSpPr>
          <p:cNvPr id="14" name="Shape 12"/>
          <p:cNvSpPr/>
          <p:nvPr/>
        </p:nvSpPr>
        <p:spPr>
          <a:xfrm>
            <a:off x="7635240" y="2057400"/>
            <a:ext cx="274320" cy="0"/>
          </a:xfrm>
          <a:prstGeom prst="line">
            <a:avLst/>
          </a:prstGeom>
          <a:noFill/>
          <a:ln w="22225">
            <a:solidFill>
              <a:srgbClr val="8A94A3"/>
            </a:solidFill>
            <a:prstDash val="solid"/>
            <a:tailEnd type="triangle"/>
          </a:ln>
        </p:spPr>
      </p:sp>
      <p:sp>
        <p:nvSpPr>
          <p:cNvPr id="15" name="Shape 13"/>
          <p:cNvSpPr/>
          <p:nvPr/>
        </p:nvSpPr>
        <p:spPr>
          <a:xfrm>
            <a:off x="7936992" y="1728216"/>
            <a:ext cx="1600200" cy="658368"/>
          </a:xfrm>
          <a:prstGeom prst="roundRect">
            <a:avLst>
              <a:gd name="adj" fmla="val 8333"/>
            </a:avLst>
          </a:prstGeom>
          <a:solidFill>
            <a:srgbClr val="FFFFFF"/>
          </a:solidFill>
          <a:ln w="12700">
            <a:solidFill>
              <a:srgbClr val="D9DEE5"/>
            </a:solidFill>
            <a:prstDash val="solid"/>
          </a:ln>
        </p:spPr>
      </p:sp>
      <p:sp>
        <p:nvSpPr>
          <p:cNvPr id="16" name="Text 14"/>
          <p:cNvSpPr txBox="1"/>
          <p:nvPr/>
        </p:nvSpPr>
        <p:spPr>
          <a:xfrm>
            <a:off x="7982712" y="172821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ADWIN</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drift → margin reset</a:t>
            </a:r>
            <a:endParaRPr lang="en-US" sz="1150" dirty="0"/>
          </a:p>
        </p:txBody>
      </p:sp>
      <p:sp>
        <p:nvSpPr>
          <p:cNvPr id="17" name="Shape 15"/>
          <p:cNvSpPr/>
          <p:nvPr/>
        </p:nvSpPr>
        <p:spPr>
          <a:xfrm>
            <a:off x="548640" y="2971800"/>
            <a:ext cx="11091672" cy="1005840"/>
          </a:xfrm>
          <a:prstGeom prst="roundRect">
            <a:avLst>
              <a:gd name="adj" fmla="val 7273"/>
            </a:avLst>
          </a:prstGeom>
          <a:solidFill>
            <a:srgbClr val="FDF5E8"/>
          </a:solidFill>
          <a:ln w="12700">
            <a:solidFill>
              <a:srgbClr val="FDF5E8"/>
            </a:solidFill>
            <a:prstDash val="solid"/>
          </a:ln>
        </p:spPr>
      </p:sp>
      <p:sp>
        <p:nvSpPr>
          <p:cNvPr id="18" name="Text 16"/>
          <p:cNvSpPr txBox="1"/>
          <p:nvPr/>
        </p:nvSpPr>
        <p:spPr>
          <a:xfrm>
            <a:off x="731520" y="2971800"/>
            <a:ext cx="1371600" cy="1005840"/>
          </a:xfrm>
          <a:prstGeom prst="rect">
            <a:avLst/>
          </a:prstGeom>
          <a:noFill/>
          <a:ln/>
        </p:spPr>
        <p:txBody>
          <a:bodyPr wrap="square" lIns="0" tIns="0" rIns="0" bIns="0" rtlCol="0" anchor="ctr"/>
          <a:lstStyle/>
          <a:p>
            <a:pPr indent="0" marL="0">
              <a:buNone/>
            </a:pPr>
            <a:r>
              <a:rPr lang="en-US" sz="1100" b="1" spc="100" kern="0" dirty="0">
                <a:solidFill>
                  <a:srgbClr val="C7811A"/>
                </a:solidFill>
                <a:latin typeface="Calibri" pitchFamily="34" charset="0"/>
                <a:ea typeface="Calibri" pitchFamily="34" charset="-122"/>
                <a:cs typeface="Calibri" pitchFamily="34" charset="-120"/>
              </a:rPr>
              <a:t>2 · CONTROL</a:t>
            </a:r>
            <a:endParaRPr lang="en-US" sz="1100" dirty="0"/>
          </a:p>
        </p:txBody>
      </p:sp>
      <p:sp>
        <p:nvSpPr>
          <p:cNvPr id="19" name="Shape 17"/>
          <p:cNvSpPr/>
          <p:nvPr/>
        </p:nvSpPr>
        <p:spPr>
          <a:xfrm>
            <a:off x="2148840" y="3145536"/>
            <a:ext cx="1600200" cy="658368"/>
          </a:xfrm>
          <a:prstGeom prst="roundRect">
            <a:avLst>
              <a:gd name="adj" fmla="val 8333"/>
            </a:avLst>
          </a:prstGeom>
          <a:solidFill>
            <a:srgbClr val="FFFFFF"/>
          </a:solidFill>
          <a:ln w="12700">
            <a:solidFill>
              <a:srgbClr val="D9DEE5"/>
            </a:solidFill>
            <a:prstDash val="solid"/>
          </a:ln>
        </p:spPr>
      </p:sp>
      <p:sp>
        <p:nvSpPr>
          <p:cNvPr id="20" name="Text 18"/>
          <p:cNvSpPr txBox="1"/>
          <p:nvPr/>
        </p:nvSpPr>
        <p:spPr>
          <a:xfrm>
            <a:off x="2194560"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Target split</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x* = [v*, h*]</a:t>
            </a:r>
            <a:endParaRPr lang="en-US" sz="1150" dirty="0"/>
          </a:p>
        </p:txBody>
      </p:sp>
      <p:sp>
        <p:nvSpPr>
          <p:cNvPr id="21" name="Shape 19"/>
          <p:cNvSpPr/>
          <p:nvPr/>
        </p:nvSpPr>
        <p:spPr>
          <a:xfrm>
            <a:off x="3776472" y="3474720"/>
            <a:ext cx="274320" cy="0"/>
          </a:xfrm>
          <a:prstGeom prst="line">
            <a:avLst/>
          </a:prstGeom>
          <a:noFill/>
          <a:ln w="22225">
            <a:solidFill>
              <a:srgbClr val="8A94A3"/>
            </a:solidFill>
            <a:prstDash val="solid"/>
            <a:tailEnd type="triangle"/>
          </a:ln>
        </p:spPr>
      </p:sp>
      <p:sp>
        <p:nvSpPr>
          <p:cNvPr id="22" name="Shape 20"/>
          <p:cNvSpPr/>
          <p:nvPr/>
        </p:nvSpPr>
        <p:spPr>
          <a:xfrm>
            <a:off x="4078224" y="3145536"/>
            <a:ext cx="1600200" cy="658368"/>
          </a:xfrm>
          <a:prstGeom prst="roundRect">
            <a:avLst>
              <a:gd name="adj" fmla="val 8333"/>
            </a:avLst>
          </a:prstGeom>
          <a:solidFill>
            <a:srgbClr val="FFFFFF"/>
          </a:solidFill>
          <a:ln w="12700">
            <a:solidFill>
              <a:srgbClr val="D9DEE5"/>
            </a:solidFill>
            <a:prstDash val="solid"/>
          </a:ln>
        </p:spPr>
      </p:sp>
      <p:sp>
        <p:nvSpPr>
          <p:cNvPr id="23" name="Text 21"/>
          <p:cNvSpPr txBox="1"/>
          <p:nvPr/>
        </p:nvSpPr>
        <p:spPr>
          <a:xfrm>
            <a:off x="4123944"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EMA smoothing</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anti-chatter</a:t>
            </a:r>
            <a:endParaRPr lang="en-US" sz="1150" dirty="0"/>
          </a:p>
        </p:txBody>
      </p:sp>
      <p:sp>
        <p:nvSpPr>
          <p:cNvPr id="24" name="Shape 22"/>
          <p:cNvSpPr/>
          <p:nvPr/>
        </p:nvSpPr>
        <p:spPr>
          <a:xfrm>
            <a:off x="5705856" y="3474720"/>
            <a:ext cx="274320" cy="0"/>
          </a:xfrm>
          <a:prstGeom prst="line">
            <a:avLst/>
          </a:prstGeom>
          <a:noFill/>
          <a:ln w="22225">
            <a:solidFill>
              <a:srgbClr val="8A94A3"/>
            </a:solidFill>
            <a:prstDash val="solid"/>
            <a:tailEnd type="triangle"/>
          </a:ln>
        </p:spPr>
      </p:sp>
      <p:sp>
        <p:nvSpPr>
          <p:cNvPr id="25" name="Shape 23"/>
          <p:cNvSpPr/>
          <p:nvPr/>
        </p:nvSpPr>
        <p:spPr>
          <a:xfrm>
            <a:off x="6007608" y="3145536"/>
            <a:ext cx="1600200" cy="658368"/>
          </a:xfrm>
          <a:prstGeom prst="roundRect">
            <a:avLst>
              <a:gd name="adj" fmla="val 8333"/>
            </a:avLst>
          </a:prstGeom>
          <a:solidFill>
            <a:srgbClr val="FFF1DA"/>
          </a:solidFill>
          <a:ln w="25400">
            <a:solidFill>
              <a:srgbClr val="C7811A"/>
            </a:solidFill>
            <a:prstDash val="solid"/>
          </a:ln>
        </p:spPr>
      </p:sp>
      <p:sp>
        <p:nvSpPr>
          <p:cNvPr id="26" name="Text 24"/>
          <p:cNvSpPr txBox="1"/>
          <p:nvPr/>
        </p:nvSpPr>
        <p:spPr>
          <a:xfrm>
            <a:off x="6053328"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Augmented error</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e = [v−v*, h−h*, dh₋₁]</a:t>
            </a:r>
            <a:endParaRPr lang="en-US" sz="1150" dirty="0"/>
          </a:p>
        </p:txBody>
      </p:sp>
      <p:sp>
        <p:nvSpPr>
          <p:cNvPr id="27" name="Shape 25"/>
          <p:cNvSpPr/>
          <p:nvPr/>
        </p:nvSpPr>
        <p:spPr>
          <a:xfrm>
            <a:off x="7635240" y="3474720"/>
            <a:ext cx="274320" cy="0"/>
          </a:xfrm>
          <a:prstGeom prst="line">
            <a:avLst/>
          </a:prstGeom>
          <a:noFill/>
          <a:ln w="22225">
            <a:solidFill>
              <a:srgbClr val="8A94A3"/>
            </a:solidFill>
            <a:prstDash val="solid"/>
            <a:tailEnd type="triangle"/>
          </a:ln>
        </p:spPr>
      </p:sp>
      <p:sp>
        <p:nvSpPr>
          <p:cNvPr id="28" name="Shape 26"/>
          <p:cNvSpPr/>
          <p:nvPr/>
        </p:nvSpPr>
        <p:spPr>
          <a:xfrm>
            <a:off x="7936992" y="3145536"/>
            <a:ext cx="1600200" cy="658368"/>
          </a:xfrm>
          <a:prstGeom prst="roundRect">
            <a:avLst>
              <a:gd name="adj" fmla="val 8333"/>
            </a:avLst>
          </a:prstGeom>
          <a:solidFill>
            <a:srgbClr val="FFFFFF"/>
          </a:solidFill>
          <a:ln w="12700">
            <a:solidFill>
              <a:srgbClr val="D9DEE5"/>
            </a:solidFill>
            <a:prstDash val="solid"/>
          </a:ln>
        </p:spPr>
      </p:sp>
      <p:sp>
        <p:nvSpPr>
          <p:cNvPr id="29" name="Text 27"/>
          <p:cNvSpPr txBox="1"/>
          <p:nvPr/>
        </p:nvSpPr>
        <p:spPr>
          <a:xfrm>
            <a:off x="7982712"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LQR gain</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u = −K·e  (DARE)</a:t>
            </a:r>
            <a:endParaRPr lang="en-US" sz="1150" dirty="0"/>
          </a:p>
        </p:txBody>
      </p:sp>
      <p:sp>
        <p:nvSpPr>
          <p:cNvPr id="30" name="Shape 28"/>
          <p:cNvSpPr/>
          <p:nvPr/>
        </p:nvSpPr>
        <p:spPr>
          <a:xfrm>
            <a:off x="9564624" y="3474720"/>
            <a:ext cx="274320" cy="0"/>
          </a:xfrm>
          <a:prstGeom prst="line">
            <a:avLst/>
          </a:prstGeom>
          <a:noFill/>
          <a:ln w="22225">
            <a:solidFill>
              <a:srgbClr val="8A94A3"/>
            </a:solidFill>
            <a:prstDash val="solid"/>
            <a:tailEnd type="triangle"/>
          </a:ln>
        </p:spPr>
      </p:sp>
      <p:sp>
        <p:nvSpPr>
          <p:cNvPr id="31" name="Shape 29"/>
          <p:cNvSpPr/>
          <p:nvPr/>
        </p:nvSpPr>
        <p:spPr>
          <a:xfrm>
            <a:off x="9866376" y="3145536"/>
            <a:ext cx="1600200" cy="658368"/>
          </a:xfrm>
          <a:prstGeom prst="roundRect">
            <a:avLst>
              <a:gd name="adj" fmla="val 8333"/>
            </a:avLst>
          </a:prstGeom>
          <a:solidFill>
            <a:srgbClr val="FFFFFF"/>
          </a:solidFill>
          <a:ln w="12700">
            <a:solidFill>
              <a:srgbClr val="D9DEE5"/>
            </a:solidFill>
            <a:prstDash val="solid"/>
          </a:ln>
        </p:spPr>
      </p:sp>
      <p:sp>
        <p:nvSpPr>
          <p:cNvPr id="32" name="Text 30"/>
          <p:cNvSpPr txBox="1"/>
          <p:nvPr/>
        </p:nvSpPr>
        <p:spPr>
          <a:xfrm>
            <a:off x="9912096"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Safety projection</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bounds, budget, coupling</a:t>
            </a:r>
            <a:endParaRPr lang="en-US" sz="1150" dirty="0"/>
          </a:p>
        </p:txBody>
      </p:sp>
      <p:sp>
        <p:nvSpPr>
          <p:cNvPr id="33" name="Shape 31"/>
          <p:cNvSpPr/>
          <p:nvPr/>
        </p:nvSpPr>
        <p:spPr>
          <a:xfrm>
            <a:off x="548640" y="4389120"/>
            <a:ext cx="11091672" cy="1005840"/>
          </a:xfrm>
          <a:prstGeom prst="roundRect">
            <a:avLst>
              <a:gd name="adj" fmla="val 7273"/>
            </a:avLst>
          </a:prstGeom>
          <a:solidFill>
            <a:srgbClr val="EAF5F2"/>
          </a:solidFill>
          <a:ln w="12700">
            <a:solidFill>
              <a:srgbClr val="EAF5F2"/>
            </a:solidFill>
            <a:prstDash val="solid"/>
          </a:ln>
        </p:spPr>
      </p:sp>
      <p:sp>
        <p:nvSpPr>
          <p:cNvPr id="34" name="Text 32"/>
          <p:cNvSpPr txBox="1"/>
          <p:nvPr/>
        </p:nvSpPr>
        <p:spPr>
          <a:xfrm>
            <a:off x="731520" y="4389120"/>
            <a:ext cx="1371600" cy="1005840"/>
          </a:xfrm>
          <a:prstGeom prst="rect">
            <a:avLst/>
          </a:prstGeom>
          <a:noFill/>
          <a:ln/>
        </p:spPr>
        <p:txBody>
          <a:bodyPr wrap="square" lIns="0" tIns="0" rIns="0" bIns="0" rtlCol="0" anchor="ctr"/>
          <a:lstStyle/>
          <a:p>
            <a:pPr indent="0" marL="0">
              <a:buNone/>
            </a:pPr>
            <a:r>
              <a:rPr lang="en-US" sz="1100" b="1" spc="100" kern="0" dirty="0">
                <a:solidFill>
                  <a:srgbClr val="0F766E"/>
                </a:solidFill>
                <a:latin typeface="Calibri" pitchFamily="34" charset="0"/>
                <a:ea typeface="Calibri" pitchFamily="34" charset="-122"/>
                <a:cs typeface="Calibri" pitchFamily="34" charset="-120"/>
              </a:rPr>
              <a:t>3 · ACTUATION</a:t>
            </a:r>
            <a:endParaRPr lang="en-US" sz="1100" dirty="0"/>
          </a:p>
        </p:txBody>
      </p:sp>
      <p:sp>
        <p:nvSpPr>
          <p:cNvPr id="35" name="Shape 33"/>
          <p:cNvSpPr/>
          <p:nvPr/>
        </p:nvSpPr>
        <p:spPr>
          <a:xfrm>
            <a:off x="2148840" y="4562856"/>
            <a:ext cx="1600200" cy="658368"/>
          </a:xfrm>
          <a:prstGeom prst="roundRect">
            <a:avLst>
              <a:gd name="adj" fmla="val 8333"/>
            </a:avLst>
          </a:prstGeom>
          <a:solidFill>
            <a:srgbClr val="FFFFFF"/>
          </a:solidFill>
          <a:ln w="12700">
            <a:solidFill>
              <a:srgbClr val="D9DEE5"/>
            </a:solidFill>
            <a:prstDash val="solid"/>
          </a:ln>
        </p:spPr>
      </p:sp>
      <p:sp>
        <p:nvSpPr>
          <p:cNvPr id="36" name="Text 34"/>
          <p:cNvSpPr txBox="1"/>
          <p:nvPr/>
        </p:nvSpPr>
        <p:spPr>
          <a:xfrm>
            <a:off x="2194560" y="456285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Vertical resize</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0.1 s · 5 s inner loop</a:t>
            </a:r>
            <a:endParaRPr lang="en-US" sz="1150" dirty="0"/>
          </a:p>
        </p:txBody>
      </p:sp>
      <p:sp>
        <p:nvSpPr>
          <p:cNvPr id="37" name="Shape 35"/>
          <p:cNvSpPr/>
          <p:nvPr/>
        </p:nvSpPr>
        <p:spPr>
          <a:xfrm>
            <a:off x="3776472" y="4892040"/>
            <a:ext cx="274320" cy="0"/>
          </a:xfrm>
          <a:prstGeom prst="line">
            <a:avLst/>
          </a:prstGeom>
          <a:noFill/>
          <a:ln w="22225">
            <a:solidFill>
              <a:srgbClr val="8A94A3"/>
            </a:solidFill>
            <a:prstDash val="solid"/>
            <a:tailEnd type="triangle"/>
          </a:ln>
        </p:spPr>
      </p:sp>
      <p:sp>
        <p:nvSpPr>
          <p:cNvPr id="38" name="Shape 36"/>
          <p:cNvSpPr/>
          <p:nvPr/>
        </p:nvSpPr>
        <p:spPr>
          <a:xfrm>
            <a:off x="4078224" y="4562856"/>
            <a:ext cx="1600200" cy="658368"/>
          </a:xfrm>
          <a:prstGeom prst="roundRect">
            <a:avLst>
              <a:gd name="adj" fmla="val 8333"/>
            </a:avLst>
          </a:prstGeom>
          <a:solidFill>
            <a:srgbClr val="FFFFFF"/>
          </a:solidFill>
          <a:ln w="12700">
            <a:solidFill>
              <a:srgbClr val="D9DEE5"/>
            </a:solidFill>
            <a:prstDash val="solid"/>
          </a:ln>
        </p:spPr>
      </p:sp>
      <p:sp>
        <p:nvSpPr>
          <p:cNvPr id="39" name="Text 37"/>
          <p:cNvSpPr txBox="1"/>
          <p:nvPr/>
        </p:nvSpPr>
        <p:spPr>
          <a:xfrm>
            <a:off x="4123944" y="456285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Horizontal scale</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20 s pod boot</a:t>
            </a:r>
            <a:endParaRPr lang="en-US" sz="1150" dirty="0"/>
          </a:p>
        </p:txBody>
      </p:sp>
      <p:sp>
        <p:nvSpPr>
          <p:cNvPr id="40" name="Shape 38"/>
          <p:cNvSpPr/>
          <p:nvPr/>
        </p:nvSpPr>
        <p:spPr>
          <a:xfrm>
            <a:off x="5705856" y="4892040"/>
            <a:ext cx="274320" cy="0"/>
          </a:xfrm>
          <a:prstGeom prst="line">
            <a:avLst/>
          </a:prstGeom>
          <a:noFill/>
          <a:ln w="22225">
            <a:solidFill>
              <a:srgbClr val="8A94A3"/>
            </a:solidFill>
            <a:prstDash val="solid"/>
            <a:tailEnd type="triangle"/>
          </a:ln>
        </p:spPr>
      </p:sp>
      <p:sp>
        <p:nvSpPr>
          <p:cNvPr id="41" name="Shape 39"/>
          <p:cNvSpPr/>
          <p:nvPr/>
        </p:nvSpPr>
        <p:spPr>
          <a:xfrm>
            <a:off x="6007608" y="4562856"/>
            <a:ext cx="1600200" cy="658368"/>
          </a:xfrm>
          <a:prstGeom prst="roundRect">
            <a:avLst>
              <a:gd name="adj" fmla="val 8333"/>
            </a:avLst>
          </a:prstGeom>
          <a:solidFill>
            <a:srgbClr val="FFFFFF"/>
          </a:solidFill>
          <a:ln w="12700">
            <a:solidFill>
              <a:srgbClr val="D9DEE5"/>
            </a:solidFill>
            <a:prstDash val="solid"/>
          </a:ln>
        </p:spPr>
      </p:sp>
      <p:sp>
        <p:nvSpPr>
          <p:cNvPr id="42" name="Text 40"/>
          <p:cNvSpPr txBox="1"/>
          <p:nvPr/>
        </p:nvSpPr>
        <p:spPr>
          <a:xfrm>
            <a:off x="6053328" y="456285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Command buffer</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dh(t−1)  (one slot)</a:t>
            </a:r>
            <a:endParaRPr lang="en-US" sz="1150" dirty="0"/>
          </a:p>
        </p:txBody>
      </p:sp>
      <p:sp>
        <p:nvSpPr>
          <p:cNvPr id="43" name="Shape 41"/>
          <p:cNvSpPr/>
          <p:nvPr/>
        </p:nvSpPr>
        <p:spPr>
          <a:xfrm>
            <a:off x="7635240" y="4892040"/>
            <a:ext cx="274320" cy="0"/>
          </a:xfrm>
          <a:prstGeom prst="line">
            <a:avLst/>
          </a:prstGeom>
          <a:noFill/>
          <a:ln w="22225">
            <a:solidFill>
              <a:srgbClr val="8A94A3"/>
            </a:solidFill>
            <a:prstDash val="solid"/>
            <a:tailEnd type="triangle"/>
          </a:ln>
        </p:spPr>
      </p:sp>
      <p:sp>
        <p:nvSpPr>
          <p:cNvPr id="44" name="Shape 42"/>
          <p:cNvSpPr/>
          <p:nvPr/>
        </p:nvSpPr>
        <p:spPr>
          <a:xfrm>
            <a:off x="7936992" y="4562856"/>
            <a:ext cx="1600200" cy="658368"/>
          </a:xfrm>
          <a:prstGeom prst="roundRect">
            <a:avLst>
              <a:gd name="adj" fmla="val 8333"/>
            </a:avLst>
          </a:prstGeom>
          <a:solidFill>
            <a:srgbClr val="FFFFFF"/>
          </a:solidFill>
          <a:ln w="12700">
            <a:solidFill>
              <a:srgbClr val="D9DEE5"/>
            </a:solidFill>
            <a:prstDash val="solid"/>
          </a:ln>
        </p:spPr>
      </p:sp>
      <p:sp>
        <p:nvSpPr>
          <p:cNvPr id="45" name="Text 43"/>
          <p:cNvSpPr txBox="1"/>
          <p:nvPr/>
        </p:nvSpPr>
        <p:spPr>
          <a:xfrm>
            <a:off x="7982712" y="456285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Cluster</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SimPy sim / K8s operator</a:t>
            </a:r>
            <a:endParaRPr lang="en-US" sz="1150" dirty="0"/>
          </a:p>
        </p:txBody>
      </p:sp>
      <p:sp>
        <p:nvSpPr>
          <p:cNvPr id="46" name="Shape 44"/>
          <p:cNvSpPr/>
          <p:nvPr/>
        </p:nvSpPr>
        <p:spPr>
          <a:xfrm>
            <a:off x="2948940" y="2560320"/>
            <a:ext cx="0" cy="411480"/>
          </a:xfrm>
          <a:prstGeom prst="line">
            <a:avLst/>
          </a:prstGeom>
          <a:noFill/>
          <a:ln w="22225">
            <a:solidFill>
              <a:srgbClr val="2563EB"/>
            </a:solidFill>
            <a:prstDash val="solid"/>
            <a:tailEnd type="triangle"/>
          </a:ln>
        </p:spPr>
      </p:sp>
      <p:sp>
        <p:nvSpPr>
          <p:cNvPr id="47" name="Text 45"/>
          <p:cNvSpPr txBox="1"/>
          <p:nvPr/>
        </p:nvSpPr>
        <p:spPr>
          <a:xfrm>
            <a:off x="3063240" y="2624328"/>
            <a:ext cx="2743200" cy="274320"/>
          </a:xfrm>
          <a:prstGeom prst="rect">
            <a:avLst/>
          </a:prstGeom>
          <a:noFill/>
          <a:ln/>
        </p:spPr>
        <p:txBody>
          <a:bodyPr wrap="square" lIns="0" tIns="0" rIns="0" bIns="0" rtlCol="0" anchor="t"/>
          <a:lstStyle/>
          <a:p>
            <a:pPr indent="0" marL="0">
              <a:buNone/>
            </a:pPr>
            <a:r>
              <a:rPr lang="en-US" sz="1000" i="1" dirty="0">
                <a:solidFill>
                  <a:srgbClr val="2563EB"/>
                </a:solidFill>
                <a:latin typeface="Calibri" pitchFamily="34" charset="0"/>
                <a:ea typeface="Calibri" pitchFamily="34" charset="-122"/>
                <a:cs typeface="Calibri" pitchFamily="34" charset="-120"/>
              </a:rPr>
              <a:t>forecast load + interval width</a:t>
            </a:r>
            <a:endParaRPr lang="en-US" sz="1000" dirty="0"/>
          </a:p>
        </p:txBody>
      </p:sp>
      <p:sp>
        <p:nvSpPr>
          <p:cNvPr id="48" name="Shape 46"/>
          <p:cNvSpPr/>
          <p:nvPr/>
        </p:nvSpPr>
        <p:spPr>
          <a:xfrm>
            <a:off x="2948940" y="3977640"/>
            <a:ext cx="0" cy="411480"/>
          </a:xfrm>
          <a:prstGeom prst="line">
            <a:avLst/>
          </a:prstGeom>
          <a:noFill/>
          <a:ln w="22225">
            <a:solidFill>
              <a:srgbClr val="8A94A3"/>
            </a:solidFill>
            <a:prstDash val="solid"/>
            <a:tailEnd type="triangle"/>
          </a:ln>
        </p:spPr>
      </p:sp>
      <p:sp>
        <p:nvSpPr>
          <p:cNvPr id="49" name="Text 47"/>
          <p:cNvSpPr txBox="1"/>
          <p:nvPr/>
        </p:nvSpPr>
        <p:spPr>
          <a:xfrm>
            <a:off x="3063240" y="4041648"/>
            <a:ext cx="1828800" cy="274320"/>
          </a:xfrm>
          <a:prstGeom prst="rect">
            <a:avLst/>
          </a:prstGeom>
          <a:noFill/>
          <a:ln/>
        </p:spPr>
        <p:txBody>
          <a:bodyPr wrap="square" lIns="0" tIns="0" rIns="0" bIns="0" rtlCol="0" anchor="t"/>
          <a:lstStyle/>
          <a:p>
            <a:pPr indent="0" marL="0">
              <a:buNone/>
            </a:pPr>
            <a:r>
              <a:rPr lang="en-US" sz="1000" i="1" dirty="0">
                <a:solidFill>
                  <a:srgbClr val="5B6675"/>
                </a:solidFill>
                <a:latin typeface="Calibri" pitchFamily="34" charset="0"/>
                <a:ea typeface="Calibri" pitchFamily="34" charset="-122"/>
                <a:cs typeface="Calibri" pitchFamily="34" charset="-120"/>
              </a:rPr>
              <a:t>u = [dv, dh]</a:t>
            </a:r>
            <a:endParaRPr lang="en-US" sz="1000" dirty="0"/>
          </a:p>
        </p:txBody>
      </p:sp>
      <p:sp>
        <p:nvSpPr>
          <p:cNvPr id="50" name="Shape 48"/>
          <p:cNvSpPr/>
          <p:nvPr/>
        </p:nvSpPr>
        <p:spPr>
          <a:xfrm>
            <a:off x="6807708" y="3803904"/>
            <a:ext cx="0" cy="758952"/>
          </a:xfrm>
          <a:prstGeom prst="line">
            <a:avLst/>
          </a:prstGeom>
          <a:noFill/>
          <a:ln w="31750">
            <a:solidFill>
              <a:srgbClr val="C7811A"/>
            </a:solidFill>
            <a:prstDash val="dash"/>
            <a:headEnd type="triangle"/>
          </a:ln>
        </p:spPr>
      </p:sp>
      <p:sp>
        <p:nvSpPr>
          <p:cNvPr id="51" name="Text 49"/>
          <p:cNvSpPr txBox="1"/>
          <p:nvPr/>
        </p:nvSpPr>
        <p:spPr>
          <a:xfrm>
            <a:off x="6949440" y="4041648"/>
            <a:ext cx="3291840" cy="274320"/>
          </a:xfrm>
          <a:prstGeom prst="rect">
            <a:avLst/>
          </a:prstGeom>
          <a:noFill/>
          <a:ln/>
        </p:spPr>
        <p:txBody>
          <a:bodyPr wrap="square" lIns="0" tIns="0" rIns="0" bIns="0" rtlCol="0" anchor="t"/>
          <a:lstStyle/>
          <a:p>
            <a:pPr indent="0" marL="0">
              <a:buNone/>
            </a:pPr>
            <a:r>
              <a:rPr lang="en-US" sz="1000" b="1" i="1" dirty="0">
                <a:solidFill>
                  <a:srgbClr val="C7811A"/>
                </a:solidFill>
                <a:latin typeface="Calibri" pitchFamily="34" charset="0"/>
                <a:ea typeface="Calibri" pitchFamily="34" charset="-122"/>
                <a:cs typeface="Calibri" pitchFamily="34" charset="-120"/>
              </a:rPr>
              <a:t>pending commands fed back (our contribution)</a:t>
            </a:r>
            <a:endParaRPr lang="en-US" sz="1000" dirty="0"/>
          </a:p>
        </p:txBody>
      </p:sp>
      <p:sp>
        <p:nvSpPr>
          <p:cNvPr id="52" name="Text 50"/>
          <p:cNvSpPr txBox="1"/>
          <p:nvPr/>
        </p:nvSpPr>
        <p:spPr>
          <a:xfrm>
            <a:off x="548640" y="5596128"/>
            <a:ext cx="11091672" cy="594360"/>
          </a:xfrm>
          <a:prstGeom prst="rect">
            <a:avLst/>
          </a:prstGeom>
          <a:noFill/>
          <a:ln/>
        </p:spPr>
        <p:txBody>
          <a:bodyPr wrap="square" lIns="0" tIns="0" rIns="0" bIns="0" rtlCol="0" anchor="t"/>
          <a:lstStyle/>
          <a:p>
            <a:pPr indent="0" marL="0">
              <a:buNone/>
            </a:pPr>
            <a:r>
              <a:rPr lang="en-US" sz="1350" b="1" dirty="0">
                <a:solidFill>
                  <a:srgbClr val="C7811A"/>
                </a:solidFill>
                <a:latin typeface="Calibri" pitchFamily="34" charset="0"/>
                <a:ea typeface="Calibri" pitchFamily="34" charset="-122"/>
                <a:cs typeface="Calibri" pitchFamily="34" charset="-120"/>
              </a:rPr>
              <a:t>Key idea: </a:t>
            </a:r>
            <a:pPr indent="0" marL="0">
              <a:buNone/>
            </a:pPr>
            <a:r>
              <a:rPr lang="en-US" sz="1350" dirty="0">
                <a:solidFill>
                  <a:srgbClr val="1F2937"/>
                </a:solidFill>
                <a:latin typeface="Calibri" pitchFamily="34" charset="0"/>
                <a:ea typeface="Calibri" pitchFamily="34" charset="-122"/>
                <a:cs typeface="Calibri" pitchFamily="34" charset="-120"/>
              </a:rPr>
              <a:t>pods already ordered but still booting are fed back into the controller, so it never orders the same capacity twice. A 5 s inner loop moves only the 0.1 s CPU actuator: up on a surge, back down as soon as the load falls — capacity tracks demand between the 15 s joint steps.</a:t>
            </a:r>
            <a:endParaRPr lang="en-US" sz="1350" dirty="0"/>
          </a:p>
        </p:txBody>
      </p:sp>
      <p:sp>
        <p:nvSpPr>
          <p:cNvPr id="53" name="Text 51"/>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54" name="Text 52"/>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4 / 21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CORE ALGORITHM</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The delay-augmented control law</a:t>
            </a:r>
            <a:endParaRPr lang="en-US" sz="3000" dirty="0"/>
          </a:p>
        </p:txBody>
      </p:sp>
      <p:sp>
        <p:nvSpPr>
          <p:cNvPr id="4" name="Text 2"/>
          <p:cNvSpPr txBox="1"/>
          <p:nvPr/>
        </p:nvSpPr>
        <p:spPr>
          <a:xfrm>
            <a:off x="548640" y="1508760"/>
            <a:ext cx="6766560" cy="73152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LQR assumes actions act at once. A pod boots in 20 s and is first seen two 15 s ticks later, so the state carries the one command still in flight; h counts only serving pods, so nothing is counted twice.</a:t>
            </a:r>
            <a:endParaRPr lang="en-US" sz="1500" dirty="0"/>
          </a:p>
        </p:txBody>
      </p:sp>
      <p:sp>
        <p:nvSpPr>
          <p:cNvPr id="5" name="Text 3"/>
          <p:cNvSpPr txBox="1"/>
          <p:nvPr/>
        </p:nvSpPr>
        <p:spPr>
          <a:xfrm>
            <a:off x="548640" y="237744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Augmented error state</a:t>
            </a:r>
            <a:endParaRPr lang="en-US" sz="1300" dirty="0"/>
          </a:p>
        </p:txBody>
      </p:sp>
      <p:sp>
        <p:nvSpPr>
          <p:cNvPr id="6" name="Shape 4"/>
          <p:cNvSpPr/>
          <p:nvPr/>
        </p:nvSpPr>
        <p:spPr>
          <a:xfrm>
            <a:off x="2697480" y="2377440"/>
            <a:ext cx="4617720" cy="548640"/>
          </a:xfrm>
          <a:prstGeom prst="roundRect">
            <a:avLst>
              <a:gd name="adj" fmla="val 13333"/>
            </a:avLst>
          </a:prstGeom>
          <a:solidFill>
            <a:srgbClr val="F3F5F8"/>
          </a:solidFill>
          <a:ln w="12700">
            <a:solidFill>
              <a:srgbClr val="F3F5F8"/>
            </a:solidFill>
            <a:prstDash val="solid"/>
          </a:ln>
        </p:spPr>
      </p:sp>
      <p:sp>
        <p:nvSpPr>
          <p:cNvPr id="7" name="Text 5"/>
          <p:cNvSpPr txBox="1"/>
          <p:nvPr/>
        </p:nvSpPr>
        <p:spPr>
          <a:xfrm>
            <a:off x="2834640" y="237744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e(t) = [ v−v*, h_serving−h*, dh(t−1) ]</a:t>
            </a:r>
            <a:endParaRPr lang="en-US" sz="1300" dirty="0"/>
          </a:p>
        </p:txBody>
      </p:sp>
      <p:sp>
        <p:nvSpPr>
          <p:cNvPr id="8" name="Text 6"/>
          <p:cNvSpPr txBox="1"/>
          <p:nvPr/>
        </p:nvSpPr>
        <p:spPr>
          <a:xfrm>
            <a:off x="548640" y="310896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System dynamics</a:t>
            </a:r>
            <a:endParaRPr lang="en-US" sz="1300" dirty="0"/>
          </a:p>
        </p:txBody>
      </p:sp>
      <p:sp>
        <p:nvSpPr>
          <p:cNvPr id="9" name="Shape 7"/>
          <p:cNvSpPr/>
          <p:nvPr/>
        </p:nvSpPr>
        <p:spPr>
          <a:xfrm>
            <a:off x="2697480" y="3108960"/>
            <a:ext cx="4617720" cy="548640"/>
          </a:xfrm>
          <a:prstGeom prst="roundRect">
            <a:avLst>
              <a:gd name="adj" fmla="val 13333"/>
            </a:avLst>
          </a:prstGeom>
          <a:solidFill>
            <a:srgbClr val="F3F5F8"/>
          </a:solidFill>
          <a:ln w="12700">
            <a:solidFill>
              <a:srgbClr val="F3F5F8"/>
            </a:solidFill>
            <a:prstDash val="solid"/>
          </a:ln>
        </p:spPr>
      </p:sp>
      <p:sp>
        <p:nvSpPr>
          <p:cNvPr id="10" name="Text 8"/>
          <p:cNvSpPr txBox="1"/>
          <p:nvPr/>
        </p:nvSpPr>
        <p:spPr>
          <a:xfrm>
            <a:off x="2834640" y="310896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e(t+1) = A_aug·e(t) + B_aug·u(t)</a:t>
            </a:r>
            <a:endParaRPr lang="en-US" sz="1300" dirty="0"/>
          </a:p>
        </p:txBody>
      </p:sp>
      <p:sp>
        <p:nvSpPr>
          <p:cNvPr id="11" name="Text 9"/>
          <p:cNvSpPr txBox="1"/>
          <p:nvPr/>
        </p:nvSpPr>
        <p:spPr>
          <a:xfrm>
            <a:off x="548640" y="384048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Optimal gain (DARE)</a:t>
            </a:r>
            <a:endParaRPr lang="en-US" sz="1300" dirty="0"/>
          </a:p>
        </p:txBody>
      </p:sp>
      <p:sp>
        <p:nvSpPr>
          <p:cNvPr id="12" name="Shape 10"/>
          <p:cNvSpPr/>
          <p:nvPr/>
        </p:nvSpPr>
        <p:spPr>
          <a:xfrm>
            <a:off x="2697480" y="3840480"/>
            <a:ext cx="4617720" cy="548640"/>
          </a:xfrm>
          <a:prstGeom prst="roundRect">
            <a:avLst>
              <a:gd name="adj" fmla="val 13333"/>
            </a:avLst>
          </a:prstGeom>
          <a:solidFill>
            <a:srgbClr val="F3F5F8"/>
          </a:solidFill>
          <a:ln w="12700">
            <a:solidFill>
              <a:srgbClr val="F3F5F8"/>
            </a:solidFill>
            <a:prstDash val="solid"/>
          </a:ln>
        </p:spPr>
      </p:sp>
      <p:sp>
        <p:nvSpPr>
          <p:cNvPr id="13" name="Text 11"/>
          <p:cNvSpPr txBox="1"/>
          <p:nvPr/>
        </p:nvSpPr>
        <p:spPr>
          <a:xfrm>
            <a:off x="2834640" y="384048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K = (R + BᵀPB)⁻¹ BᵀPA</a:t>
            </a:r>
            <a:endParaRPr lang="en-US" sz="1300" dirty="0"/>
          </a:p>
        </p:txBody>
      </p:sp>
      <p:sp>
        <p:nvSpPr>
          <p:cNvPr id="14" name="Text 12"/>
          <p:cNvSpPr txBox="1"/>
          <p:nvPr/>
        </p:nvSpPr>
        <p:spPr>
          <a:xfrm>
            <a:off x="548640" y="457200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Nominal action</a:t>
            </a:r>
            <a:endParaRPr lang="en-US" sz="1300" dirty="0"/>
          </a:p>
        </p:txBody>
      </p:sp>
      <p:sp>
        <p:nvSpPr>
          <p:cNvPr id="15" name="Shape 13"/>
          <p:cNvSpPr/>
          <p:nvPr/>
        </p:nvSpPr>
        <p:spPr>
          <a:xfrm>
            <a:off x="2697480" y="4572000"/>
            <a:ext cx="4617720" cy="548640"/>
          </a:xfrm>
          <a:prstGeom prst="roundRect">
            <a:avLst>
              <a:gd name="adj" fmla="val 13333"/>
            </a:avLst>
          </a:prstGeom>
          <a:solidFill>
            <a:srgbClr val="F3F5F8"/>
          </a:solidFill>
          <a:ln w="12700">
            <a:solidFill>
              <a:srgbClr val="F3F5F8"/>
            </a:solidFill>
            <a:prstDash val="solid"/>
          </a:ln>
        </p:spPr>
      </p:sp>
      <p:sp>
        <p:nvSpPr>
          <p:cNvPr id="16" name="Text 14"/>
          <p:cNvSpPr txBox="1"/>
          <p:nvPr/>
        </p:nvSpPr>
        <p:spPr>
          <a:xfrm>
            <a:off x="2834640" y="457200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u = −K·e(t)</a:t>
            </a:r>
            <a:endParaRPr lang="en-US" sz="1300" dirty="0"/>
          </a:p>
        </p:txBody>
      </p:sp>
      <p:sp>
        <p:nvSpPr>
          <p:cNvPr id="17" name="Text 15"/>
          <p:cNvSpPr txBox="1"/>
          <p:nvPr/>
        </p:nvSpPr>
        <p:spPr>
          <a:xfrm>
            <a:off x="548640" y="530352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Lyapunov certificate</a:t>
            </a:r>
            <a:endParaRPr lang="en-US" sz="1300" dirty="0"/>
          </a:p>
        </p:txBody>
      </p:sp>
      <p:sp>
        <p:nvSpPr>
          <p:cNvPr id="18" name="Shape 16"/>
          <p:cNvSpPr/>
          <p:nvPr/>
        </p:nvSpPr>
        <p:spPr>
          <a:xfrm>
            <a:off x="2697480" y="5303520"/>
            <a:ext cx="4617720" cy="548640"/>
          </a:xfrm>
          <a:prstGeom prst="roundRect">
            <a:avLst>
              <a:gd name="adj" fmla="val 13333"/>
            </a:avLst>
          </a:prstGeom>
          <a:solidFill>
            <a:srgbClr val="F3F5F8"/>
          </a:solidFill>
          <a:ln w="12700">
            <a:solidFill>
              <a:srgbClr val="F3F5F8"/>
            </a:solidFill>
            <a:prstDash val="solid"/>
          </a:ln>
        </p:spPr>
      </p:sp>
      <p:sp>
        <p:nvSpPr>
          <p:cNvPr id="19" name="Text 17"/>
          <p:cNvSpPr txBox="1"/>
          <p:nvPr/>
        </p:nvSpPr>
        <p:spPr>
          <a:xfrm>
            <a:off x="2834640" y="530352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V(e⁺) − V(e) = −eᵀ(Q + KᵀRK)e ≤ 0</a:t>
            </a:r>
            <a:endParaRPr lang="en-US" sz="1300" dirty="0"/>
          </a:p>
        </p:txBody>
      </p:sp>
      <p:sp>
        <p:nvSpPr>
          <p:cNvPr id="20" name="Shape 18"/>
          <p:cNvSpPr/>
          <p:nvPr/>
        </p:nvSpPr>
        <p:spPr>
          <a:xfrm>
            <a:off x="7726680" y="1508760"/>
            <a:ext cx="3913632" cy="4572000"/>
          </a:xfrm>
          <a:prstGeom prst="roundRect">
            <a:avLst>
              <a:gd name="adj" fmla="val 1869"/>
            </a:avLst>
          </a:prstGeom>
          <a:solidFill>
            <a:srgbClr val="13223A"/>
          </a:solidFill>
          <a:ln w="12700">
            <a:solidFill>
              <a:srgbClr val="13223A"/>
            </a:solidFill>
            <a:prstDash val="solid"/>
          </a:ln>
        </p:spPr>
      </p:sp>
      <p:sp>
        <p:nvSpPr>
          <p:cNvPr id="21" name="Text 19"/>
          <p:cNvSpPr txBox="1"/>
          <p:nvPr/>
        </p:nvSpPr>
        <p:spPr>
          <a:xfrm>
            <a:off x="8001000" y="1737360"/>
            <a:ext cx="3383280" cy="274320"/>
          </a:xfrm>
          <a:prstGeom prst="rect">
            <a:avLst/>
          </a:prstGeom>
          <a:noFill/>
          <a:ln/>
        </p:spPr>
        <p:txBody>
          <a:bodyPr wrap="square" lIns="0" tIns="0" rIns="0" bIns="0" rtlCol="0" anchor="t"/>
          <a:lstStyle/>
          <a:p>
            <a:pPr indent="0" marL="0">
              <a:buNone/>
            </a:pPr>
            <a:r>
              <a:rPr lang="en-US" sz="1100" b="1" spc="200" kern="0" dirty="0">
                <a:solidFill>
                  <a:srgbClr val="E3A646"/>
                </a:solidFill>
                <a:latin typeface="Calibri" pitchFamily="34" charset="0"/>
                <a:ea typeface="Calibri" pitchFamily="34" charset="-122"/>
                <a:cs typeface="Calibri" pitchFamily="34" charset="-120"/>
              </a:rPr>
              <a:t>WHY THIS MATTERS</a:t>
            </a:r>
            <a:endParaRPr lang="en-US" sz="1100" dirty="0"/>
          </a:p>
        </p:txBody>
      </p:sp>
      <p:sp>
        <p:nvSpPr>
          <p:cNvPr id="22" name="Text 20"/>
          <p:cNvSpPr txBox="1"/>
          <p:nvPr/>
        </p:nvSpPr>
        <p:spPr>
          <a:xfrm>
            <a:off x="8001000" y="2103120"/>
            <a:ext cx="3429000" cy="25603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R penalises horizontal movement 20× more than vertical, so the controller reaches for the fast actuator first during a spike.</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Stability comes from the Riccati solution itself, so no runtime filter is needed; a 5 s inner loop owns CPU and replicas move only when CPU cannot absorb the change.</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K is fixed: computing u = −K·e is a matrix–vector product, not an online optimisation.</a:t>
            </a:r>
            <a:endParaRPr lang="en-US" sz="1300" dirty="0"/>
          </a:p>
        </p:txBody>
      </p:sp>
      <p:sp>
        <p:nvSpPr>
          <p:cNvPr id="23" name="Shape 21"/>
          <p:cNvSpPr/>
          <p:nvPr/>
        </p:nvSpPr>
        <p:spPr>
          <a:xfrm>
            <a:off x="8001000" y="4754880"/>
            <a:ext cx="3383280" cy="0"/>
          </a:xfrm>
          <a:prstGeom prst="line">
            <a:avLst/>
          </a:prstGeom>
          <a:noFill/>
          <a:ln w="12700">
            <a:solidFill>
              <a:srgbClr val="2E4263"/>
            </a:solidFill>
            <a:prstDash val="solid"/>
          </a:ln>
        </p:spPr>
      </p:sp>
      <p:sp>
        <p:nvSpPr>
          <p:cNvPr id="24" name="Text 22"/>
          <p:cNvSpPr txBox="1"/>
          <p:nvPr/>
        </p:nvSpPr>
        <p:spPr>
          <a:xfrm>
            <a:off x="8001000" y="4892040"/>
            <a:ext cx="3429000" cy="1005840"/>
          </a:xfrm>
          <a:prstGeom prst="rect">
            <a:avLst/>
          </a:prstGeom>
          <a:noFill/>
          <a:ln/>
        </p:spPr>
        <p:txBody>
          <a:bodyPr wrap="square" lIns="0" tIns="0" rIns="0" bIns="0" rtlCol="0" anchor="t"/>
          <a:lstStyle/>
          <a:p>
            <a:pPr indent="0" marL="0">
              <a:buNone/>
            </a:pPr>
            <a:r>
              <a:rPr lang="en-US" sz="1200" dirty="0">
                <a:solidFill>
                  <a:srgbClr val="CADCFC"/>
                </a:solidFill>
                <a:latin typeface="Courier New" pitchFamily="34" charset="0"/>
                <a:ea typeface="Courier New" pitchFamily="34" charset="-122"/>
                <a:cs typeface="Courier New" pitchFamily="34" charset="-120"/>
              </a:rPr>
              <a:t>Q = diag(30, 10, 0)</a:t>
            </a:r>
            <a:endParaRPr lang="en-US" sz="1200" dirty="0"/>
          </a:p>
          <a:p>
            <a:pPr indent="0" marL="0">
              <a:buNone/>
            </a:pPr>
            <a:r>
              <a:rPr lang="en-US" sz="1200" dirty="0">
                <a:solidFill>
                  <a:srgbClr val="CADCFC"/>
                </a:solidFill>
                <a:latin typeface="Courier New" pitchFamily="34" charset="0"/>
                <a:ea typeface="Courier New" pitchFamily="34" charset="-122"/>
                <a:cs typeface="Courier New" pitchFamily="34" charset="-120"/>
              </a:rPr>
              <a:t>R = diag(0.05, 1.0)</a:t>
            </a:r>
            <a:endParaRPr lang="en-US" sz="1200" dirty="0"/>
          </a:p>
          <a:p>
            <a:pPr indent="0" marL="0">
              <a:buNone/>
            </a:pPr>
            <a:r>
              <a:rPr lang="en-US" sz="1200" dirty="0">
                <a:solidFill>
                  <a:srgbClr val="CADCFC"/>
                </a:solidFill>
                <a:latin typeface="Courier New" pitchFamily="34" charset="0"/>
                <a:ea typeface="Courier New" pitchFamily="34" charset="-122"/>
                <a:cs typeface="Courier New" pitchFamily="34" charset="-120"/>
              </a:rPr>
              <a:t>Δt = 15 s / 5 s   κ = 0.85</a:t>
            </a:r>
            <a:endParaRPr lang="en-US" sz="1200" dirty="0"/>
          </a:p>
        </p:txBody>
      </p:sp>
      <p:sp>
        <p:nvSpPr>
          <p:cNvPr id="25" name="Text 23"/>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26" name="Text 24"/>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5 / 21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DATASETS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Nine workloads: five real traces, four stress scenarios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377440"/>
                <a:gridCol w="1554480"/>
                <a:gridCol w="2011680"/>
                <a:gridCol w="5148072"/>
              </a:tblGrid>
              <a:tr h="329184">
                <a:tc>
                  <a:txBody>
                    <a:bodyPr/>
                    <a:lstStyle/>
                    <a:p>
                      <a:pPr indent="0" marL="0">
                        <a:buNone/>
                      </a:pPr>
                      <a:r>
                        <a:rPr lang="en-US" sz="1200" b="1" dirty="0">
                          <a:solidFill>
                            <a:srgbClr val="FFFFFF"/>
                          </a:solidFill>
                        </a:rPr>
                        <a:t>Workload</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Source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Traffic shape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What it tests</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w_0001, w_0003</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Real (Azure)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Spike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Reaction to sudden, unpredicted bursts</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w_0002</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Real (Azure)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Periodic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Whether the forecaster captures daily rhythm</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w_0004</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Real (Azure)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Ramp</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Steady growth — used in the live demo</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w_0005</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Real (Azure)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Noisy, level</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That we do not over-react to jitter</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coupled_oscillation</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Synthetic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Alternating high / low</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Deliberately makes the two scaling loops fight</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drift</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Synthetic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Pattern change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Forces the ADWIN drift detector to fire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extreme_overload</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Synthetic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Saturation</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Pushes past what the cluster can serve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stress_uncertainty</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Synthetic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Unpredictable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Makes the forecast highly uncertain</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4709160"/>
            <a:ext cx="10972800" cy="274320"/>
          </a:xfrm>
          <a:prstGeom prst="rect">
            <a:avLst/>
          </a:prstGeom>
          <a:noFill/>
          <a:ln/>
        </p:spPr>
        <p:txBody>
          <a:bodyPr wrap="square" lIns="0" tIns="0" rIns="0" bIns="0" rtlCol="0" anchor="t"/>
          <a:lstStyle/>
          <a:p>
            <a:pPr indent="0" marL="0">
              <a:buNone/>
            </a:pPr>
            <a:r>
              <a:rPr lang="en-US" sz="1050" b="1" spc="100" kern="0" dirty="0">
                <a:solidFill>
                  <a:srgbClr val="5B6675"/>
                </a:solidFill>
                <a:latin typeface="Calibri" pitchFamily="34" charset="0"/>
                <a:ea typeface="Calibri" pitchFamily="34" charset="-122"/>
                <a:cs typeface="Calibri" pitchFamily="34" charset="-120"/>
              </a:rPr>
              <a:t>EACH 100-MINUTE TRACE IS SPLIT SO THE MODEL IS NEVER SCORED ON DATA IT HAS SEEN</a:t>
            </a:r>
            <a:endParaRPr lang="en-US" sz="1050" dirty="0"/>
          </a:p>
        </p:txBody>
      </p:sp>
      <p:sp>
        <p:nvSpPr>
          <p:cNvPr id="6" name="Shape 3"/>
          <p:cNvSpPr/>
          <p:nvPr/>
        </p:nvSpPr>
        <p:spPr>
          <a:xfrm>
            <a:off x="548640" y="5074920"/>
            <a:ext cx="1081735" cy="502920"/>
          </a:xfrm>
          <a:prstGeom prst="rect">
            <a:avLst/>
          </a:prstGeom>
          <a:solidFill>
            <a:srgbClr val="C9D1DC"/>
          </a:solidFill>
          <a:ln w="12700">
            <a:solidFill>
              <a:srgbClr val="C9D1DC"/>
            </a:solidFill>
            <a:prstDash val="solid"/>
          </a:ln>
        </p:spPr>
      </p:sp>
      <p:sp>
        <p:nvSpPr>
          <p:cNvPr id="7" name="Text 4"/>
          <p:cNvSpPr txBox="1"/>
          <p:nvPr/>
        </p:nvSpPr>
        <p:spPr>
          <a:xfrm>
            <a:off x="548640" y="5074920"/>
            <a:ext cx="1081735" cy="502920"/>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Warm-up</a:t>
            </a:r>
            <a:endParaRPr lang="en-US" sz="1200" dirty="0"/>
          </a:p>
        </p:txBody>
      </p:sp>
      <p:sp>
        <p:nvSpPr>
          <p:cNvPr id="8" name="Shape 5"/>
          <p:cNvSpPr/>
          <p:nvPr/>
        </p:nvSpPr>
        <p:spPr>
          <a:xfrm>
            <a:off x="1657807" y="5074920"/>
            <a:ext cx="4409237" cy="502920"/>
          </a:xfrm>
          <a:prstGeom prst="rect">
            <a:avLst/>
          </a:prstGeom>
          <a:solidFill>
            <a:srgbClr val="2563EB"/>
          </a:solidFill>
          <a:ln w="12700">
            <a:solidFill>
              <a:srgbClr val="2563EB"/>
            </a:solidFill>
            <a:prstDash val="solid"/>
          </a:ln>
        </p:spPr>
      </p:sp>
      <p:sp>
        <p:nvSpPr>
          <p:cNvPr id="9" name="Text 6"/>
          <p:cNvSpPr txBox="1"/>
          <p:nvPr/>
        </p:nvSpPr>
        <p:spPr>
          <a:xfrm>
            <a:off x="1657807" y="5074920"/>
            <a:ext cx="4409237"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Train forecaster (10–50 min)</a:t>
            </a:r>
            <a:endParaRPr lang="en-US" sz="1200" dirty="0"/>
          </a:p>
        </p:txBody>
      </p:sp>
      <p:sp>
        <p:nvSpPr>
          <p:cNvPr id="10" name="Shape 7"/>
          <p:cNvSpPr/>
          <p:nvPr/>
        </p:nvSpPr>
        <p:spPr>
          <a:xfrm>
            <a:off x="6094476" y="5074920"/>
            <a:ext cx="2190902" cy="502920"/>
          </a:xfrm>
          <a:prstGeom prst="rect">
            <a:avLst/>
          </a:prstGeom>
          <a:solidFill>
            <a:srgbClr val="C7811A"/>
          </a:solidFill>
          <a:ln w="12700">
            <a:solidFill>
              <a:srgbClr val="C7811A"/>
            </a:solidFill>
            <a:prstDash val="solid"/>
          </a:ln>
        </p:spPr>
      </p:sp>
      <p:sp>
        <p:nvSpPr>
          <p:cNvPr id="11" name="Text 8"/>
          <p:cNvSpPr txBox="1"/>
          <p:nvPr/>
        </p:nvSpPr>
        <p:spPr>
          <a:xfrm>
            <a:off x="6094476" y="5074920"/>
            <a:ext cx="2190902"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Calibrate (50–70)</a:t>
            </a:r>
            <a:endParaRPr lang="en-US" sz="1200" dirty="0"/>
          </a:p>
        </p:txBody>
      </p:sp>
      <p:sp>
        <p:nvSpPr>
          <p:cNvPr id="12" name="Shape 9"/>
          <p:cNvSpPr/>
          <p:nvPr/>
        </p:nvSpPr>
        <p:spPr>
          <a:xfrm>
            <a:off x="8312810" y="5074920"/>
            <a:ext cx="3300070" cy="502920"/>
          </a:xfrm>
          <a:prstGeom prst="rect">
            <a:avLst/>
          </a:prstGeom>
          <a:solidFill>
            <a:srgbClr val="0F766E"/>
          </a:solidFill>
          <a:ln w="12700">
            <a:solidFill>
              <a:srgbClr val="0F766E"/>
            </a:solidFill>
            <a:prstDash val="solid"/>
          </a:ln>
        </p:spPr>
      </p:sp>
      <p:sp>
        <p:nvSpPr>
          <p:cNvPr id="13" name="Text 10"/>
          <p:cNvSpPr txBox="1"/>
          <p:nvPr/>
        </p:nvSpPr>
        <p:spPr>
          <a:xfrm>
            <a:off x="8312810" y="5074920"/>
            <a:ext cx="330007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Scored test window (70–100)</a:t>
            </a:r>
            <a:endParaRPr lang="en-US" sz="1200" dirty="0"/>
          </a:p>
        </p:txBody>
      </p:sp>
      <p:sp>
        <p:nvSpPr>
          <p:cNvPr id="14" name="Text 11"/>
          <p:cNvSpPr txBox="1"/>
          <p:nvPr/>
        </p:nvSpPr>
        <p:spPr>
          <a:xfrm>
            <a:off x="548640" y="5742432"/>
            <a:ext cx="11091672" cy="457200"/>
          </a:xfrm>
          <a:prstGeom prst="rect">
            <a:avLst/>
          </a:prstGeom>
          <a:noFill/>
          <a:ln/>
        </p:spPr>
        <p:txBody>
          <a:bodyPr wrap="square" lIns="0" tIns="0" rIns="0" bIns="0" rtlCol="0" anchor="t"/>
          <a:lstStyle/>
          <a:p>
            <a:pPr indent="0" marL="0">
              <a:buNone/>
            </a:pPr>
            <a:r>
              <a:rPr lang="en-US" sz="1200" i="1" dirty="0">
                <a:solidFill>
                  <a:srgbClr val="5B6675"/>
                </a:solidFill>
                <a:latin typeface="Calibri" pitchFamily="34" charset="0"/>
                <a:ea typeface="Calibri" pitchFamily="34" charset="-122"/>
                <a:cs typeface="Calibri" pitchFamily="34" charset="-120"/>
              </a:rPr>
              <a:t>Real traces are 100-minute excerpts of 14-day traces from the public Azure Functions 2019 dataset (10,000+ workloads); the full-dataset converter is written but not yet run.</a:t>
            </a:r>
            <a:endParaRPr lang="en-US" sz="1200" dirty="0"/>
          </a:p>
        </p:txBody>
      </p:sp>
      <p:sp>
        <p:nvSpPr>
          <p:cNvPr id="15" name="Text 12"/>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6" name="Text 13"/>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6 / 21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RESULTS &amp; ANALYSIS · SETUP</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How the comparison was run</a:t>
            </a:r>
            <a:endParaRPr lang="en-US" sz="3000" dirty="0"/>
          </a:p>
        </p:txBody>
      </p:sp>
      <p:sp>
        <p:nvSpPr>
          <p:cNvPr id="4" name="Shape 2"/>
          <p:cNvSpPr/>
          <p:nvPr/>
        </p:nvSpPr>
        <p:spPr>
          <a:xfrm>
            <a:off x="548640" y="1554480"/>
            <a:ext cx="2587752" cy="2514600"/>
          </a:xfrm>
          <a:prstGeom prst="roundRect">
            <a:avLst>
              <a:gd name="adj" fmla="val 2909"/>
            </a:avLst>
          </a:prstGeom>
          <a:solidFill>
            <a:srgbClr val="F3F5F8"/>
          </a:solidFill>
          <a:ln w="12700">
            <a:solidFill>
              <a:srgbClr val="F3F5F8"/>
            </a:solidFill>
            <a:prstDash val="solid"/>
          </a:ln>
        </p:spPr>
      </p:sp>
      <p:sp>
        <p:nvSpPr>
          <p:cNvPr id="5" name="Shape 3"/>
          <p:cNvSpPr/>
          <p:nvPr/>
        </p:nvSpPr>
        <p:spPr>
          <a:xfrm>
            <a:off x="777240" y="1783080"/>
            <a:ext cx="411480" cy="411480"/>
          </a:xfrm>
          <a:prstGeom prst="ellipse">
            <a:avLst/>
          </a:prstGeom>
          <a:solidFill>
            <a:srgbClr val="13223A"/>
          </a:solidFill>
          <a:ln w="12700">
            <a:solidFill>
              <a:srgbClr val="13223A"/>
            </a:solidFill>
            <a:prstDash val="solid"/>
          </a:ln>
        </p:spPr>
      </p:sp>
      <p:sp>
        <p:nvSpPr>
          <p:cNvPr id="6" name="Text 4"/>
          <p:cNvSpPr txBox="1"/>
          <p:nvPr/>
        </p:nvSpPr>
        <p:spPr>
          <a:xfrm>
            <a:off x="777240" y="17830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777240" y="2331720"/>
            <a:ext cx="2194560" cy="365760"/>
          </a:xfrm>
          <a:prstGeom prst="rect">
            <a:avLst/>
          </a:prstGeom>
          <a:noFill/>
          <a:ln/>
        </p:spPr>
        <p:txBody>
          <a:bodyPr wrap="square" lIns="0" tIns="0" rIns="0" bIns="0" rtlCol="0" anchor="t"/>
          <a:lstStyle/>
          <a:p>
            <a:pPr indent="0" marL="0">
              <a:buNone/>
            </a:pPr>
            <a:r>
              <a:rPr lang="en-US" sz="1700" b="1" dirty="0">
                <a:solidFill>
                  <a:srgbClr val="13223A"/>
                </a:solidFill>
                <a:latin typeface="Cambria" pitchFamily="34" charset="0"/>
                <a:ea typeface="Cambria" pitchFamily="34" charset="-122"/>
                <a:cs typeface="Cambria" pitchFamily="34" charset="-120"/>
              </a:rPr>
              <a:t>Workloads</a:t>
            </a:r>
            <a:endParaRPr lang="en-US" sz="1700" dirty="0"/>
          </a:p>
        </p:txBody>
      </p:sp>
      <p:sp>
        <p:nvSpPr>
          <p:cNvPr id="8" name="Text 6"/>
          <p:cNvSpPr txBox="1"/>
          <p:nvPr/>
        </p:nvSpPr>
        <p:spPr>
          <a:xfrm>
            <a:off x="777240" y="2743200"/>
            <a:ext cx="2194560" cy="12344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9 traces — 5 real Azure Functions 2019 excerpts plus 4 synthetic stress scenarios.</a:t>
            </a:r>
            <a:endParaRPr lang="en-US" sz="1300" dirty="0"/>
          </a:p>
        </p:txBody>
      </p:sp>
      <p:sp>
        <p:nvSpPr>
          <p:cNvPr id="9" name="Shape 7"/>
          <p:cNvSpPr/>
          <p:nvPr/>
        </p:nvSpPr>
        <p:spPr>
          <a:xfrm>
            <a:off x="3383280" y="1554480"/>
            <a:ext cx="2587752" cy="2514600"/>
          </a:xfrm>
          <a:prstGeom prst="roundRect">
            <a:avLst>
              <a:gd name="adj" fmla="val 2909"/>
            </a:avLst>
          </a:prstGeom>
          <a:solidFill>
            <a:srgbClr val="F3F5F8"/>
          </a:solidFill>
          <a:ln w="12700">
            <a:solidFill>
              <a:srgbClr val="F3F5F8"/>
            </a:solidFill>
            <a:prstDash val="solid"/>
          </a:ln>
        </p:spPr>
      </p:sp>
      <p:sp>
        <p:nvSpPr>
          <p:cNvPr id="10" name="Shape 8"/>
          <p:cNvSpPr/>
          <p:nvPr/>
        </p:nvSpPr>
        <p:spPr>
          <a:xfrm>
            <a:off x="3611880" y="1783080"/>
            <a:ext cx="411480" cy="411480"/>
          </a:xfrm>
          <a:prstGeom prst="ellipse">
            <a:avLst/>
          </a:prstGeom>
          <a:solidFill>
            <a:srgbClr val="13223A"/>
          </a:solidFill>
          <a:ln w="12700">
            <a:solidFill>
              <a:srgbClr val="13223A"/>
            </a:solidFill>
            <a:prstDash val="solid"/>
          </a:ln>
        </p:spPr>
      </p:sp>
      <p:sp>
        <p:nvSpPr>
          <p:cNvPr id="11" name="Text 9"/>
          <p:cNvSpPr txBox="1"/>
          <p:nvPr/>
        </p:nvSpPr>
        <p:spPr>
          <a:xfrm>
            <a:off x="3611880" y="17830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3611880" y="2331720"/>
            <a:ext cx="2194560" cy="365760"/>
          </a:xfrm>
          <a:prstGeom prst="rect">
            <a:avLst/>
          </a:prstGeom>
          <a:noFill/>
          <a:ln/>
        </p:spPr>
        <p:txBody>
          <a:bodyPr wrap="square" lIns="0" tIns="0" rIns="0" bIns="0" rtlCol="0" anchor="t"/>
          <a:lstStyle/>
          <a:p>
            <a:pPr indent="0" marL="0">
              <a:buNone/>
            </a:pPr>
            <a:r>
              <a:rPr lang="en-US" sz="1700" b="1" dirty="0">
                <a:solidFill>
                  <a:srgbClr val="13223A"/>
                </a:solidFill>
                <a:latin typeface="Cambria" pitchFamily="34" charset="0"/>
                <a:ea typeface="Cambria" pitchFamily="34" charset="-122"/>
                <a:cs typeface="Cambria" pitchFamily="34" charset="-120"/>
              </a:rPr>
              <a:t>Controllers</a:t>
            </a:r>
            <a:endParaRPr lang="en-US" sz="1700" dirty="0"/>
          </a:p>
        </p:txBody>
      </p:sp>
      <p:sp>
        <p:nvSpPr>
          <p:cNvPr id="13" name="Text 11"/>
          <p:cNvSpPr txBox="1"/>
          <p:nvPr/>
        </p:nvSpPr>
        <p:spPr>
          <a:xfrm>
            <a:off x="3611880" y="2743200"/>
            <a:ext cx="2194560" cy="12344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CHIMERA, CHIMERA v1 (Review 2), HPA, VPA, HPA+VPA, AAPA, MagicScaler-inspired, KOSMOS, plus 20 ablation and 4 sensitivity variants.</a:t>
            </a:r>
            <a:endParaRPr lang="en-US" sz="1300" dirty="0"/>
          </a:p>
        </p:txBody>
      </p:sp>
      <p:sp>
        <p:nvSpPr>
          <p:cNvPr id="14" name="Shape 12"/>
          <p:cNvSpPr/>
          <p:nvPr/>
        </p:nvSpPr>
        <p:spPr>
          <a:xfrm>
            <a:off x="6217920" y="1554480"/>
            <a:ext cx="2587752" cy="2514600"/>
          </a:xfrm>
          <a:prstGeom prst="roundRect">
            <a:avLst>
              <a:gd name="adj" fmla="val 2909"/>
            </a:avLst>
          </a:prstGeom>
          <a:solidFill>
            <a:srgbClr val="F3F5F8"/>
          </a:solidFill>
          <a:ln w="12700">
            <a:solidFill>
              <a:srgbClr val="F3F5F8"/>
            </a:solidFill>
            <a:prstDash val="solid"/>
          </a:ln>
        </p:spPr>
      </p:sp>
      <p:sp>
        <p:nvSpPr>
          <p:cNvPr id="15" name="Shape 13"/>
          <p:cNvSpPr/>
          <p:nvPr/>
        </p:nvSpPr>
        <p:spPr>
          <a:xfrm>
            <a:off x="6446520" y="1783080"/>
            <a:ext cx="411480" cy="411480"/>
          </a:xfrm>
          <a:prstGeom prst="ellipse">
            <a:avLst/>
          </a:prstGeom>
          <a:solidFill>
            <a:srgbClr val="13223A"/>
          </a:solidFill>
          <a:ln w="12700">
            <a:solidFill>
              <a:srgbClr val="13223A"/>
            </a:solidFill>
            <a:prstDash val="solid"/>
          </a:ln>
        </p:spPr>
      </p:sp>
      <p:sp>
        <p:nvSpPr>
          <p:cNvPr id="16" name="Text 14"/>
          <p:cNvSpPr txBox="1"/>
          <p:nvPr/>
        </p:nvSpPr>
        <p:spPr>
          <a:xfrm>
            <a:off x="6446520" y="17830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6446520" y="2331720"/>
            <a:ext cx="2194560" cy="365760"/>
          </a:xfrm>
          <a:prstGeom prst="rect">
            <a:avLst/>
          </a:prstGeom>
          <a:noFill/>
          <a:ln/>
        </p:spPr>
        <p:txBody>
          <a:bodyPr wrap="square" lIns="0" tIns="0" rIns="0" bIns="0" rtlCol="0" anchor="t"/>
          <a:lstStyle/>
          <a:p>
            <a:pPr indent="0" marL="0">
              <a:buNone/>
            </a:pPr>
            <a:r>
              <a:rPr lang="en-US" sz="1700" b="1" dirty="0">
                <a:solidFill>
                  <a:srgbClr val="13223A"/>
                </a:solidFill>
                <a:latin typeface="Cambria" pitchFamily="34" charset="0"/>
                <a:ea typeface="Cambria" pitchFamily="34" charset="-122"/>
                <a:cs typeface="Cambria" pitchFamily="34" charset="-120"/>
              </a:rPr>
              <a:t>Protocol</a:t>
            </a:r>
            <a:endParaRPr lang="en-US" sz="1700" dirty="0"/>
          </a:p>
        </p:txBody>
      </p:sp>
      <p:sp>
        <p:nvSpPr>
          <p:cNvPr id="18" name="Text 16"/>
          <p:cNvSpPr txBox="1"/>
          <p:nvPr/>
        </p:nvSpPr>
        <p:spPr>
          <a:xfrm>
            <a:off x="6446520" y="2743200"/>
            <a:ext cx="2194560" cy="12344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10 seeds × 9 workloads × 37 configurations = 3,330 runs, plus a 3,465-run cost/SLO frontier sweep. Scored on minutes 70–100 only.</a:t>
            </a:r>
            <a:endParaRPr lang="en-US" sz="1300" dirty="0"/>
          </a:p>
        </p:txBody>
      </p:sp>
      <p:sp>
        <p:nvSpPr>
          <p:cNvPr id="19" name="Shape 17"/>
          <p:cNvSpPr/>
          <p:nvPr/>
        </p:nvSpPr>
        <p:spPr>
          <a:xfrm>
            <a:off x="9052560" y="1554480"/>
            <a:ext cx="2587752" cy="2514600"/>
          </a:xfrm>
          <a:prstGeom prst="roundRect">
            <a:avLst>
              <a:gd name="adj" fmla="val 2909"/>
            </a:avLst>
          </a:prstGeom>
          <a:solidFill>
            <a:srgbClr val="F3F5F8"/>
          </a:solidFill>
          <a:ln w="12700">
            <a:solidFill>
              <a:srgbClr val="F3F5F8"/>
            </a:solidFill>
            <a:prstDash val="solid"/>
          </a:ln>
        </p:spPr>
      </p:sp>
      <p:sp>
        <p:nvSpPr>
          <p:cNvPr id="20" name="Shape 18"/>
          <p:cNvSpPr/>
          <p:nvPr/>
        </p:nvSpPr>
        <p:spPr>
          <a:xfrm>
            <a:off x="9281160" y="1783080"/>
            <a:ext cx="411480" cy="411480"/>
          </a:xfrm>
          <a:prstGeom prst="ellipse">
            <a:avLst/>
          </a:prstGeom>
          <a:solidFill>
            <a:srgbClr val="13223A"/>
          </a:solidFill>
          <a:ln w="12700">
            <a:solidFill>
              <a:srgbClr val="13223A"/>
            </a:solidFill>
            <a:prstDash val="solid"/>
          </a:ln>
        </p:spPr>
      </p:sp>
      <p:sp>
        <p:nvSpPr>
          <p:cNvPr id="21" name="Text 19"/>
          <p:cNvSpPr txBox="1"/>
          <p:nvPr/>
        </p:nvSpPr>
        <p:spPr>
          <a:xfrm>
            <a:off x="9281160" y="17830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9281160" y="2331720"/>
            <a:ext cx="2194560" cy="365760"/>
          </a:xfrm>
          <a:prstGeom prst="rect">
            <a:avLst/>
          </a:prstGeom>
          <a:noFill/>
          <a:ln/>
        </p:spPr>
        <p:txBody>
          <a:bodyPr wrap="square" lIns="0" tIns="0" rIns="0" bIns="0" rtlCol="0" anchor="t"/>
          <a:lstStyle/>
          <a:p>
            <a:pPr indent="0" marL="0">
              <a:buNone/>
            </a:pPr>
            <a:r>
              <a:rPr lang="en-US" sz="1700" b="1" dirty="0">
                <a:solidFill>
                  <a:srgbClr val="13223A"/>
                </a:solidFill>
                <a:latin typeface="Cambria" pitchFamily="34" charset="0"/>
                <a:ea typeface="Cambria" pitchFamily="34" charset="-122"/>
                <a:cs typeface="Cambria" pitchFamily="34" charset="-120"/>
              </a:rPr>
              <a:t>Metrics</a:t>
            </a:r>
            <a:endParaRPr lang="en-US" sz="1700" dirty="0"/>
          </a:p>
        </p:txBody>
      </p:sp>
      <p:sp>
        <p:nvSpPr>
          <p:cNvPr id="23" name="Text 21"/>
          <p:cNvSpPr txBox="1"/>
          <p:nvPr/>
        </p:nvSpPr>
        <p:spPr>
          <a:xfrm>
            <a:off x="9281160" y="2743200"/>
            <a:ext cx="2194560" cy="12344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SLO violation rate (500 ms), p99 latency, CPU core-minutes (real cost), pod-minutes, scaling actions.</a:t>
            </a:r>
            <a:endParaRPr lang="en-US" sz="1300" dirty="0"/>
          </a:p>
        </p:txBody>
      </p:sp>
      <p:sp>
        <p:nvSpPr>
          <p:cNvPr id="24" name="Shape 22"/>
          <p:cNvSpPr/>
          <p:nvPr/>
        </p:nvSpPr>
        <p:spPr>
          <a:xfrm>
            <a:off x="548640" y="4343400"/>
            <a:ext cx="11091672" cy="1783080"/>
          </a:xfrm>
          <a:prstGeom prst="roundRect">
            <a:avLst>
              <a:gd name="adj" fmla="val 4103"/>
            </a:avLst>
          </a:prstGeom>
          <a:solidFill>
            <a:srgbClr val="13223A"/>
          </a:solidFill>
          <a:ln w="12700">
            <a:solidFill>
              <a:srgbClr val="13223A"/>
            </a:solidFill>
            <a:prstDash val="solid"/>
          </a:ln>
        </p:spPr>
      </p:sp>
      <p:sp>
        <p:nvSpPr>
          <p:cNvPr id="25" name="Text 23"/>
          <p:cNvSpPr txBox="1"/>
          <p:nvPr/>
        </p:nvSpPr>
        <p:spPr>
          <a:xfrm>
            <a:off x="868680" y="4572000"/>
            <a:ext cx="4572000" cy="274320"/>
          </a:xfrm>
          <a:prstGeom prst="rect">
            <a:avLst/>
          </a:prstGeom>
          <a:noFill/>
          <a:ln/>
        </p:spPr>
        <p:txBody>
          <a:bodyPr wrap="square" lIns="0" tIns="0" rIns="0" bIns="0" rtlCol="0" anchor="t"/>
          <a:lstStyle/>
          <a:p>
            <a:pPr indent="0" marL="0">
              <a:buNone/>
            </a:pPr>
            <a:r>
              <a:rPr lang="en-US" sz="1100" b="1" spc="200" kern="0" dirty="0">
                <a:solidFill>
                  <a:srgbClr val="E3A646"/>
                </a:solidFill>
                <a:latin typeface="Calibri" pitchFamily="34" charset="0"/>
                <a:ea typeface="Calibri" pitchFamily="34" charset="-122"/>
                <a:cs typeface="Calibri" pitchFamily="34" charset="-120"/>
              </a:rPr>
              <a:t>FAIRNESS CONTROL</a:t>
            </a:r>
            <a:endParaRPr lang="en-US" sz="1100" dirty="0"/>
          </a:p>
        </p:txBody>
      </p:sp>
      <p:sp>
        <p:nvSpPr>
          <p:cNvPr id="26" name="Text 24"/>
          <p:cNvSpPr txBox="1"/>
          <p:nvPr/>
        </p:nvSpPr>
        <p:spPr>
          <a:xfrm>
            <a:off x="868680" y="4919472"/>
            <a:ext cx="10424160" cy="10972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Every controller starts from identical resource bounds (0.5 cores/pod, 2 replicas) and targets the same 70 % utilisation. Baseline bugs found in audit were fixed first: MagicScaler assumed 3× larger pods, HPA+VPA never fired its VPA loop, and a load-sensor cap hid overload from every controller. 1.5-core head-start variants are reported separately.</a:t>
            </a:r>
            <a:endParaRPr lang="en-US" sz="1400" dirty="0"/>
          </a:p>
        </p:txBody>
      </p:sp>
      <p:sp>
        <p:nvSpPr>
          <p:cNvPr id="27" name="Text 25"/>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28" name="Text 26"/>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7 / 21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MODULE IDENTIFICATION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Twelve modules across four subsystems</a:t>
            </a:r>
            <a:endParaRPr lang="en-US" sz="3000" dirty="0"/>
          </a:p>
        </p:txBody>
      </p:sp>
      <p:sp>
        <p:nvSpPr>
          <p:cNvPr id="4" name="Text 2"/>
          <p:cNvSpPr txBox="1"/>
          <p:nvPr/>
        </p:nvSpPr>
        <p:spPr>
          <a:xfrm>
            <a:off x="548640" y="1508760"/>
            <a:ext cx="2606040" cy="365760"/>
          </a:xfrm>
          <a:prstGeom prst="rect">
            <a:avLst/>
          </a:prstGeom>
          <a:noFill/>
          <a:ln/>
        </p:spPr>
        <p:txBody>
          <a:bodyPr wrap="square" lIns="0" tIns="0" rIns="0" bIns="0" rtlCol="0" anchor="t"/>
          <a:lstStyle/>
          <a:p>
            <a:pPr indent="0" marL="0">
              <a:buNone/>
            </a:pPr>
            <a:r>
              <a:rPr lang="en-US" sz="1600" b="1" dirty="0">
                <a:solidFill>
                  <a:srgbClr val="2563EB"/>
                </a:solidFill>
                <a:latin typeface="Cambria" pitchFamily="34" charset="0"/>
                <a:ea typeface="Cambria" pitchFamily="34" charset="-122"/>
                <a:cs typeface="Cambria" pitchFamily="34" charset="-120"/>
              </a:rPr>
              <a:t>Data &amp; Prediction</a:t>
            </a:r>
            <a:endParaRPr lang="en-US" sz="1600" dirty="0"/>
          </a:p>
        </p:txBody>
      </p:sp>
      <p:sp>
        <p:nvSpPr>
          <p:cNvPr id="5" name="Shape 3"/>
          <p:cNvSpPr/>
          <p:nvPr/>
        </p:nvSpPr>
        <p:spPr>
          <a:xfrm>
            <a:off x="548640" y="1920240"/>
            <a:ext cx="2606040" cy="0"/>
          </a:xfrm>
          <a:prstGeom prst="line">
            <a:avLst/>
          </a:prstGeom>
          <a:noFill/>
          <a:ln w="19050">
            <a:solidFill>
              <a:srgbClr val="2563EB"/>
            </a:solidFill>
            <a:prstDash val="solid"/>
          </a:ln>
        </p:spPr>
      </p:sp>
      <p:sp>
        <p:nvSpPr>
          <p:cNvPr id="6" name="Shape 4"/>
          <p:cNvSpPr/>
          <p:nvPr/>
        </p:nvSpPr>
        <p:spPr>
          <a:xfrm>
            <a:off x="548640" y="2103120"/>
            <a:ext cx="2606040" cy="868680"/>
          </a:xfrm>
          <a:prstGeom prst="roundRect">
            <a:avLst>
              <a:gd name="adj" fmla="val 8421"/>
            </a:avLst>
          </a:prstGeom>
          <a:solidFill>
            <a:srgbClr val="F3F5F8"/>
          </a:solidFill>
          <a:ln w="12700">
            <a:solidFill>
              <a:srgbClr val="F3F5F8"/>
            </a:solidFill>
            <a:prstDash val="solid"/>
          </a:ln>
        </p:spPr>
      </p:sp>
      <p:sp>
        <p:nvSpPr>
          <p:cNvPr id="7" name="Shape 5"/>
          <p:cNvSpPr/>
          <p:nvPr/>
        </p:nvSpPr>
        <p:spPr>
          <a:xfrm>
            <a:off x="676656" y="2331720"/>
            <a:ext cx="402336" cy="402336"/>
          </a:xfrm>
          <a:prstGeom prst="ellipse">
            <a:avLst/>
          </a:prstGeom>
          <a:solidFill>
            <a:srgbClr val="2563EB"/>
          </a:solidFill>
          <a:ln w="12700">
            <a:solidFill>
              <a:srgbClr val="2563EB"/>
            </a:solidFill>
            <a:prstDash val="solid"/>
          </a:ln>
        </p:spPr>
      </p:sp>
      <p:sp>
        <p:nvSpPr>
          <p:cNvPr id="8" name="Text 6"/>
          <p:cNvSpPr txBox="1"/>
          <p:nvPr/>
        </p:nvSpPr>
        <p:spPr>
          <a:xfrm>
            <a:off x="676656" y="23317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txBox="1"/>
          <p:nvPr/>
        </p:nvSpPr>
        <p:spPr>
          <a:xfrm>
            <a:off x="1188720" y="219456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Workload loader + trace parser</a:t>
            </a:r>
            <a:endParaRPr lang="en-US" sz="1200" dirty="0"/>
          </a:p>
        </p:txBody>
      </p:sp>
      <p:sp>
        <p:nvSpPr>
          <p:cNvPr id="10" name="Text 8"/>
          <p:cNvSpPr txBox="1"/>
          <p:nvPr/>
        </p:nvSpPr>
        <p:spPr>
          <a:xfrm>
            <a:off x="1188720" y="267004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src/data/loader.py</a:t>
            </a:r>
            <a:endParaRPr lang="en-US" sz="800" dirty="0"/>
          </a:p>
        </p:txBody>
      </p:sp>
      <p:sp>
        <p:nvSpPr>
          <p:cNvPr id="11" name="Shape 9"/>
          <p:cNvSpPr/>
          <p:nvPr/>
        </p:nvSpPr>
        <p:spPr>
          <a:xfrm>
            <a:off x="548640" y="3108960"/>
            <a:ext cx="2606040" cy="868680"/>
          </a:xfrm>
          <a:prstGeom prst="roundRect">
            <a:avLst>
              <a:gd name="adj" fmla="val 8421"/>
            </a:avLst>
          </a:prstGeom>
          <a:solidFill>
            <a:srgbClr val="F3F5F8"/>
          </a:solidFill>
          <a:ln w="12700">
            <a:solidFill>
              <a:srgbClr val="F3F5F8"/>
            </a:solidFill>
            <a:prstDash val="solid"/>
          </a:ln>
        </p:spPr>
      </p:sp>
      <p:sp>
        <p:nvSpPr>
          <p:cNvPr id="12" name="Shape 10"/>
          <p:cNvSpPr/>
          <p:nvPr/>
        </p:nvSpPr>
        <p:spPr>
          <a:xfrm>
            <a:off x="676656" y="3337560"/>
            <a:ext cx="402336" cy="402336"/>
          </a:xfrm>
          <a:prstGeom prst="ellipse">
            <a:avLst/>
          </a:prstGeom>
          <a:solidFill>
            <a:srgbClr val="2563EB"/>
          </a:solidFill>
          <a:ln w="12700">
            <a:solidFill>
              <a:srgbClr val="2563EB"/>
            </a:solidFill>
            <a:prstDash val="solid"/>
          </a:ln>
        </p:spPr>
      </p:sp>
      <p:sp>
        <p:nvSpPr>
          <p:cNvPr id="13" name="Text 11"/>
          <p:cNvSpPr txBox="1"/>
          <p:nvPr/>
        </p:nvSpPr>
        <p:spPr>
          <a:xfrm>
            <a:off x="676656" y="333756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txBox="1"/>
          <p:nvPr/>
        </p:nvSpPr>
        <p:spPr>
          <a:xfrm>
            <a:off x="1188720" y="320040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Rolling feature extractor</a:t>
            </a:r>
            <a:endParaRPr lang="en-US" sz="1200" dirty="0"/>
          </a:p>
        </p:txBody>
      </p:sp>
      <p:sp>
        <p:nvSpPr>
          <p:cNvPr id="15" name="Text 13"/>
          <p:cNvSpPr txBox="1"/>
          <p:nvPr/>
        </p:nvSpPr>
        <p:spPr>
          <a:xfrm>
            <a:off x="1188720" y="367588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src/data/features.py</a:t>
            </a:r>
            <a:endParaRPr lang="en-US" sz="800" dirty="0"/>
          </a:p>
        </p:txBody>
      </p:sp>
      <p:sp>
        <p:nvSpPr>
          <p:cNvPr id="16" name="Shape 14"/>
          <p:cNvSpPr/>
          <p:nvPr/>
        </p:nvSpPr>
        <p:spPr>
          <a:xfrm>
            <a:off x="548640" y="4114800"/>
            <a:ext cx="2606040" cy="868680"/>
          </a:xfrm>
          <a:prstGeom prst="roundRect">
            <a:avLst>
              <a:gd name="adj" fmla="val 8421"/>
            </a:avLst>
          </a:prstGeom>
          <a:solidFill>
            <a:srgbClr val="F3F5F8"/>
          </a:solidFill>
          <a:ln w="12700">
            <a:solidFill>
              <a:srgbClr val="F3F5F8"/>
            </a:solidFill>
            <a:prstDash val="solid"/>
          </a:ln>
        </p:spPr>
      </p:sp>
      <p:sp>
        <p:nvSpPr>
          <p:cNvPr id="17" name="Shape 15"/>
          <p:cNvSpPr/>
          <p:nvPr/>
        </p:nvSpPr>
        <p:spPr>
          <a:xfrm>
            <a:off x="676656" y="4343400"/>
            <a:ext cx="402336" cy="402336"/>
          </a:xfrm>
          <a:prstGeom prst="ellipse">
            <a:avLst/>
          </a:prstGeom>
          <a:solidFill>
            <a:srgbClr val="2563EB"/>
          </a:solidFill>
          <a:ln w="12700">
            <a:solidFill>
              <a:srgbClr val="2563EB"/>
            </a:solidFill>
            <a:prstDash val="solid"/>
          </a:ln>
        </p:spPr>
      </p:sp>
      <p:sp>
        <p:nvSpPr>
          <p:cNvPr id="18" name="Text 16"/>
          <p:cNvSpPr txBox="1"/>
          <p:nvPr/>
        </p:nvSpPr>
        <p:spPr>
          <a:xfrm>
            <a:off x="676656" y="434340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txBox="1"/>
          <p:nvPr/>
        </p:nvSpPr>
        <p:spPr>
          <a:xfrm>
            <a:off x="1188720" y="420624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Conformal quantile regressor</a:t>
            </a:r>
            <a:endParaRPr lang="en-US" sz="1200" dirty="0"/>
          </a:p>
        </p:txBody>
      </p:sp>
      <p:sp>
        <p:nvSpPr>
          <p:cNvPr id="20" name="Text 18"/>
          <p:cNvSpPr txBox="1"/>
          <p:nvPr/>
        </p:nvSpPr>
        <p:spPr>
          <a:xfrm>
            <a:off x="1188720" y="468172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src/models/cqr_uncertainty.py</a:t>
            </a:r>
            <a:endParaRPr lang="en-US" sz="800" dirty="0"/>
          </a:p>
        </p:txBody>
      </p:sp>
      <p:sp>
        <p:nvSpPr>
          <p:cNvPr id="21" name="Shape 19"/>
          <p:cNvSpPr/>
          <p:nvPr/>
        </p:nvSpPr>
        <p:spPr>
          <a:xfrm>
            <a:off x="548640" y="5120640"/>
            <a:ext cx="2606040" cy="868680"/>
          </a:xfrm>
          <a:prstGeom prst="roundRect">
            <a:avLst>
              <a:gd name="adj" fmla="val 8421"/>
            </a:avLst>
          </a:prstGeom>
          <a:solidFill>
            <a:srgbClr val="F3F5F8"/>
          </a:solidFill>
          <a:ln w="12700">
            <a:solidFill>
              <a:srgbClr val="F3F5F8"/>
            </a:solidFill>
            <a:prstDash val="solid"/>
          </a:ln>
        </p:spPr>
      </p:sp>
      <p:sp>
        <p:nvSpPr>
          <p:cNvPr id="22" name="Shape 20"/>
          <p:cNvSpPr/>
          <p:nvPr/>
        </p:nvSpPr>
        <p:spPr>
          <a:xfrm>
            <a:off x="676656" y="5349240"/>
            <a:ext cx="402336" cy="402336"/>
          </a:xfrm>
          <a:prstGeom prst="ellipse">
            <a:avLst/>
          </a:prstGeom>
          <a:solidFill>
            <a:srgbClr val="2563EB"/>
          </a:solidFill>
          <a:ln w="12700">
            <a:solidFill>
              <a:srgbClr val="2563EB"/>
            </a:solidFill>
            <a:prstDash val="solid"/>
          </a:ln>
        </p:spPr>
      </p:sp>
      <p:sp>
        <p:nvSpPr>
          <p:cNvPr id="23" name="Text 21"/>
          <p:cNvSpPr txBox="1"/>
          <p:nvPr/>
        </p:nvSpPr>
        <p:spPr>
          <a:xfrm>
            <a:off x="676656" y="534924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2"/>
          <p:cNvSpPr txBox="1"/>
          <p:nvPr/>
        </p:nvSpPr>
        <p:spPr>
          <a:xfrm>
            <a:off x="1188720" y="521208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ADWIN drift detector</a:t>
            </a:r>
            <a:endParaRPr lang="en-US" sz="1200" dirty="0"/>
          </a:p>
        </p:txBody>
      </p:sp>
      <p:sp>
        <p:nvSpPr>
          <p:cNvPr id="25" name="Text 23"/>
          <p:cNvSpPr txBox="1"/>
          <p:nvPr/>
        </p:nvSpPr>
        <p:spPr>
          <a:xfrm>
            <a:off x="1188720" y="568756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src/models/drift_detector.py</a:t>
            </a:r>
            <a:endParaRPr lang="en-US" sz="800" dirty="0"/>
          </a:p>
        </p:txBody>
      </p:sp>
      <p:sp>
        <p:nvSpPr>
          <p:cNvPr id="26" name="Text 24"/>
          <p:cNvSpPr txBox="1"/>
          <p:nvPr/>
        </p:nvSpPr>
        <p:spPr>
          <a:xfrm>
            <a:off x="3383280" y="1508760"/>
            <a:ext cx="2606040" cy="365760"/>
          </a:xfrm>
          <a:prstGeom prst="rect">
            <a:avLst/>
          </a:prstGeom>
          <a:noFill/>
          <a:ln/>
        </p:spPr>
        <p:txBody>
          <a:bodyPr wrap="square" lIns="0" tIns="0" rIns="0" bIns="0" rtlCol="0" anchor="t"/>
          <a:lstStyle/>
          <a:p>
            <a:pPr indent="0" marL="0">
              <a:buNone/>
            </a:pPr>
            <a:r>
              <a:rPr lang="en-US" sz="1600" b="1" dirty="0">
                <a:solidFill>
                  <a:srgbClr val="C7811A"/>
                </a:solidFill>
                <a:latin typeface="Cambria" pitchFamily="34" charset="0"/>
                <a:ea typeface="Cambria" pitchFamily="34" charset="-122"/>
                <a:cs typeface="Cambria" pitchFamily="34" charset="-120"/>
              </a:rPr>
              <a:t>Control</a:t>
            </a:r>
            <a:endParaRPr lang="en-US" sz="1600" dirty="0"/>
          </a:p>
        </p:txBody>
      </p:sp>
      <p:sp>
        <p:nvSpPr>
          <p:cNvPr id="27" name="Shape 25"/>
          <p:cNvSpPr/>
          <p:nvPr/>
        </p:nvSpPr>
        <p:spPr>
          <a:xfrm>
            <a:off x="3383280" y="1920240"/>
            <a:ext cx="2606040" cy="0"/>
          </a:xfrm>
          <a:prstGeom prst="line">
            <a:avLst/>
          </a:prstGeom>
          <a:noFill/>
          <a:ln w="19050">
            <a:solidFill>
              <a:srgbClr val="C7811A"/>
            </a:solidFill>
            <a:prstDash val="solid"/>
          </a:ln>
        </p:spPr>
      </p:sp>
      <p:sp>
        <p:nvSpPr>
          <p:cNvPr id="28" name="Shape 26"/>
          <p:cNvSpPr/>
          <p:nvPr/>
        </p:nvSpPr>
        <p:spPr>
          <a:xfrm>
            <a:off x="3383280" y="2103120"/>
            <a:ext cx="2606040" cy="868680"/>
          </a:xfrm>
          <a:prstGeom prst="roundRect">
            <a:avLst>
              <a:gd name="adj" fmla="val 8421"/>
            </a:avLst>
          </a:prstGeom>
          <a:solidFill>
            <a:srgbClr val="F3F5F8"/>
          </a:solidFill>
          <a:ln w="12700">
            <a:solidFill>
              <a:srgbClr val="F3F5F8"/>
            </a:solidFill>
            <a:prstDash val="solid"/>
          </a:ln>
        </p:spPr>
      </p:sp>
      <p:sp>
        <p:nvSpPr>
          <p:cNvPr id="29" name="Shape 27"/>
          <p:cNvSpPr/>
          <p:nvPr/>
        </p:nvSpPr>
        <p:spPr>
          <a:xfrm>
            <a:off x="3511296" y="2331720"/>
            <a:ext cx="402336" cy="402336"/>
          </a:xfrm>
          <a:prstGeom prst="ellipse">
            <a:avLst/>
          </a:prstGeom>
          <a:solidFill>
            <a:srgbClr val="C7811A"/>
          </a:solidFill>
          <a:ln w="12700">
            <a:solidFill>
              <a:srgbClr val="C7811A"/>
            </a:solidFill>
            <a:prstDash val="solid"/>
          </a:ln>
        </p:spPr>
      </p:sp>
      <p:sp>
        <p:nvSpPr>
          <p:cNvPr id="30" name="Text 28"/>
          <p:cNvSpPr txBox="1"/>
          <p:nvPr/>
        </p:nvSpPr>
        <p:spPr>
          <a:xfrm>
            <a:off x="3511296" y="23317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1" name="Text 29"/>
          <p:cNvSpPr txBox="1"/>
          <p:nvPr/>
        </p:nvSpPr>
        <p:spPr>
          <a:xfrm>
            <a:off x="4023360" y="219456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DARE / LQR gain solver</a:t>
            </a:r>
            <a:endParaRPr lang="en-US" sz="1200" dirty="0"/>
          </a:p>
        </p:txBody>
      </p:sp>
      <p:sp>
        <p:nvSpPr>
          <p:cNvPr id="32" name="Text 30"/>
          <p:cNvSpPr txBox="1"/>
          <p:nvPr/>
        </p:nvSpPr>
        <p:spPr>
          <a:xfrm>
            <a:off x="4023360" y="267004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chimera_controller.py</a:t>
            </a:r>
            <a:endParaRPr lang="en-US" sz="800" dirty="0"/>
          </a:p>
        </p:txBody>
      </p:sp>
      <p:sp>
        <p:nvSpPr>
          <p:cNvPr id="33" name="Shape 31"/>
          <p:cNvSpPr/>
          <p:nvPr/>
        </p:nvSpPr>
        <p:spPr>
          <a:xfrm>
            <a:off x="3383280" y="3108960"/>
            <a:ext cx="2606040" cy="868680"/>
          </a:xfrm>
          <a:prstGeom prst="roundRect">
            <a:avLst>
              <a:gd name="adj" fmla="val 8421"/>
            </a:avLst>
          </a:prstGeom>
          <a:solidFill>
            <a:srgbClr val="F3F5F8"/>
          </a:solidFill>
          <a:ln w="12700">
            <a:solidFill>
              <a:srgbClr val="F3F5F8"/>
            </a:solidFill>
            <a:prstDash val="solid"/>
          </a:ln>
        </p:spPr>
      </p:sp>
      <p:sp>
        <p:nvSpPr>
          <p:cNvPr id="34" name="Shape 32"/>
          <p:cNvSpPr/>
          <p:nvPr/>
        </p:nvSpPr>
        <p:spPr>
          <a:xfrm>
            <a:off x="3511296" y="3337560"/>
            <a:ext cx="402336" cy="402336"/>
          </a:xfrm>
          <a:prstGeom prst="ellipse">
            <a:avLst/>
          </a:prstGeom>
          <a:solidFill>
            <a:srgbClr val="C7811A"/>
          </a:solidFill>
          <a:ln w="12700">
            <a:solidFill>
              <a:srgbClr val="C7811A"/>
            </a:solidFill>
            <a:prstDash val="solid"/>
          </a:ln>
        </p:spPr>
      </p:sp>
      <p:sp>
        <p:nvSpPr>
          <p:cNvPr id="35" name="Text 33"/>
          <p:cNvSpPr txBox="1"/>
          <p:nvPr/>
        </p:nvSpPr>
        <p:spPr>
          <a:xfrm>
            <a:off x="3511296" y="333756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6" name="Text 34"/>
          <p:cNvSpPr txBox="1"/>
          <p:nvPr/>
        </p:nvSpPr>
        <p:spPr>
          <a:xfrm>
            <a:off x="4023360" y="320040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Delay-state augmentation</a:t>
            </a:r>
            <a:endParaRPr lang="en-US" sz="1200" dirty="0"/>
          </a:p>
        </p:txBody>
      </p:sp>
      <p:sp>
        <p:nvSpPr>
          <p:cNvPr id="37" name="Text 35"/>
          <p:cNvSpPr txBox="1"/>
          <p:nvPr/>
        </p:nvSpPr>
        <p:spPr>
          <a:xfrm>
            <a:off x="4023360" y="367588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chimera_controller.py</a:t>
            </a:r>
            <a:endParaRPr lang="en-US" sz="800" dirty="0"/>
          </a:p>
        </p:txBody>
      </p:sp>
      <p:sp>
        <p:nvSpPr>
          <p:cNvPr id="38" name="Shape 36"/>
          <p:cNvSpPr/>
          <p:nvPr/>
        </p:nvSpPr>
        <p:spPr>
          <a:xfrm>
            <a:off x="3383280" y="4114800"/>
            <a:ext cx="2606040" cy="868680"/>
          </a:xfrm>
          <a:prstGeom prst="roundRect">
            <a:avLst>
              <a:gd name="adj" fmla="val 8421"/>
            </a:avLst>
          </a:prstGeom>
          <a:solidFill>
            <a:srgbClr val="F3F5F8"/>
          </a:solidFill>
          <a:ln w="12700">
            <a:solidFill>
              <a:srgbClr val="F3F5F8"/>
            </a:solidFill>
            <a:prstDash val="solid"/>
          </a:ln>
        </p:spPr>
      </p:sp>
      <p:sp>
        <p:nvSpPr>
          <p:cNvPr id="39" name="Shape 37"/>
          <p:cNvSpPr/>
          <p:nvPr/>
        </p:nvSpPr>
        <p:spPr>
          <a:xfrm>
            <a:off x="3511296" y="4343400"/>
            <a:ext cx="402336" cy="402336"/>
          </a:xfrm>
          <a:prstGeom prst="ellipse">
            <a:avLst/>
          </a:prstGeom>
          <a:solidFill>
            <a:srgbClr val="C7811A"/>
          </a:solidFill>
          <a:ln w="12700">
            <a:solidFill>
              <a:srgbClr val="C7811A"/>
            </a:solidFill>
            <a:prstDash val="solid"/>
          </a:ln>
        </p:spPr>
      </p:sp>
      <p:sp>
        <p:nvSpPr>
          <p:cNvPr id="40" name="Text 38"/>
          <p:cNvSpPr txBox="1"/>
          <p:nvPr/>
        </p:nvSpPr>
        <p:spPr>
          <a:xfrm>
            <a:off x="3511296" y="434340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1" name="Text 39"/>
          <p:cNvSpPr txBox="1"/>
          <p:nvPr/>
        </p:nvSpPr>
        <p:spPr>
          <a:xfrm>
            <a:off x="4023360" y="420624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Lyapunov CLF safety filter</a:t>
            </a:r>
            <a:endParaRPr lang="en-US" sz="1200" dirty="0"/>
          </a:p>
        </p:txBody>
      </p:sp>
      <p:sp>
        <p:nvSpPr>
          <p:cNvPr id="42" name="Text 40"/>
          <p:cNvSpPr txBox="1"/>
          <p:nvPr/>
        </p:nvSpPr>
        <p:spPr>
          <a:xfrm>
            <a:off x="4023360" y="468172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chimera_controller.py</a:t>
            </a:r>
            <a:endParaRPr lang="en-US" sz="800" dirty="0"/>
          </a:p>
        </p:txBody>
      </p:sp>
      <p:sp>
        <p:nvSpPr>
          <p:cNvPr id="43" name="Shape 41"/>
          <p:cNvSpPr/>
          <p:nvPr/>
        </p:nvSpPr>
        <p:spPr>
          <a:xfrm>
            <a:off x="3383280" y="5120640"/>
            <a:ext cx="2606040" cy="868680"/>
          </a:xfrm>
          <a:prstGeom prst="roundRect">
            <a:avLst>
              <a:gd name="adj" fmla="val 8421"/>
            </a:avLst>
          </a:prstGeom>
          <a:solidFill>
            <a:srgbClr val="F3F5F8"/>
          </a:solidFill>
          <a:ln w="12700">
            <a:solidFill>
              <a:srgbClr val="F3F5F8"/>
            </a:solidFill>
            <a:prstDash val="solid"/>
          </a:ln>
        </p:spPr>
      </p:sp>
      <p:sp>
        <p:nvSpPr>
          <p:cNvPr id="44" name="Shape 42"/>
          <p:cNvSpPr/>
          <p:nvPr/>
        </p:nvSpPr>
        <p:spPr>
          <a:xfrm>
            <a:off x="3511296" y="5349240"/>
            <a:ext cx="402336" cy="402336"/>
          </a:xfrm>
          <a:prstGeom prst="ellipse">
            <a:avLst/>
          </a:prstGeom>
          <a:solidFill>
            <a:srgbClr val="C7811A"/>
          </a:solidFill>
          <a:ln w="12700">
            <a:solidFill>
              <a:srgbClr val="C7811A"/>
            </a:solidFill>
            <a:prstDash val="solid"/>
          </a:ln>
        </p:spPr>
      </p:sp>
      <p:sp>
        <p:nvSpPr>
          <p:cNvPr id="45" name="Text 43"/>
          <p:cNvSpPr txBox="1"/>
          <p:nvPr/>
        </p:nvSpPr>
        <p:spPr>
          <a:xfrm>
            <a:off x="3511296" y="534924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6" name="Text 44"/>
          <p:cNvSpPr txBox="1"/>
          <p:nvPr/>
        </p:nvSpPr>
        <p:spPr>
          <a:xfrm>
            <a:off x="4023360" y="521208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Cross-coupling penalty</a:t>
            </a:r>
            <a:endParaRPr lang="en-US" sz="1200" dirty="0"/>
          </a:p>
        </p:txBody>
      </p:sp>
      <p:sp>
        <p:nvSpPr>
          <p:cNvPr id="47" name="Text 45"/>
          <p:cNvSpPr txBox="1"/>
          <p:nvPr/>
        </p:nvSpPr>
        <p:spPr>
          <a:xfrm>
            <a:off x="4023360" y="568756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chimera_controller.py</a:t>
            </a:r>
            <a:endParaRPr lang="en-US" sz="800" dirty="0"/>
          </a:p>
        </p:txBody>
      </p:sp>
      <p:sp>
        <p:nvSpPr>
          <p:cNvPr id="48" name="Text 46"/>
          <p:cNvSpPr txBox="1"/>
          <p:nvPr/>
        </p:nvSpPr>
        <p:spPr>
          <a:xfrm>
            <a:off x="6217920" y="1508760"/>
            <a:ext cx="2606040" cy="365760"/>
          </a:xfrm>
          <a:prstGeom prst="rect">
            <a:avLst/>
          </a:prstGeom>
          <a:noFill/>
          <a:ln/>
        </p:spPr>
        <p:txBody>
          <a:bodyPr wrap="square" lIns="0" tIns="0" rIns="0" bIns="0" rtlCol="0" anchor="t"/>
          <a:lstStyle/>
          <a:p>
            <a:pPr indent="0" marL="0">
              <a:buNone/>
            </a:pPr>
            <a:r>
              <a:rPr lang="en-US" sz="1600" b="1" dirty="0">
                <a:solidFill>
                  <a:srgbClr val="0F766E"/>
                </a:solidFill>
                <a:latin typeface="Cambria" pitchFamily="34" charset="0"/>
                <a:ea typeface="Cambria" pitchFamily="34" charset="-122"/>
                <a:cs typeface="Cambria" pitchFamily="34" charset="-120"/>
              </a:rPr>
              <a:t>Simulation &amp; Evaluation</a:t>
            </a:r>
            <a:endParaRPr lang="en-US" sz="1600" dirty="0"/>
          </a:p>
        </p:txBody>
      </p:sp>
      <p:sp>
        <p:nvSpPr>
          <p:cNvPr id="49" name="Shape 47"/>
          <p:cNvSpPr/>
          <p:nvPr/>
        </p:nvSpPr>
        <p:spPr>
          <a:xfrm>
            <a:off x="6217920" y="1920240"/>
            <a:ext cx="2606040" cy="0"/>
          </a:xfrm>
          <a:prstGeom prst="line">
            <a:avLst/>
          </a:prstGeom>
          <a:noFill/>
          <a:ln w="19050">
            <a:solidFill>
              <a:srgbClr val="0F766E"/>
            </a:solidFill>
            <a:prstDash val="solid"/>
          </a:ln>
        </p:spPr>
      </p:sp>
      <p:sp>
        <p:nvSpPr>
          <p:cNvPr id="50" name="Shape 48"/>
          <p:cNvSpPr/>
          <p:nvPr/>
        </p:nvSpPr>
        <p:spPr>
          <a:xfrm>
            <a:off x="6217920" y="2103120"/>
            <a:ext cx="2606040" cy="868680"/>
          </a:xfrm>
          <a:prstGeom prst="roundRect">
            <a:avLst>
              <a:gd name="adj" fmla="val 8421"/>
            </a:avLst>
          </a:prstGeom>
          <a:solidFill>
            <a:srgbClr val="F3F5F8"/>
          </a:solidFill>
          <a:ln w="12700">
            <a:solidFill>
              <a:srgbClr val="F3F5F8"/>
            </a:solidFill>
            <a:prstDash val="solid"/>
          </a:ln>
        </p:spPr>
      </p:sp>
      <p:sp>
        <p:nvSpPr>
          <p:cNvPr id="51" name="Shape 49"/>
          <p:cNvSpPr/>
          <p:nvPr/>
        </p:nvSpPr>
        <p:spPr>
          <a:xfrm>
            <a:off x="6345936" y="2331720"/>
            <a:ext cx="402336" cy="402336"/>
          </a:xfrm>
          <a:prstGeom prst="ellipse">
            <a:avLst/>
          </a:prstGeom>
          <a:solidFill>
            <a:srgbClr val="0F766E"/>
          </a:solidFill>
          <a:ln w="12700">
            <a:solidFill>
              <a:srgbClr val="0F766E"/>
            </a:solidFill>
            <a:prstDash val="solid"/>
          </a:ln>
        </p:spPr>
      </p:sp>
      <p:sp>
        <p:nvSpPr>
          <p:cNvPr id="52" name="Text 50"/>
          <p:cNvSpPr txBox="1"/>
          <p:nvPr/>
        </p:nvSpPr>
        <p:spPr>
          <a:xfrm>
            <a:off x="6345936" y="23317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53" name="Text 51"/>
          <p:cNvSpPr txBox="1"/>
          <p:nvPr/>
        </p:nvSpPr>
        <p:spPr>
          <a:xfrm>
            <a:off x="6858000" y="219456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SimPy 2D cluster simulator</a:t>
            </a:r>
            <a:endParaRPr lang="en-US" sz="1200" dirty="0"/>
          </a:p>
        </p:txBody>
      </p:sp>
      <p:sp>
        <p:nvSpPr>
          <p:cNvPr id="54" name="Text 52"/>
          <p:cNvSpPr txBox="1"/>
          <p:nvPr/>
        </p:nvSpPr>
        <p:spPr>
          <a:xfrm>
            <a:off x="6858000" y="267004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chimera_simulator.py</a:t>
            </a:r>
            <a:endParaRPr lang="en-US" sz="800" dirty="0"/>
          </a:p>
        </p:txBody>
      </p:sp>
      <p:sp>
        <p:nvSpPr>
          <p:cNvPr id="55" name="Shape 53"/>
          <p:cNvSpPr/>
          <p:nvPr/>
        </p:nvSpPr>
        <p:spPr>
          <a:xfrm>
            <a:off x="6217920" y="3108960"/>
            <a:ext cx="2606040" cy="868680"/>
          </a:xfrm>
          <a:prstGeom prst="roundRect">
            <a:avLst>
              <a:gd name="adj" fmla="val 8421"/>
            </a:avLst>
          </a:prstGeom>
          <a:solidFill>
            <a:srgbClr val="F3F5F8"/>
          </a:solidFill>
          <a:ln w="12700">
            <a:solidFill>
              <a:srgbClr val="F3F5F8"/>
            </a:solidFill>
            <a:prstDash val="solid"/>
          </a:ln>
        </p:spPr>
      </p:sp>
      <p:sp>
        <p:nvSpPr>
          <p:cNvPr id="56" name="Shape 54"/>
          <p:cNvSpPr/>
          <p:nvPr/>
        </p:nvSpPr>
        <p:spPr>
          <a:xfrm>
            <a:off x="6345936" y="3337560"/>
            <a:ext cx="402336" cy="402336"/>
          </a:xfrm>
          <a:prstGeom prst="ellipse">
            <a:avLst/>
          </a:prstGeom>
          <a:solidFill>
            <a:srgbClr val="0F766E"/>
          </a:solidFill>
          <a:ln w="12700">
            <a:solidFill>
              <a:srgbClr val="0F766E"/>
            </a:solidFill>
            <a:prstDash val="solid"/>
          </a:ln>
        </p:spPr>
      </p:sp>
      <p:sp>
        <p:nvSpPr>
          <p:cNvPr id="57" name="Text 55"/>
          <p:cNvSpPr txBox="1"/>
          <p:nvPr/>
        </p:nvSpPr>
        <p:spPr>
          <a:xfrm>
            <a:off x="6345936" y="333756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8" name="Text 56"/>
          <p:cNvSpPr txBox="1"/>
          <p:nvPr/>
        </p:nvSpPr>
        <p:spPr>
          <a:xfrm>
            <a:off x="6858000" y="320040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Six baseline controllers</a:t>
            </a:r>
            <a:endParaRPr lang="en-US" sz="1200" dirty="0"/>
          </a:p>
        </p:txBody>
      </p:sp>
      <p:sp>
        <p:nvSpPr>
          <p:cNvPr id="59" name="Text 57"/>
          <p:cNvSpPr txBox="1"/>
          <p:nvPr/>
        </p:nvSpPr>
        <p:spPr>
          <a:xfrm>
            <a:off x="6858000" y="367588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run_full_evaluation.py</a:t>
            </a:r>
            <a:endParaRPr lang="en-US" sz="800" dirty="0"/>
          </a:p>
        </p:txBody>
      </p:sp>
      <p:sp>
        <p:nvSpPr>
          <p:cNvPr id="60" name="Shape 58"/>
          <p:cNvSpPr/>
          <p:nvPr/>
        </p:nvSpPr>
        <p:spPr>
          <a:xfrm>
            <a:off x="6217920" y="4114800"/>
            <a:ext cx="2606040" cy="868680"/>
          </a:xfrm>
          <a:prstGeom prst="roundRect">
            <a:avLst>
              <a:gd name="adj" fmla="val 8421"/>
            </a:avLst>
          </a:prstGeom>
          <a:solidFill>
            <a:srgbClr val="F3F5F8"/>
          </a:solidFill>
          <a:ln w="12700">
            <a:solidFill>
              <a:srgbClr val="F3F5F8"/>
            </a:solidFill>
            <a:prstDash val="solid"/>
          </a:ln>
        </p:spPr>
      </p:sp>
      <p:sp>
        <p:nvSpPr>
          <p:cNvPr id="61" name="Shape 59"/>
          <p:cNvSpPr/>
          <p:nvPr/>
        </p:nvSpPr>
        <p:spPr>
          <a:xfrm>
            <a:off x="6345936" y="4343400"/>
            <a:ext cx="402336" cy="402336"/>
          </a:xfrm>
          <a:prstGeom prst="ellipse">
            <a:avLst/>
          </a:prstGeom>
          <a:solidFill>
            <a:srgbClr val="0F766E"/>
          </a:solidFill>
          <a:ln w="12700">
            <a:solidFill>
              <a:srgbClr val="0F766E"/>
            </a:solidFill>
            <a:prstDash val="solid"/>
          </a:ln>
        </p:spPr>
      </p:sp>
      <p:sp>
        <p:nvSpPr>
          <p:cNvPr id="62" name="Text 60"/>
          <p:cNvSpPr txBox="1"/>
          <p:nvPr/>
        </p:nvSpPr>
        <p:spPr>
          <a:xfrm>
            <a:off x="6345936" y="434340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63" name="Text 61"/>
          <p:cNvSpPr txBox="1"/>
          <p:nvPr/>
        </p:nvSpPr>
        <p:spPr>
          <a:xfrm>
            <a:off x="6858000" y="420624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Evaluation harness, 27 configs</a:t>
            </a:r>
            <a:endParaRPr lang="en-US" sz="1200" dirty="0"/>
          </a:p>
        </p:txBody>
      </p:sp>
      <p:sp>
        <p:nvSpPr>
          <p:cNvPr id="64" name="Text 62"/>
          <p:cNvSpPr txBox="1"/>
          <p:nvPr/>
        </p:nvSpPr>
        <p:spPr>
          <a:xfrm>
            <a:off x="6858000" y="468172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run_full_evaluation.py</a:t>
            </a:r>
            <a:endParaRPr lang="en-US" sz="800" dirty="0"/>
          </a:p>
        </p:txBody>
      </p:sp>
      <p:sp>
        <p:nvSpPr>
          <p:cNvPr id="65" name="Text 63"/>
          <p:cNvSpPr txBox="1"/>
          <p:nvPr/>
        </p:nvSpPr>
        <p:spPr>
          <a:xfrm>
            <a:off x="9052560" y="1508760"/>
            <a:ext cx="2606040" cy="365760"/>
          </a:xfrm>
          <a:prstGeom prst="rect">
            <a:avLst/>
          </a:prstGeom>
          <a:noFill/>
          <a:ln/>
        </p:spPr>
        <p:txBody>
          <a:bodyPr wrap="square" lIns="0" tIns="0" rIns="0" bIns="0" rtlCol="0" anchor="t"/>
          <a:lstStyle/>
          <a:p>
            <a:pPr indent="0" marL="0">
              <a:buNone/>
            </a:pPr>
            <a:r>
              <a:rPr lang="en-US" sz="1600" b="1" dirty="0">
                <a:solidFill>
                  <a:srgbClr val="B42318"/>
                </a:solidFill>
                <a:latin typeface="Cambria" pitchFamily="34" charset="0"/>
                <a:ea typeface="Cambria" pitchFamily="34" charset="-122"/>
                <a:cs typeface="Cambria" pitchFamily="34" charset="-120"/>
              </a:rPr>
              <a:t>Deployment</a:t>
            </a:r>
            <a:endParaRPr lang="en-US" sz="1600" dirty="0"/>
          </a:p>
        </p:txBody>
      </p:sp>
      <p:sp>
        <p:nvSpPr>
          <p:cNvPr id="66" name="Shape 64"/>
          <p:cNvSpPr/>
          <p:nvPr/>
        </p:nvSpPr>
        <p:spPr>
          <a:xfrm>
            <a:off x="9052560" y="1920240"/>
            <a:ext cx="2606040" cy="0"/>
          </a:xfrm>
          <a:prstGeom prst="line">
            <a:avLst/>
          </a:prstGeom>
          <a:noFill/>
          <a:ln w="19050">
            <a:solidFill>
              <a:srgbClr val="B42318"/>
            </a:solidFill>
            <a:prstDash val="solid"/>
          </a:ln>
        </p:spPr>
      </p:sp>
      <p:sp>
        <p:nvSpPr>
          <p:cNvPr id="67" name="Shape 65"/>
          <p:cNvSpPr/>
          <p:nvPr/>
        </p:nvSpPr>
        <p:spPr>
          <a:xfrm>
            <a:off x="9052560" y="2103120"/>
            <a:ext cx="2606040" cy="868680"/>
          </a:xfrm>
          <a:prstGeom prst="roundRect">
            <a:avLst>
              <a:gd name="adj" fmla="val 8421"/>
            </a:avLst>
          </a:prstGeom>
          <a:solidFill>
            <a:srgbClr val="F3F5F8"/>
          </a:solidFill>
          <a:ln w="12700">
            <a:solidFill>
              <a:srgbClr val="F3F5F8"/>
            </a:solidFill>
            <a:prstDash val="solid"/>
          </a:ln>
        </p:spPr>
      </p:sp>
      <p:sp>
        <p:nvSpPr>
          <p:cNvPr id="68" name="Shape 66"/>
          <p:cNvSpPr/>
          <p:nvPr/>
        </p:nvSpPr>
        <p:spPr>
          <a:xfrm>
            <a:off x="9180576" y="2331720"/>
            <a:ext cx="402336" cy="402336"/>
          </a:xfrm>
          <a:prstGeom prst="ellipse">
            <a:avLst/>
          </a:prstGeom>
          <a:solidFill>
            <a:srgbClr val="B42318"/>
          </a:solidFill>
          <a:ln w="12700">
            <a:solidFill>
              <a:srgbClr val="B42318"/>
            </a:solidFill>
            <a:prstDash val="solid"/>
          </a:ln>
        </p:spPr>
      </p:sp>
      <p:sp>
        <p:nvSpPr>
          <p:cNvPr id="69" name="Text 67"/>
          <p:cNvSpPr txBox="1"/>
          <p:nvPr/>
        </p:nvSpPr>
        <p:spPr>
          <a:xfrm>
            <a:off x="9180576" y="23317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70" name="Text 68"/>
          <p:cNvSpPr txBox="1"/>
          <p:nvPr/>
        </p:nvSpPr>
        <p:spPr>
          <a:xfrm>
            <a:off x="9692640" y="219456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Kubernetes CRD + operator</a:t>
            </a:r>
            <a:endParaRPr lang="en-US" sz="1200" dirty="0"/>
          </a:p>
        </p:txBody>
      </p:sp>
      <p:sp>
        <p:nvSpPr>
          <p:cNvPr id="71" name="Text 69"/>
          <p:cNvSpPr txBox="1"/>
          <p:nvPr/>
        </p:nvSpPr>
        <p:spPr>
          <a:xfrm>
            <a:off x="9692640" y="267004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k8s/manager.py</a:t>
            </a:r>
            <a:endParaRPr lang="en-US" sz="800" dirty="0"/>
          </a:p>
        </p:txBody>
      </p:sp>
      <p:sp>
        <p:nvSpPr>
          <p:cNvPr id="72" name="Text 70"/>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73" name="Text 71"/>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8 / 21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MODULE COMPLETION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Module completion status</a:t>
            </a:r>
            <a:endParaRPr lang="en-US" sz="3000" dirty="0"/>
          </a:p>
        </p:txBody>
      </p:sp>
      <p:sp>
        <p:nvSpPr>
          <p:cNvPr id="4" name="Shape 2"/>
          <p:cNvSpPr/>
          <p:nvPr/>
        </p:nvSpPr>
        <p:spPr>
          <a:xfrm>
            <a:off x="548640" y="1508760"/>
            <a:ext cx="2587752" cy="1234440"/>
          </a:xfrm>
          <a:prstGeom prst="roundRect">
            <a:avLst>
              <a:gd name="adj" fmla="val 5926"/>
            </a:avLst>
          </a:prstGeom>
          <a:solidFill>
            <a:srgbClr val="F3F5F8"/>
          </a:solidFill>
          <a:ln w="12700">
            <a:solidFill>
              <a:srgbClr val="F3F5F8"/>
            </a:solidFill>
            <a:prstDash val="solid"/>
          </a:ln>
        </p:spPr>
      </p:sp>
      <p:sp>
        <p:nvSpPr>
          <p:cNvPr id="5" name="Text 3"/>
          <p:cNvSpPr txBox="1"/>
          <p:nvPr/>
        </p:nvSpPr>
        <p:spPr>
          <a:xfrm>
            <a:off x="777240" y="1600200"/>
            <a:ext cx="2194560" cy="640080"/>
          </a:xfrm>
          <a:prstGeom prst="rect">
            <a:avLst/>
          </a:prstGeom>
          <a:noFill/>
          <a:ln/>
        </p:spPr>
        <p:txBody>
          <a:bodyPr wrap="square" lIns="0" tIns="0" rIns="0" bIns="0" rtlCol="0" anchor="t"/>
          <a:lstStyle/>
          <a:p>
            <a:pPr indent="0" marL="0">
              <a:buNone/>
            </a:pPr>
            <a:r>
              <a:rPr lang="en-US" sz="3200" b="1" dirty="0">
                <a:solidFill>
                  <a:srgbClr val="13223A"/>
                </a:solidFill>
                <a:latin typeface="Cambria" pitchFamily="34" charset="0"/>
                <a:ea typeface="Cambria" pitchFamily="34" charset="-122"/>
                <a:cs typeface="Cambria" pitchFamily="34" charset="-120"/>
              </a:rPr>
              <a:t>12 / 12</a:t>
            </a:r>
            <a:endParaRPr lang="en-US" sz="3200" dirty="0"/>
          </a:p>
        </p:txBody>
      </p:sp>
      <p:sp>
        <p:nvSpPr>
          <p:cNvPr id="6" name="Text 4"/>
          <p:cNvSpPr txBox="1"/>
          <p:nvPr/>
        </p:nvSpPr>
        <p:spPr>
          <a:xfrm>
            <a:off x="777240" y="2240280"/>
            <a:ext cx="2194560" cy="41148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modules implemented and unit-tested</a:t>
            </a:r>
            <a:endParaRPr lang="en-US" sz="1200" dirty="0"/>
          </a:p>
        </p:txBody>
      </p:sp>
      <p:sp>
        <p:nvSpPr>
          <p:cNvPr id="7" name="Shape 5"/>
          <p:cNvSpPr/>
          <p:nvPr/>
        </p:nvSpPr>
        <p:spPr>
          <a:xfrm>
            <a:off x="3383280" y="1508760"/>
            <a:ext cx="2587752" cy="1234440"/>
          </a:xfrm>
          <a:prstGeom prst="roundRect">
            <a:avLst>
              <a:gd name="adj" fmla="val 5926"/>
            </a:avLst>
          </a:prstGeom>
          <a:solidFill>
            <a:srgbClr val="F3F5F8"/>
          </a:solidFill>
          <a:ln w="12700">
            <a:solidFill>
              <a:srgbClr val="F3F5F8"/>
            </a:solidFill>
            <a:prstDash val="solid"/>
          </a:ln>
        </p:spPr>
      </p:sp>
      <p:sp>
        <p:nvSpPr>
          <p:cNvPr id="8" name="Text 6"/>
          <p:cNvSpPr txBox="1"/>
          <p:nvPr/>
        </p:nvSpPr>
        <p:spPr>
          <a:xfrm>
            <a:off x="3611880" y="1600200"/>
            <a:ext cx="2194560" cy="640080"/>
          </a:xfrm>
          <a:prstGeom prst="rect">
            <a:avLst/>
          </a:prstGeom>
          <a:noFill/>
          <a:ln/>
        </p:spPr>
        <p:txBody>
          <a:bodyPr wrap="square" lIns="0" tIns="0" rIns="0" bIns="0" rtlCol="0" anchor="t"/>
          <a:lstStyle/>
          <a:p>
            <a:pPr indent="0" marL="0">
              <a:buNone/>
            </a:pPr>
            <a:r>
              <a:rPr lang="en-US" sz="3200" b="1" dirty="0">
                <a:solidFill>
                  <a:srgbClr val="13223A"/>
                </a:solidFill>
                <a:latin typeface="Cambria" pitchFamily="34" charset="0"/>
                <a:ea typeface="Cambria" pitchFamily="34" charset="-122"/>
                <a:cs typeface="Cambria" pitchFamily="34" charset="-120"/>
              </a:rPr>
              <a:t>41 / 41</a:t>
            </a:r>
            <a:endParaRPr lang="en-US" sz="3200" dirty="0"/>
          </a:p>
        </p:txBody>
      </p:sp>
      <p:sp>
        <p:nvSpPr>
          <p:cNvPr id="9" name="Text 7"/>
          <p:cNvSpPr txBox="1"/>
          <p:nvPr/>
        </p:nvSpPr>
        <p:spPr>
          <a:xfrm>
            <a:off x="3611880" y="2240280"/>
            <a:ext cx="2194560" cy="41148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unit tests passing</a:t>
            </a:r>
            <a:endParaRPr lang="en-US" sz="1200" dirty="0"/>
          </a:p>
        </p:txBody>
      </p:sp>
      <p:sp>
        <p:nvSpPr>
          <p:cNvPr id="10" name="Shape 8"/>
          <p:cNvSpPr/>
          <p:nvPr/>
        </p:nvSpPr>
        <p:spPr>
          <a:xfrm>
            <a:off x="6217920" y="1508760"/>
            <a:ext cx="2587752" cy="1234440"/>
          </a:xfrm>
          <a:prstGeom prst="roundRect">
            <a:avLst>
              <a:gd name="adj" fmla="val 5926"/>
            </a:avLst>
          </a:prstGeom>
          <a:solidFill>
            <a:srgbClr val="F3F5F8"/>
          </a:solidFill>
          <a:ln w="12700">
            <a:solidFill>
              <a:srgbClr val="F3F5F8"/>
            </a:solidFill>
            <a:prstDash val="solid"/>
          </a:ln>
        </p:spPr>
      </p:sp>
      <p:sp>
        <p:nvSpPr>
          <p:cNvPr id="11" name="Text 9"/>
          <p:cNvSpPr txBox="1"/>
          <p:nvPr/>
        </p:nvSpPr>
        <p:spPr>
          <a:xfrm>
            <a:off x="6446520" y="1600200"/>
            <a:ext cx="2194560" cy="640080"/>
          </a:xfrm>
          <a:prstGeom prst="rect">
            <a:avLst/>
          </a:prstGeom>
          <a:noFill/>
          <a:ln/>
        </p:spPr>
        <p:txBody>
          <a:bodyPr wrap="square" lIns="0" tIns="0" rIns="0" bIns="0" rtlCol="0" anchor="t"/>
          <a:lstStyle/>
          <a:p>
            <a:pPr indent="0" marL="0">
              <a:buNone/>
            </a:pPr>
            <a:r>
              <a:rPr lang="en-US" sz="3200" b="1" dirty="0">
                <a:solidFill>
                  <a:srgbClr val="13223A"/>
                </a:solidFill>
                <a:latin typeface="Cambria" pitchFamily="34" charset="0"/>
                <a:ea typeface="Cambria" pitchFamily="34" charset="-122"/>
                <a:cs typeface="Cambria" pitchFamily="34" charset="-120"/>
              </a:rPr>
              <a:t>6,795</a:t>
            </a:r>
            <a:endParaRPr lang="en-US" sz="3200" dirty="0"/>
          </a:p>
        </p:txBody>
      </p:sp>
      <p:sp>
        <p:nvSpPr>
          <p:cNvPr id="12" name="Text 10"/>
          <p:cNvSpPr txBox="1"/>
          <p:nvPr/>
        </p:nvSpPr>
        <p:spPr>
          <a:xfrm>
            <a:off x="6446520" y="2240280"/>
            <a:ext cx="2194560" cy="41148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simulation runs on disk (10 seeds)</a:t>
            </a:r>
            <a:endParaRPr lang="en-US" sz="1200" dirty="0"/>
          </a:p>
        </p:txBody>
      </p:sp>
      <p:sp>
        <p:nvSpPr>
          <p:cNvPr id="13" name="Shape 11"/>
          <p:cNvSpPr/>
          <p:nvPr/>
        </p:nvSpPr>
        <p:spPr>
          <a:xfrm>
            <a:off x="9052560" y="1508760"/>
            <a:ext cx="2587752" cy="1234440"/>
          </a:xfrm>
          <a:prstGeom prst="roundRect">
            <a:avLst>
              <a:gd name="adj" fmla="val 5926"/>
            </a:avLst>
          </a:prstGeom>
          <a:solidFill>
            <a:srgbClr val="F3F5F8"/>
          </a:solidFill>
          <a:ln w="12700">
            <a:solidFill>
              <a:srgbClr val="F3F5F8"/>
            </a:solidFill>
            <a:prstDash val="solid"/>
          </a:ln>
        </p:spPr>
      </p:sp>
      <p:sp>
        <p:nvSpPr>
          <p:cNvPr id="14" name="Text 12"/>
          <p:cNvSpPr txBox="1"/>
          <p:nvPr/>
        </p:nvSpPr>
        <p:spPr>
          <a:xfrm>
            <a:off x="9281160" y="1600200"/>
            <a:ext cx="2194560" cy="640080"/>
          </a:xfrm>
          <a:prstGeom prst="rect">
            <a:avLst/>
          </a:prstGeom>
          <a:noFill/>
          <a:ln/>
        </p:spPr>
        <p:txBody>
          <a:bodyPr wrap="square" lIns="0" tIns="0" rIns="0" bIns="0" rtlCol="0" anchor="t"/>
          <a:lstStyle/>
          <a:p>
            <a:pPr indent="0" marL="0">
              <a:buNone/>
            </a:pPr>
            <a:r>
              <a:rPr lang="en-US" sz="3200" b="1" dirty="0">
                <a:solidFill>
                  <a:srgbClr val="13223A"/>
                </a:solidFill>
                <a:latin typeface="Cambria" pitchFamily="34" charset="0"/>
                <a:ea typeface="Cambria" pitchFamily="34" charset="-122"/>
                <a:cs typeface="Cambria" pitchFamily="34" charset="-120"/>
              </a:rPr>
              <a:t>37</a:t>
            </a:r>
            <a:endParaRPr lang="en-US" sz="3200" dirty="0"/>
          </a:p>
        </p:txBody>
      </p:sp>
      <p:sp>
        <p:nvSpPr>
          <p:cNvPr id="15" name="Text 13"/>
          <p:cNvSpPr txBox="1"/>
          <p:nvPr/>
        </p:nvSpPr>
        <p:spPr>
          <a:xfrm>
            <a:off x="9281160" y="2240280"/>
            <a:ext cx="2194560" cy="41148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controller configurations compared</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017520"/>
          <a:ext cx="11091672" cy="914400"/>
        </p:xfrm>
        <a:graphic>
          <a:graphicData uri="http://schemas.openxmlformats.org/drawingml/2006/table">
            <a:tbl>
              <a:tblPr/>
              <a:tblGrid>
                <a:gridCol w="1554480"/>
                <a:gridCol w="2834640"/>
                <a:gridCol w="5330952"/>
                <a:gridCol w="1371600"/>
              </a:tblGrid>
              <a:tr h="438912">
                <a:tc>
                  <a:txBody>
                    <a:bodyPr/>
                    <a:lstStyle/>
                    <a:p>
                      <a:pPr indent="0" marL="0">
                        <a:buNone/>
                      </a:pPr>
                      <a:r>
                        <a:rPr lang="en-US" sz="1200" b="1" dirty="0">
                          <a:solidFill>
                            <a:srgbClr val="FFFFFF"/>
                          </a:solidFill>
                        </a:rPr>
                        <a:t>Module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Component</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Evidence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Status</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r>
              <a:tr h="438912">
                <a:tc>
                  <a:txBody>
                    <a:bodyPr/>
                    <a:lstStyle/>
                    <a:p>
                      <a:pPr indent="0" marL="0">
                        <a:buNone/>
                      </a:pPr>
                      <a:r>
                        <a:rPr lang="en-US" sz="1200" b="1" dirty="0">
                          <a:solidFill>
                            <a:srgbClr val="13223A"/>
                          </a:solidFill>
                        </a:rPr>
                        <a:t>Modules 1–4</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rPr>
                        <a:t>Data &amp; prediction pipeline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5B6675"/>
                          </a:solidFill>
                        </a:rPr>
                        <a:t>Trained offline; strict train / calibrate / test split at 10–50–70–100 min</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algn="ctr" indent="0" marL="0">
                        <a:buNone/>
                      </a:pPr>
                      <a:r>
                        <a:rPr lang="en-US" sz="1200" b="1" dirty="0">
                          <a:solidFill>
                            <a:srgbClr val="FFFFFF"/>
                          </a:solidFill>
                        </a:rPr>
                        <a:t>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F766E"/>
                    </a:solidFill>
                  </a:tcPr>
                </a:tc>
              </a:tr>
              <a:tr h="438912">
                <a:tc>
                  <a:txBody>
                    <a:bodyPr/>
                    <a:lstStyle/>
                    <a:p>
                      <a:pPr indent="0" marL="0">
                        <a:buNone/>
                      </a:pPr>
                      <a:r>
                        <a:rPr lang="en-US" sz="1200" b="1" dirty="0">
                          <a:solidFill>
                            <a:srgbClr val="13223A"/>
                          </a:solidFill>
                        </a:rPr>
                        <a:t>Modules 5–6</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LQR solver &amp; delay augmentation</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5B6675"/>
                          </a:solidFill>
                        </a:rPr>
                        <a:t>Riccati solution positive-definite; one-slot delay buffer; 5 s cascade inner loop on the CPU axis</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rPr>
                        <a:t>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F766E"/>
                    </a:solidFill>
                  </a:tcPr>
                </a:tc>
              </a:tr>
              <a:tr h="438912">
                <a:tc>
                  <a:txBody>
                    <a:bodyPr/>
                    <a:lstStyle/>
                    <a:p>
                      <a:pPr indent="0" marL="0">
                        <a:buNone/>
                      </a:pPr>
                      <a:r>
                        <a:rPr lang="en-US" sz="1200" b="1" dirty="0">
                          <a:solidFill>
                            <a:srgbClr val="13223A"/>
                          </a:solidFill>
                        </a:rPr>
                        <a:t>Module 7</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rPr>
                        <a:t>Lyapunov safety filter</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5B6675"/>
                          </a:solidFill>
                        </a:rPr>
                        <a:t>Stability certified by the Riccati P; the runtime filter never bound and is off in v4</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algn="ctr" indent="0" marL="0">
                        <a:buNone/>
                      </a:pPr>
                      <a:r>
                        <a:rPr lang="en-US" sz="1200" b="1" dirty="0">
                          <a:solidFill>
                            <a:srgbClr val="FFFFFF"/>
                          </a:solidFill>
                        </a:rPr>
                        <a:t>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F766E"/>
                    </a:solidFill>
                  </a:tcPr>
                </a:tc>
              </a:tr>
              <a:tr h="438912">
                <a:tc>
                  <a:txBody>
                    <a:bodyPr/>
                    <a:lstStyle/>
                    <a:p>
                      <a:pPr indent="0" marL="0">
                        <a:buNone/>
                      </a:pPr>
                      <a:r>
                        <a:rPr lang="en-US" sz="1200" b="1" dirty="0">
                          <a:solidFill>
                            <a:srgbClr val="13223A"/>
                          </a:solidFill>
                        </a:rPr>
                        <a:t>Module 8</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Cross-coupling penalty</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5B6675"/>
                          </a:solidFill>
                        </a:rPr>
                        <a:t>Inert in the v4 cascade (identical runs without it): coordination is structural</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rPr>
                        <a:t>Superseded</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6B7280"/>
                    </a:solidFill>
                  </a:tcPr>
                </a:tc>
              </a:tr>
              <a:tr h="438912">
                <a:tc>
                  <a:txBody>
                    <a:bodyPr/>
                    <a:lstStyle/>
                    <a:p>
                      <a:pPr indent="0" marL="0">
                        <a:buNone/>
                      </a:pPr>
                      <a:r>
                        <a:rPr lang="en-US" sz="1200" b="1" dirty="0">
                          <a:solidFill>
                            <a:srgbClr val="13223A"/>
                          </a:solidFill>
                        </a:rPr>
                        <a:t>Modules 9–11</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rPr>
                        <a:t>Simulator &amp; evaluation harness</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5B6675"/>
                          </a:solidFill>
                        </a:rPr>
                        <a:t>6 baselines incl. KOSMOS; 3 baseline bugs fixed; cost/SLO frontier sweep</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algn="ctr" indent="0" marL="0">
                        <a:buNone/>
                      </a:pPr>
                      <a:r>
                        <a:rPr lang="en-US" sz="1200" b="1" dirty="0">
                          <a:solidFill>
                            <a:srgbClr val="FFFFFF"/>
                          </a:solidFill>
                        </a:rPr>
                        <a:t>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F766E"/>
                    </a:solidFill>
                  </a:tcPr>
                </a:tc>
              </a:tr>
              <a:tr h="438912">
                <a:tc>
                  <a:txBody>
                    <a:bodyPr/>
                    <a:lstStyle/>
                    <a:p>
                      <a:pPr indent="0" marL="0">
                        <a:buNone/>
                      </a:pPr>
                      <a:r>
                        <a:rPr lang="en-US" sz="1200" b="1" dirty="0">
                          <a:solidFill>
                            <a:srgbClr val="13223A"/>
                          </a:solidFill>
                        </a:rPr>
                        <a:t>Module 12</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Kubernetes operator</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5B6675"/>
                          </a:solidFill>
                        </a:rPr>
                        <a:t>Real PromQL client, in-place resize via pods/resize, status, dry-run; not yet run on a live cluster</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rPr>
                        <a:t>Code 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C7811A"/>
                    </a:solidFill>
                  </a:tcPr>
                </a:tc>
              </a:tr>
            </a:tbl>
          </a:graphicData>
        </a:graphic>
      </p:graphicFrame>
      <p:sp>
        <p:nvSpPr>
          <p:cNvPr id="17" name="Text 14"/>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8" name="Text 15"/>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9 / 21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RESULTS &amp; ANALYSIS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Cost and quality must be read together</a:t>
            </a:r>
            <a:endParaRPr lang="en-US" sz="3000" dirty="0"/>
          </a:p>
        </p:txBody>
      </p:sp>
      <p:sp>
        <p:nvSpPr>
          <p:cNvPr id="4" name="Shape 2"/>
          <p:cNvSpPr/>
          <p:nvPr/>
        </p:nvSpPr>
        <p:spPr>
          <a:xfrm>
            <a:off x="548640" y="1508760"/>
            <a:ext cx="7680960" cy="4663440"/>
          </a:xfrm>
          <a:prstGeom prst="rect">
            <a:avLst/>
          </a:prstGeom>
          <a:solidFill>
            <a:srgbClr val="FFFFFF"/>
          </a:solidFill>
          <a:ln w="12700">
            <a:solidFill>
              <a:srgbClr val="D9DEE5"/>
            </a:solidFill>
            <a:prstDash val="solid"/>
          </a:ln>
        </p:spPr>
      </p:sp>
      <p:pic>
        <p:nvPicPr>
          <p:cNvPr id="5" name="Image 0" descr="img/image-8-1.png">    </p:cNvPr>
          <p:cNvPicPr>
            <a:picLocks noChangeAspect="1"/>
          </p:cNvPicPr>
          <p:nvPr/>
        </p:nvPicPr>
        <p:blipFill>
          <a:blip r:embed="rId1"/>
          <a:stretch>
            <a:fillRect/>
          </a:stretch>
        </p:blipFill>
        <p:spPr>
          <a:xfrm>
            <a:off x="640080" y="1801850"/>
            <a:ext cx="7498080" cy="4077259"/>
          </a:xfrm>
          <a:prstGeom prst="rect">
            <a:avLst/>
          </a:prstGeom>
        </p:spPr>
      </p:pic>
      <p:sp>
        <p:nvSpPr>
          <p:cNvPr id="6" name="Shape 3"/>
          <p:cNvSpPr/>
          <p:nvPr/>
        </p:nvSpPr>
        <p:spPr>
          <a:xfrm>
            <a:off x="8503920" y="1508760"/>
            <a:ext cx="3136392" cy="4663440"/>
          </a:xfrm>
          <a:prstGeom prst="roundRect">
            <a:avLst>
              <a:gd name="adj" fmla="val 2332"/>
            </a:avLst>
          </a:prstGeom>
          <a:solidFill>
            <a:srgbClr val="F3F5F8"/>
          </a:solidFill>
          <a:ln w="12700">
            <a:solidFill>
              <a:srgbClr val="F3F5F8"/>
            </a:solidFill>
            <a:prstDash val="solid"/>
          </a:ln>
        </p:spPr>
      </p:sp>
      <p:sp>
        <p:nvSpPr>
          <p:cNvPr id="7" name="Text 4"/>
          <p:cNvSpPr txBox="1"/>
          <p:nvPr/>
        </p:nvSpPr>
        <p:spPr>
          <a:xfrm>
            <a:off x="8732520" y="1737360"/>
            <a:ext cx="2743200" cy="548640"/>
          </a:xfrm>
          <a:prstGeom prst="rect">
            <a:avLst/>
          </a:prstGeom>
          <a:noFill/>
          <a:ln/>
        </p:spPr>
        <p:txBody>
          <a:bodyPr wrap="square" lIns="0" tIns="0" rIns="0" bIns="0" rtlCol="0" anchor="t"/>
          <a:lstStyle/>
          <a:p>
            <a:pPr indent="0" marL="0">
              <a:buNone/>
            </a:pPr>
            <a:r>
              <a:rPr lang="en-US" sz="3000" b="1" dirty="0">
                <a:solidFill>
                  <a:srgbClr val="0F766E"/>
                </a:solidFill>
                <a:latin typeface="Cambria" pitchFamily="34" charset="0"/>
                <a:ea typeface="Cambria" pitchFamily="34" charset="-122"/>
                <a:cs typeface="Cambria" pitchFamily="34" charset="-120"/>
              </a:rPr>
              <a:t>7.2 %</a:t>
            </a:r>
            <a:endParaRPr lang="en-US" sz="3000" dirty="0"/>
          </a:p>
        </p:txBody>
      </p:sp>
      <p:sp>
        <p:nvSpPr>
          <p:cNvPr id="8" name="Text 5"/>
          <p:cNvSpPr txBox="1"/>
          <p:nvPr/>
        </p:nvSpPr>
        <p:spPr>
          <a:xfrm>
            <a:off x="8732520" y="226771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SLO violations, 5 real traces (next best: AAPA 8.3 %)</a:t>
            </a:r>
            <a:endParaRPr lang="en-US" sz="1100" dirty="0"/>
          </a:p>
        </p:txBody>
      </p:sp>
      <p:sp>
        <p:nvSpPr>
          <p:cNvPr id="9" name="Text 6"/>
          <p:cNvSpPr txBox="1"/>
          <p:nvPr/>
        </p:nvSpPr>
        <p:spPr>
          <a:xfrm>
            <a:off x="8732520" y="2697480"/>
            <a:ext cx="2743200" cy="54864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241</a:t>
            </a:r>
            <a:endParaRPr lang="en-US" sz="3000" dirty="0"/>
          </a:p>
        </p:txBody>
      </p:sp>
      <p:sp>
        <p:nvSpPr>
          <p:cNvPr id="10" name="Text 7"/>
          <p:cNvSpPr txBox="1"/>
          <p:nvPr/>
        </p:nvSpPr>
        <p:spPr>
          <a:xfrm>
            <a:off x="8732520" y="322783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CPU core-minutes per run (AAPA 234)</a:t>
            </a:r>
            <a:endParaRPr lang="en-US" sz="1100" dirty="0"/>
          </a:p>
        </p:txBody>
      </p:sp>
      <p:sp>
        <p:nvSpPr>
          <p:cNvPr id="11" name="Text 8"/>
          <p:cNvSpPr txBox="1"/>
          <p:nvPr/>
        </p:nvSpPr>
        <p:spPr>
          <a:xfrm>
            <a:off x="8732520" y="3749040"/>
            <a:ext cx="2743200" cy="274320"/>
          </a:xfrm>
          <a:prstGeom prst="rect">
            <a:avLst/>
          </a:prstGeom>
          <a:noFill/>
          <a:ln/>
        </p:spPr>
        <p:txBody>
          <a:bodyPr wrap="square" lIns="0" tIns="0" rIns="0" bIns="0" rtlCol="0" anchor="t"/>
          <a:lstStyle/>
          <a:p>
            <a:pPr indent="0" marL="0">
              <a:buNone/>
            </a:pPr>
            <a:r>
              <a:rPr lang="en-US" sz="1000" b="1" spc="200" kern="0" dirty="0">
                <a:solidFill>
                  <a:srgbClr val="C7811A"/>
                </a:solidFill>
                <a:latin typeface="Calibri" pitchFamily="34" charset="0"/>
                <a:ea typeface="Calibri" pitchFamily="34" charset="-122"/>
                <a:cs typeface="Calibri" pitchFamily="34" charset="-120"/>
              </a:rPr>
              <a:t>READING THE RESULT</a:t>
            </a:r>
            <a:endParaRPr lang="en-US" sz="1000" dirty="0"/>
          </a:p>
        </p:txBody>
      </p:sp>
      <p:sp>
        <p:nvSpPr>
          <p:cNvPr id="12" name="Text 9"/>
          <p:cNvSpPr txBox="1"/>
          <p:nvPr/>
        </p:nvSpPr>
        <p:spPr>
          <a:xfrm>
            <a:off x="8732520" y="4069080"/>
            <a:ext cx="2743200" cy="19659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At equal CPU, trace by trace, CHIMERA has fewer violations in 39 of 43 comparisons; every loss is on w_0002 (0.5–1.6 pp). It reaches 2.7 % at 420 core-min; no baseline gets below 5.0 %.</a:t>
            </a:r>
            <a:endParaRPr lang="en-US" sz="1200" dirty="0"/>
          </a:p>
        </p:txBody>
      </p:sp>
      <p:sp>
        <p:nvSpPr>
          <p:cNvPr id="13" name="Text 10"/>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4" name="Text 11"/>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10 / 21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RESULTS &amp; ANALYSIS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Where the coordinated controller wins decisively</a:t>
            </a:r>
            <a:endParaRPr lang="en-US" sz="3000" dirty="0"/>
          </a:p>
        </p:txBody>
      </p:sp>
      <p:sp>
        <p:nvSpPr>
          <p:cNvPr id="4" name="Shape 2"/>
          <p:cNvSpPr/>
          <p:nvPr/>
        </p:nvSpPr>
        <p:spPr>
          <a:xfrm>
            <a:off x="548640" y="1508760"/>
            <a:ext cx="7680960" cy="4663440"/>
          </a:xfrm>
          <a:prstGeom prst="rect">
            <a:avLst/>
          </a:prstGeom>
          <a:solidFill>
            <a:srgbClr val="FFFFFF"/>
          </a:solidFill>
          <a:ln w="12700">
            <a:solidFill>
              <a:srgbClr val="D9DEE5"/>
            </a:solidFill>
            <a:prstDash val="solid"/>
          </a:ln>
        </p:spPr>
      </p:sp>
      <p:pic>
        <p:nvPicPr>
          <p:cNvPr id="5" name="Image 0" descr="img/image-9-1.png">    </p:cNvPr>
          <p:cNvPicPr>
            <a:picLocks noChangeAspect="1"/>
          </p:cNvPicPr>
          <p:nvPr/>
        </p:nvPicPr>
        <p:blipFill>
          <a:blip r:embed="rId1"/>
          <a:stretch>
            <a:fillRect/>
          </a:stretch>
        </p:blipFill>
        <p:spPr>
          <a:xfrm>
            <a:off x="640080" y="2087258"/>
            <a:ext cx="7498080" cy="3506443"/>
          </a:xfrm>
          <a:prstGeom prst="rect">
            <a:avLst/>
          </a:prstGeom>
        </p:spPr>
      </p:pic>
      <p:sp>
        <p:nvSpPr>
          <p:cNvPr id="6" name="Shape 3"/>
          <p:cNvSpPr/>
          <p:nvPr/>
        </p:nvSpPr>
        <p:spPr>
          <a:xfrm>
            <a:off x="8503920" y="1508760"/>
            <a:ext cx="3136392" cy="4663440"/>
          </a:xfrm>
          <a:prstGeom prst="roundRect">
            <a:avLst>
              <a:gd name="adj" fmla="val 2332"/>
            </a:avLst>
          </a:prstGeom>
          <a:solidFill>
            <a:srgbClr val="F3F5F8"/>
          </a:solidFill>
          <a:ln w="12700">
            <a:solidFill>
              <a:srgbClr val="F3F5F8"/>
            </a:solidFill>
            <a:prstDash val="solid"/>
          </a:ln>
        </p:spPr>
      </p:sp>
      <p:sp>
        <p:nvSpPr>
          <p:cNvPr id="7" name="Text 4"/>
          <p:cNvSpPr txBox="1"/>
          <p:nvPr/>
        </p:nvSpPr>
        <p:spPr>
          <a:xfrm>
            <a:off x="8732520" y="1737360"/>
            <a:ext cx="2743200" cy="548640"/>
          </a:xfrm>
          <a:prstGeom prst="rect">
            <a:avLst/>
          </a:prstGeom>
          <a:noFill/>
          <a:ln/>
        </p:spPr>
        <p:txBody>
          <a:bodyPr wrap="square" lIns="0" tIns="0" rIns="0" bIns="0" rtlCol="0" anchor="t"/>
          <a:lstStyle/>
          <a:p>
            <a:pPr indent="0" marL="0">
              <a:buNone/>
            </a:pPr>
            <a:r>
              <a:rPr lang="en-US" sz="3000" b="1" dirty="0">
                <a:solidFill>
                  <a:srgbClr val="0F766E"/>
                </a:solidFill>
                <a:latin typeface="Cambria" pitchFamily="34" charset="0"/>
                <a:ea typeface="Cambria" pitchFamily="34" charset="-122"/>
                <a:cs typeface="Cambria" pitchFamily="34" charset="-120"/>
              </a:rPr>
              <a:t>19×</a:t>
            </a:r>
            <a:endParaRPr lang="en-US" sz="3000" dirty="0"/>
          </a:p>
        </p:txBody>
      </p:sp>
      <p:sp>
        <p:nvSpPr>
          <p:cNvPr id="8" name="Text 5"/>
          <p:cNvSpPr txBox="1"/>
          <p:nvPr/>
        </p:nvSpPr>
        <p:spPr>
          <a:xfrm>
            <a:off x="8732520" y="226771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better p99 than AAPA (0.93 s vs 17.8 s)</a:t>
            </a:r>
            <a:endParaRPr lang="en-US" sz="1100" dirty="0"/>
          </a:p>
        </p:txBody>
      </p:sp>
      <p:sp>
        <p:nvSpPr>
          <p:cNvPr id="9" name="Text 6"/>
          <p:cNvSpPr txBox="1"/>
          <p:nvPr/>
        </p:nvSpPr>
        <p:spPr>
          <a:xfrm>
            <a:off x="8732520" y="2697480"/>
            <a:ext cx="2743200" cy="548640"/>
          </a:xfrm>
          <a:prstGeom prst="rect">
            <a:avLst/>
          </a:prstGeom>
          <a:noFill/>
          <a:ln/>
        </p:spPr>
        <p:txBody>
          <a:bodyPr wrap="square" lIns="0" tIns="0" rIns="0" bIns="0" rtlCol="0" anchor="t"/>
          <a:lstStyle/>
          <a:p>
            <a:pPr indent="0" marL="0">
              <a:buNone/>
            </a:pPr>
            <a:r>
              <a:rPr lang="en-US" sz="3000" b="1" dirty="0">
                <a:solidFill>
                  <a:srgbClr val="0F766E"/>
                </a:solidFill>
                <a:latin typeface="Cambria" pitchFamily="34" charset="0"/>
                <a:ea typeface="Cambria" pitchFamily="34" charset="-122"/>
                <a:cs typeface="Cambria" pitchFamily="34" charset="-120"/>
              </a:rPr>
              <a:t>23×</a:t>
            </a:r>
            <a:endParaRPr lang="en-US" sz="3000" dirty="0"/>
          </a:p>
        </p:txBody>
      </p:sp>
      <p:sp>
        <p:nvSpPr>
          <p:cNvPr id="10" name="Text 7"/>
          <p:cNvSpPr txBox="1"/>
          <p:nvPr/>
        </p:nvSpPr>
        <p:spPr>
          <a:xfrm>
            <a:off x="8732520" y="322783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better p99 than KOSMOS, with 5× fewer scaling actions (57 vs 256)</a:t>
            </a:r>
            <a:endParaRPr lang="en-US" sz="1100" dirty="0"/>
          </a:p>
        </p:txBody>
      </p:sp>
      <p:sp>
        <p:nvSpPr>
          <p:cNvPr id="11" name="Text 8"/>
          <p:cNvSpPr txBox="1"/>
          <p:nvPr/>
        </p:nvSpPr>
        <p:spPr>
          <a:xfrm>
            <a:off x="8732520" y="3749040"/>
            <a:ext cx="2743200" cy="274320"/>
          </a:xfrm>
          <a:prstGeom prst="rect">
            <a:avLst/>
          </a:prstGeom>
          <a:noFill/>
          <a:ln/>
        </p:spPr>
        <p:txBody>
          <a:bodyPr wrap="square" lIns="0" tIns="0" rIns="0" bIns="0" rtlCol="0" anchor="t"/>
          <a:lstStyle/>
          <a:p>
            <a:pPr indent="0" marL="0">
              <a:buNone/>
            </a:pPr>
            <a:r>
              <a:rPr lang="en-US" sz="1000" b="1" spc="200" kern="0" dirty="0">
                <a:solidFill>
                  <a:srgbClr val="C7811A"/>
                </a:solidFill>
                <a:latin typeface="Calibri" pitchFamily="34" charset="0"/>
                <a:ea typeface="Calibri" pitchFamily="34" charset="-122"/>
                <a:cs typeface="Calibri" pitchFamily="34" charset="-120"/>
              </a:rPr>
              <a:t>READING THE RESULT</a:t>
            </a:r>
            <a:endParaRPr lang="en-US" sz="1000" dirty="0"/>
          </a:p>
        </p:txBody>
      </p:sp>
      <p:sp>
        <p:nvSpPr>
          <p:cNvPr id="12" name="Text 9"/>
          <p:cNvSpPr txBox="1"/>
          <p:nvPr/>
        </p:nvSpPr>
        <p:spPr>
          <a:xfrm>
            <a:off x="8732520" y="4069080"/>
            <a:ext cx="2743200" cy="19659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CPU is resized in 0.1 s while pods boot, so requests do not queue for 20 s. At the default 70 % target CHIMERA uses 3 % more CPU than AAPA; v4 makes 57 in-place resizes per run (v3: 103, KOSMOS: 256).</a:t>
            </a:r>
            <a:endParaRPr lang="en-US" sz="1200" dirty="0"/>
          </a:p>
        </p:txBody>
      </p:sp>
      <p:sp>
        <p:nvSpPr>
          <p:cNvPr id="13" name="Text 10"/>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4" name="Text 11"/>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11 / 21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RESULTS &amp; ANALYSIS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Ablation: which modules earn their place</a:t>
            </a:r>
            <a:endParaRPr lang="en-US" sz="3000" dirty="0"/>
          </a:p>
        </p:txBody>
      </p:sp>
      <p:sp>
        <p:nvSpPr>
          <p:cNvPr id="4" name="Shape 2"/>
          <p:cNvSpPr/>
          <p:nvPr/>
        </p:nvSpPr>
        <p:spPr>
          <a:xfrm>
            <a:off x="548640" y="1508760"/>
            <a:ext cx="7680960" cy="4663440"/>
          </a:xfrm>
          <a:prstGeom prst="rect">
            <a:avLst/>
          </a:prstGeom>
          <a:solidFill>
            <a:srgbClr val="FFFFFF"/>
          </a:solidFill>
          <a:ln w="12700">
            <a:solidFill>
              <a:srgbClr val="D9DEE5"/>
            </a:solidFill>
            <a:prstDash val="solid"/>
          </a:ln>
        </p:spPr>
      </p:sp>
      <p:pic>
        <p:nvPicPr>
          <p:cNvPr id="5" name="Image 0" descr="img/image-10-1.png">    </p:cNvPr>
          <p:cNvPicPr>
            <a:picLocks noChangeAspect="1"/>
          </p:cNvPicPr>
          <p:nvPr/>
        </p:nvPicPr>
        <p:blipFill>
          <a:blip r:embed="rId1"/>
          <a:stretch>
            <a:fillRect/>
          </a:stretch>
        </p:blipFill>
        <p:spPr>
          <a:xfrm>
            <a:off x="640080" y="1966979"/>
            <a:ext cx="7498080" cy="3747001"/>
          </a:xfrm>
          <a:prstGeom prst="rect">
            <a:avLst/>
          </a:prstGeom>
        </p:spPr>
      </p:pic>
      <p:sp>
        <p:nvSpPr>
          <p:cNvPr id="6" name="Shape 3"/>
          <p:cNvSpPr/>
          <p:nvPr/>
        </p:nvSpPr>
        <p:spPr>
          <a:xfrm>
            <a:off x="8503920" y="1508760"/>
            <a:ext cx="3136392" cy="4663440"/>
          </a:xfrm>
          <a:prstGeom prst="roundRect">
            <a:avLst>
              <a:gd name="adj" fmla="val 2332"/>
            </a:avLst>
          </a:prstGeom>
          <a:solidFill>
            <a:srgbClr val="F3F5F8"/>
          </a:solidFill>
          <a:ln w="12700">
            <a:solidFill>
              <a:srgbClr val="F3F5F8"/>
            </a:solidFill>
            <a:prstDash val="solid"/>
          </a:ln>
        </p:spPr>
      </p:sp>
      <p:sp>
        <p:nvSpPr>
          <p:cNvPr id="7" name="Text 4"/>
          <p:cNvSpPr txBox="1"/>
          <p:nvPr/>
        </p:nvSpPr>
        <p:spPr>
          <a:xfrm>
            <a:off x="8732520" y="1737360"/>
            <a:ext cx="2743200" cy="548640"/>
          </a:xfrm>
          <a:prstGeom prst="rect">
            <a:avLst/>
          </a:prstGeom>
          <a:noFill/>
          <a:ln/>
        </p:spPr>
        <p:txBody>
          <a:bodyPr wrap="square" lIns="0" tIns="0" rIns="0" bIns="0" rtlCol="0" anchor="t"/>
          <a:lstStyle/>
          <a:p>
            <a:pPr indent="0" marL="0">
              <a:buNone/>
            </a:pPr>
            <a:r>
              <a:rPr lang="en-US" sz="3000" b="1" dirty="0">
                <a:solidFill>
                  <a:srgbClr val="B42318"/>
                </a:solidFill>
                <a:latin typeface="Cambria" pitchFamily="34" charset="0"/>
                <a:ea typeface="Cambria" pitchFamily="34" charset="-122"/>
                <a:cs typeface="Cambria" pitchFamily="34" charset="-120"/>
              </a:rPr>
              <a:t>+5.9 pp</a:t>
            </a:r>
            <a:endParaRPr lang="en-US" sz="3000" dirty="0"/>
          </a:p>
        </p:txBody>
      </p:sp>
      <p:sp>
        <p:nvSpPr>
          <p:cNvPr id="8" name="Text 5"/>
          <p:cNvSpPr txBox="1"/>
          <p:nvPr/>
        </p:nvSpPr>
        <p:spPr>
          <a:xfrm>
            <a:off x="8732520" y="226771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SLO cost of removing the reactive conformal margin</a:t>
            </a:r>
            <a:endParaRPr lang="en-US" sz="1100" dirty="0"/>
          </a:p>
        </p:txBody>
      </p:sp>
      <p:sp>
        <p:nvSpPr>
          <p:cNvPr id="9" name="Text 6"/>
          <p:cNvSpPr txBox="1"/>
          <p:nvPr/>
        </p:nvSpPr>
        <p:spPr>
          <a:xfrm>
            <a:off x="8732520" y="2697480"/>
            <a:ext cx="2743200" cy="548640"/>
          </a:xfrm>
          <a:prstGeom prst="rect">
            <a:avLst/>
          </a:prstGeom>
          <a:noFill/>
          <a:ln/>
        </p:spPr>
        <p:txBody>
          <a:bodyPr wrap="square" lIns="0" tIns="0" rIns="0" bIns="0" rtlCol="0" anchor="t"/>
          <a:lstStyle/>
          <a:p>
            <a:pPr indent="0" marL="0">
              <a:buNone/>
            </a:pPr>
            <a:r>
              <a:rPr lang="en-US" sz="3000" b="1" dirty="0">
                <a:solidFill>
                  <a:srgbClr val="C7811A"/>
                </a:solidFill>
                <a:latin typeface="Cambria" pitchFamily="34" charset="0"/>
                <a:ea typeface="Cambria" pitchFamily="34" charset="-122"/>
                <a:cs typeface="Cambria" pitchFamily="34" charset="-120"/>
              </a:rPr>
              <a:t>+8 %</a:t>
            </a:r>
            <a:endParaRPr lang="en-US" sz="3000" dirty="0"/>
          </a:p>
        </p:txBody>
      </p:sp>
      <p:sp>
        <p:nvSpPr>
          <p:cNvPr id="10" name="Text 7"/>
          <p:cNvSpPr txBox="1"/>
          <p:nvPr/>
        </p:nvSpPr>
        <p:spPr>
          <a:xfrm>
            <a:off x="8732520" y="322783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CPU cost of removing the 5 s cascade (synthetic; real: +2 %)</a:t>
            </a:r>
            <a:endParaRPr lang="en-US" sz="1100" dirty="0"/>
          </a:p>
        </p:txBody>
      </p:sp>
      <p:sp>
        <p:nvSpPr>
          <p:cNvPr id="11" name="Text 8"/>
          <p:cNvSpPr txBox="1"/>
          <p:nvPr/>
        </p:nvSpPr>
        <p:spPr>
          <a:xfrm>
            <a:off x="8732520" y="3749040"/>
            <a:ext cx="2743200" cy="274320"/>
          </a:xfrm>
          <a:prstGeom prst="rect">
            <a:avLst/>
          </a:prstGeom>
          <a:noFill/>
          <a:ln/>
        </p:spPr>
        <p:txBody>
          <a:bodyPr wrap="square" lIns="0" tIns="0" rIns="0" bIns="0" rtlCol="0" anchor="t"/>
          <a:lstStyle/>
          <a:p>
            <a:pPr indent="0" marL="0">
              <a:buNone/>
            </a:pPr>
            <a:r>
              <a:rPr lang="en-US" sz="1000" b="1" spc="200" kern="0" dirty="0">
                <a:solidFill>
                  <a:srgbClr val="C7811A"/>
                </a:solidFill>
                <a:latin typeface="Calibri" pitchFamily="34" charset="0"/>
                <a:ea typeface="Calibri" pitchFamily="34" charset="-122"/>
                <a:cs typeface="Calibri" pitchFamily="34" charset="-120"/>
              </a:rPr>
              <a:t>READING THE RESULT</a:t>
            </a:r>
            <a:endParaRPr lang="en-US" sz="1000" dirty="0"/>
          </a:p>
        </p:txBody>
      </p:sp>
      <p:sp>
        <p:nvSpPr>
          <p:cNvPr id="12" name="Text 9"/>
          <p:cNvSpPr txBox="1"/>
          <p:nvPr/>
        </p:nvSpPr>
        <p:spPr>
          <a:xfrm>
            <a:off x="8732520" y="4069080"/>
            <a:ext cx="2743200" cy="19659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conformal margin buys the SLO; the cascade buys efficiency; the replica band cuts pod changes 6.1 → 1.0 per run. v4 removed the Lyapunov runtime filter and online recalibration; the coupling penalty is inert in the cascade.</a:t>
            </a:r>
            <a:endParaRPr lang="en-US" sz="1200" dirty="0"/>
          </a:p>
        </p:txBody>
      </p:sp>
      <p:sp>
        <p:nvSpPr>
          <p:cNvPr id="13" name="Text 10"/>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4" name="Text 11"/>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12 / 21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RELATED WORK</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Positioning against existing autoscalers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651760"/>
                <a:gridCol w="4572000"/>
                <a:gridCol w="3867912"/>
              </a:tblGrid>
              <a:tr h="585216">
                <a:tc>
                  <a:txBody>
                    <a:bodyPr/>
                    <a:lstStyle/>
                    <a:p>
                      <a:pPr indent="0" marL="0">
                        <a:buNone/>
                      </a:pPr>
                      <a:r>
                        <a:rPr lang="en-US" sz="1250" b="1" dirty="0">
                          <a:solidFill>
                            <a:srgbClr val="FFFFFF"/>
                          </a:solidFill>
                        </a:rPr>
                        <a:t>System</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50" b="1" dirty="0">
                          <a:solidFill>
                            <a:srgbClr val="FFFFFF"/>
                          </a:solidFill>
                        </a:rPr>
                        <a:t>Approach</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50" b="1" dirty="0">
                          <a:solidFill>
                            <a:srgbClr val="FFFFFF"/>
                          </a:solidFill>
                        </a:rPr>
                        <a:t>How CHIMERA differs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r>
              <a:tr h="585216">
                <a:tc>
                  <a:txBody>
                    <a:bodyPr/>
                    <a:lstStyle/>
                    <a:p>
                      <a:pPr indent="0" marL="0">
                        <a:buNone/>
                      </a:pPr>
                      <a:r>
                        <a:rPr lang="en-US" sz="1250" b="1" dirty="0">
                          <a:solidFill>
                            <a:srgbClr val="13223A"/>
                          </a:solidFill>
                        </a:rPr>
                        <a:t>Kubernetes HPA / VPA</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dirty="0">
                          <a:solidFill>
                            <a:srgbClr val="1F2937"/>
                          </a:solidFill>
                        </a:rPr>
                        <a:t>Industry defaults: HPA adds pods reactively; VPA resizes CPU with a fixed pod count.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b="1" dirty="0">
                          <a:solidFill>
                            <a:srgbClr val="0F766E"/>
                          </a:solidFill>
                        </a:rPr>
                        <a:t>Drives both levers from one law; run together, HPA + VPA fight.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585216">
                <a:tc>
                  <a:txBody>
                    <a:bodyPr/>
                    <a:lstStyle/>
                    <a:p>
                      <a:pPr indent="0" marL="0">
                        <a:buNone/>
                      </a:pPr>
                      <a:r>
                        <a:rPr lang="en-US" sz="1250" b="1" dirty="0">
                          <a:solidFill>
                            <a:srgbClr val="13223A"/>
                          </a:solidFill>
                        </a:rPr>
                        <a:t>AAPA</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Predictive, pods only; the paper this project builds on.</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rPr>
                        <a:t>Adds the vertical axis and models the 20 s boot delay.</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585216">
                <a:tc>
                  <a:txBody>
                    <a:bodyPr/>
                    <a:lstStyle/>
                    <a:p>
                      <a:pPr indent="0" marL="0">
                        <a:buNone/>
                      </a:pPr>
                      <a:r>
                        <a:rPr lang="en-US" sz="1250" b="1" dirty="0">
                          <a:solidFill>
                            <a:srgbClr val="13223A"/>
                          </a:solidFill>
                        </a:rPr>
                        <a:t>KOSMOS (2021)</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dirty="0">
                          <a:solidFill>
                            <a:srgbClr val="1F2937"/>
                          </a:solidFill>
                        </a:rPr>
                        <a:t>Both scaling directions, but two separate control laws.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b="1" dirty="0">
                          <a:solidFill>
                            <a:srgbClr val="0F766E"/>
                          </a:solidFill>
                        </a:rPr>
                        <a:t>One coordinated law — 23× better tail, 12 pp fewer violations, 5× fewer actions.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585216">
                <a:tc>
                  <a:txBody>
                    <a:bodyPr/>
                    <a:lstStyle/>
                    <a:p>
                      <a:pPr indent="0" marL="0">
                        <a:buNone/>
                      </a:pPr>
                      <a:r>
                        <a:rPr lang="en-US" sz="1250" b="1" dirty="0">
                          <a:solidFill>
                            <a:srgbClr val="13223A"/>
                          </a:solidFill>
                        </a:rPr>
                        <a:t>GKE Multidimensional Pod Autoscaler</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Avoids loop conflict by giving each loop a different metric (CPU vs memory).</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rPr>
                        <a:t>Coordinates both loops on the same resource.</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585216">
                <a:tc>
                  <a:txBody>
                    <a:bodyPr/>
                    <a:lstStyle/>
                    <a:p>
                      <a:pPr indent="0" marL="0">
                        <a:buNone/>
                      </a:pPr>
                      <a:r>
                        <a:rPr lang="en-US" sz="1250" b="1" dirty="0">
                          <a:solidFill>
                            <a:srgbClr val="13223A"/>
                          </a:solidFill>
                        </a:rPr>
                        <a:t>ADAPT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dirty="0">
                          <a:solidFill>
                            <a:srgbClr val="1F2937"/>
                          </a:solidFill>
                        </a:rPr>
                        <a:t>Delay-aware, pods only; solves a fresh optimisation every step.</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b="1" dirty="0">
                          <a:solidFill>
                            <a:srgbClr val="0F766E"/>
                          </a:solidFill>
                        </a:rPr>
                        <a:t>Gain K is computed once, up front.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585216">
                <a:tc>
                  <a:txBody>
                    <a:bodyPr/>
                    <a:lstStyle/>
                    <a:p>
                      <a:pPr indent="0" marL="0">
                        <a:buNone/>
                      </a:pPr>
                      <a:r>
                        <a:rPr lang="en-US" sz="1250" b="1" dirty="0">
                          <a:solidFill>
                            <a:srgbClr val="13223A"/>
                          </a:solidFill>
                        </a:rPr>
                        <a:t>OptScaler, BACC</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Use confidence intervals, pods only; interval feeds a budget.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rPr>
                        <a:t>Interval feeds a Lyapunov stability constraint.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585216">
                <a:tc>
                  <a:txBody>
                    <a:bodyPr/>
                    <a:lstStyle/>
                    <a:p>
                      <a:pPr indent="0" marL="0">
                        <a:buNone/>
                      </a:pPr>
                      <a:r>
                        <a:rPr lang="en-US" sz="1250" b="1" dirty="0">
                          <a:solidFill>
                            <a:srgbClr val="13223A"/>
                          </a:solidFill>
                        </a:rPr>
                        <a:t>Two related patents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dirty="0">
                          <a:solidFill>
                            <a:srgbClr val="1F2937"/>
                          </a:solidFill>
                        </a:rPr>
                        <a:t>Pick one axis or the other using threshold rules.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b="1" dirty="0">
                          <a:solidFill>
                            <a:srgbClr val="0F766E"/>
                          </a:solidFill>
                        </a:rPr>
                        <a:t>Drives both axes at once from a control law.</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bl>
          </a:graphicData>
        </a:graphic>
      </p:graphicFrame>
      <p:sp>
        <p:nvSpPr>
          <p:cNvPr id="5" name="Text 2"/>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6" name="Text 3"/>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13 / 21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ENGINEERING VERIFICATION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Defects found and fixed during verification</a:t>
            </a:r>
            <a:endParaRPr lang="en-US" sz="3000" dirty="0"/>
          </a:p>
        </p:txBody>
      </p:sp>
      <p:sp>
        <p:nvSpPr>
          <p:cNvPr id="4" name="Text 2"/>
          <p:cNvSpPr txBox="1"/>
          <p:nvPr/>
        </p:nvSpPr>
        <p:spPr>
          <a:xfrm>
            <a:off x="548640" y="1463040"/>
            <a:ext cx="10972800" cy="365760"/>
          </a:xfrm>
          <a:prstGeom prst="rect">
            <a:avLst/>
          </a:prstGeom>
          <a:noFill/>
          <a:ln/>
        </p:spPr>
        <p:txBody>
          <a:bodyPr wrap="square" lIns="0" tIns="0" rIns="0" bIns="0" rtlCol="0" anchor="t"/>
          <a:lstStyle/>
          <a:p>
            <a:pPr indent="0" marL="0">
              <a:buNone/>
            </a:pPr>
            <a:r>
              <a:rPr lang="en-US" sz="1400" i="1" dirty="0">
                <a:solidFill>
                  <a:srgbClr val="5B6675"/>
                </a:solidFill>
                <a:latin typeface="Calibri" pitchFamily="34" charset="0"/>
                <a:ea typeface="Calibri" pitchFamily="34" charset="-122"/>
                <a:cs typeface="Calibri" pitchFamily="34" charset="-120"/>
              </a:rPr>
              <a:t>Three of these were discovered by auditing our own results rather than by a failing test. Each one changed the published numbers.</a:t>
            </a:r>
            <a:endParaRPr lang="en-US" sz="1400" dirty="0"/>
          </a:p>
        </p:txBody>
      </p:sp>
      <p:sp>
        <p:nvSpPr>
          <p:cNvPr id="5" name="Shape 3"/>
          <p:cNvSpPr/>
          <p:nvPr/>
        </p:nvSpPr>
        <p:spPr>
          <a:xfrm>
            <a:off x="548640" y="2057400"/>
            <a:ext cx="5422392" cy="1920240"/>
          </a:xfrm>
          <a:prstGeom prst="roundRect">
            <a:avLst>
              <a:gd name="adj" fmla="val 3810"/>
            </a:avLst>
          </a:prstGeom>
          <a:solidFill>
            <a:srgbClr val="F3F5F8"/>
          </a:solidFill>
          <a:ln w="12700">
            <a:solidFill>
              <a:srgbClr val="F3F5F8"/>
            </a:solidFill>
            <a:prstDash val="solid"/>
          </a:ln>
        </p:spPr>
      </p:sp>
      <p:sp>
        <p:nvSpPr>
          <p:cNvPr id="6" name="Shape 4"/>
          <p:cNvSpPr/>
          <p:nvPr/>
        </p:nvSpPr>
        <p:spPr>
          <a:xfrm>
            <a:off x="777240" y="2286000"/>
            <a:ext cx="411480" cy="411480"/>
          </a:xfrm>
          <a:prstGeom prst="ellipse">
            <a:avLst/>
          </a:prstGeom>
          <a:solidFill>
            <a:srgbClr val="B42318"/>
          </a:solidFill>
          <a:ln w="12700">
            <a:solidFill>
              <a:srgbClr val="B42318"/>
            </a:solidFill>
            <a:prstDash val="solid"/>
          </a:ln>
        </p:spPr>
      </p:sp>
      <p:sp>
        <p:nvSpPr>
          <p:cNvPr id="7" name="Text 5"/>
          <p:cNvSpPr txBox="1"/>
          <p:nvPr/>
        </p:nvSpPr>
        <p:spPr>
          <a:xfrm>
            <a:off x="777240" y="22860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371600" y="2286000"/>
            <a:ext cx="4389120" cy="411480"/>
          </a:xfrm>
          <a:prstGeom prst="rect">
            <a:avLst/>
          </a:prstGeom>
          <a:noFill/>
          <a:ln/>
        </p:spPr>
        <p:txBody>
          <a:bodyPr wrap="square" lIns="0" tIns="0" rIns="0" bIns="0" rtlCol="0" anchor="ctr"/>
          <a:lstStyle/>
          <a:p>
            <a:pPr indent="0" marL="0">
              <a:buNone/>
            </a:pPr>
            <a:r>
              <a:rPr lang="en-US" sz="1600" b="1" dirty="0">
                <a:solidFill>
                  <a:srgbClr val="13223A"/>
                </a:solidFill>
                <a:latin typeface="Cambria" pitchFamily="34" charset="0"/>
                <a:ea typeface="Cambria" pitchFamily="34" charset="-122"/>
                <a:cs typeface="Cambria" pitchFamily="34" charset="-120"/>
              </a:rPr>
              <a:t>Pod warm-up delay</a:t>
            </a:r>
            <a:endParaRPr lang="en-US" sz="1600" dirty="0"/>
          </a:p>
        </p:txBody>
      </p:sp>
      <p:sp>
        <p:nvSpPr>
          <p:cNvPr id="9" name="Text 7"/>
          <p:cNvSpPr txBox="1"/>
          <p:nvPr/>
        </p:nvSpPr>
        <p:spPr>
          <a:xfrm>
            <a:off x="1371600" y="2788920"/>
            <a:ext cx="4389120" cy="548640"/>
          </a:xfrm>
          <a:prstGeom prst="rect">
            <a:avLst/>
          </a:prstGeom>
          <a:noFill/>
          <a:ln/>
        </p:spPr>
        <p:txBody>
          <a:bodyPr wrap="square" lIns="0" tIns="0" rIns="0" bIns="0" rtlCol="0" anchor="t"/>
          <a:lstStyle/>
          <a:p>
            <a:pPr indent="0" marL="0">
              <a:buNone/>
            </a:pPr>
            <a:r>
              <a:rPr lang="en-US" sz="1200" b="1" dirty="0">
                <a:solidFill>
                  <a:srgbClr val="B42318"/>
                </a:solidFill>
                <a:latin typeface="Calibri" pitchFamily="34" charset="0"/>
                <a:ea typeface="Calibri" pitchFamily="34" charset="-122"/>
                <a:cs typeface="Calibri" pitchFamily="34" charset="-120"/>
              </a:rPr>
              <a:t>Defect  </a:t>
            </a:r>
            <a:pPr indent="0" marL="0">
              <a:buNone/>
            </a:pPr>
            <a:r>
              <a:rPr lang="en-US" sz="1200" dirty="0">
                <a:solidFill>
                  <a:srgbClr val="1F2937"/>
                </a:solidFill>
                <a:latin typeface="Calibri" pitchFamily="34" charset="0"/>
                <a:ea typeface="Calibri" pitchFamily="34" charset="-122"/>
                <a:cs typeface="Calibri" pitchFamily="34" charset="-120"/>
              </a:rPr>
              <a:t>New replicas became ready in 0.1 s instead of the real 20 s, giving every horizontal baseline near-instant capacity.</a:t>
            </a:r>
            <a:endParaRPr lang="en-US" sz="1200" dirty="0"/>
          </a:p>
        </p:txBody>
      </p:sp>
      <p:sp>
        <p:nvSpPr>
          <p:cNvPr id="10" name="Text 8"/>
          <p:cNvSpPr txBox="1"/>
          <p:nvPr/>
        </p:nvSpPr>
        <p:spPr>
          <a:xfrm>
            <a:off x="1371600" y="3355848"/>
            <a:ext cx="4389120" cy="5029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Fix  </a:t>
            </a:r>
            <a:pPr indent="0" marL="0">
              <a:buNone/>
            </a:pPr>
            <a:r>
              <a:rPr lang="en-US" sz="1200" dirty="0">
                <a:solidFill>
                  <a:srgbClr val="1F2937"/>
                </a:solidFill>
                <a:latin typeface="Calibri" pitchFamily="34" charset="0"/>
                <a:ea typeface="Calibri" pitchFamily="34" charset="-122"/>
                <a:cs typeface="Calibri" pitchFamily="34" charset="-120"/>
              </a:rPr>
              <a:t>Pods now constructed with an explicit 20 s startup_time.</a:t>
            </a:r>
            <a:endParaRPr lang="en-US" sz="1200" dirty="0"/>
          </a:p>
        </p:txBody>
      </p:sp>
      <p:sp>
        <p:nvSpPr>
          <p:cNvPr id="11" name="Shape 9"/>
          <p:cNvSpPr/>
          <p:nvPr/>
        </p:nvSpPr>
        <p:spPr>
          <a:xfrm>
            <a:off x="6217920" y="2057400"/>
            <a:ext cx="5422392" cy="1920240"/>
          </a:xfrm>
          <a:prstGeom prst="roundRect">
            <a:avLst>
              <a:gd name="adj" fmla="val 3810"/>
            </a:avLst>
          </a:prstGeom>
          <a:solidFill>
            <a:srgbClr val="F3F5F8"/>
          </a:solidFill>
          <a:ln w="12700">
            <a:solidFill>
              <a:srgbClr val="F3F5F8"/>
            </a:solidFill>
            <a:prstDash val="solid"/>
          </a:ln>
        </p:spPr>
      </p:sp>
      <p:sp>
        <p:nvSpPr>
          <p:cNvPr id="12" name="Shape 10"/>
          <p:cNvSpPr/>
          <p:nvPr/>
        </p:nvSpPr>
        <p:spPr>
          <a:xfrm>
            <a:off x="6446520" y="2286000"/>
            <a:ext cx="411480" cy="411480"/>
          </a:xfrm>
          <a:prstGeom prst="ellipse">
            <a:avLst/>
          </a:prstGeom>
          <a:solidFill>
            <a:srgbClr val="B42318"/>
          </a:solidFill>
          <a:ln w="12700">
            <a:solidFill>
              <a:srgbClr val="B42318"/>
            </a:solidFill>
            <a:prstDash val="solid"/>
          </a:ln>
        </p:spPr>
      </p:sp>
      <p:sp>
        <p:nvSpPr>
          <p:cNvPr id="13" name="Text 11"/>
          <p:cNvSpPr txBox="1"/>
          <p:nvPr/>
        </p:nvSpPr>
        <p:spPr>
          <a:xfrm>
            <a:off x="6446520" y="22860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7040880" y="2286000"/>
            <a:ext cx="4389120" cy="411480"/>
          </a:xfrm>
          <a:prstGeom prst="rect">
            <a:avLst/>
          </a:prstGeom>
          <a:noFill/>
          <a:ln/>
        </p:spPr>
        <p:txBody>
          <a:bodyPr wrap="square" lIns="0" tIns="0" rIns="0" bIns="0" rtlCol="0" anchor="ctr"/>
          <a:lstStyle/>
          <a:p>
            <a:pPr indent="0" marL="0">
              <a:buNone/>
            </a:pPr>
            <a:r>
              <a:rPr lang="en-US" sz="1600" b="1" dirty="0">
                <a:solidFill>
                  <a:srgbClr val="13223A"/>
                </a:solidFill>
                <a:latin typeface="Cambria" pitchFamily="34" charset="0"/>
                <a:ea typeface="Cambria" pitchFamily="34" charset="-122"/>
                <a:cs typeface="Cambria" pitchFamily="34" charset="-120"/>
              </a:rPr>
              <a:t>Baseline headroom confound</a:t>
            </a:r>
            <a:endParaRPr lang="en-US" sz="1600" dirty="0"/>
          </a:p>
        </p:txBody>
      </p:sp>
      <p:sp>
        <p:nvSpPr>
          <p:cNvPr id="15" name="Text 13"/>
          <p:cNvSpPr txBox="1"/>
          <p:nvPr/>
        </p:nvSpPr>
        <p:spPr>
          <a:xfrm>
            <a:off x="7040880" y="2788920"/>
            <a:ext cx="4389120" cy="548640"/>
          </a:xfrm>
          <a:prstGeom prst="rect">
            <a:avLst/>
          </a:prstGeom>
          <a:noFill/>
          <a:ln/>
        </p:spPr>
        <p:txBody>
          <a:bodyPr wrap="square" lIns="0" tIns="0" rIns="0" bIns="0" rtlCol="0" anchor="t"/>
          <a:lstStyle/>
          <a:p>
            <a:pPr indent="0" marL="0">
              <a:buNone/>
            </a:pPr>
            <a:r>
              <a:rPr lang="en-US" sz="1200" b="1" dirty="0">
                <a:solidFill>
                  <a:srgbClr val="B42318"/>
                </a:solidFill>
                <a:latin typeface="Calibri" pitchFamily="34" charset="0"/>
                <a:ea typeface="Calibri" pitchFamily="34" charset="-122"/>
                <a:cs typeface="Calibri" pitchFamily="34" charset="-120"/>
              </a:rPr>
              <a:t>Defect  </a:t>
            </a:r>
            <a:pPr indent="0" marL="0">
              <a:buNone/>
            </a:pPr>
            <a:r>
              <a:rPr lang="en-US" sz="1200" dirty="0">
                <a:solidFill>
                  <a:srgbClr val="1F2937"/>
                </a:solidFill>
                <a:latin typeface="Calibri" pitchFamily="34" charset="0"/>
                <a:ea typeface="Calibri" pitchFamily="34" charset="-122"/>
                <a:cs typeface="Calibri" pitchFamily="34" charset="-120"/>
              </a:rPr>
              <a:t>Horizontal-only baselines started at 1.5 cores/pod while CHIMERA started at 0.5 — a 3× advantage.</a:t>
            </a:r>
            <a:endParaRPr lang="en-US" sz="1200" dirty="0"/>
          </a:p>
        </p:txBody>
      </p:sp>
      <p:sp>
        <p:nvSpPr>
          <p:cNvPr id="16" name="Text 14"/>
          <p:cNvSpPr txBox="1"/>
          <p:nvPr/>
        </p:nvSpPr>
        <p:spPr>
          <a:xfrm>
            <a:off x="7040880" y="3355848"/>
            <a:ext cx="4389120" cy="5029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Fix  </a:t>
            </a:r>
            <a:pPr indent="0" marL="0">
              <a:buNone/>
            </a:pPr>
            <a:r>
              <a:rPr lang="en-US" sz="1200" dirty="0">
                <a:solidFill>
                  <a:srgbClr val="1F2937"/>
                </a:solidFill>
                <a:latin typeface="Calibri" pitchFamily="34" charset="0"/>
                <a:ea typeface="Calibri" pitchFamily="34" charset="-122"/>
                <a:cs typeface="Calibri" pitchFamily="34" charset="-120"/>
              </a:rPr>
              <a:t>All controllers initialise from the same v_min; 1.5-core variants kept as a separate study.</a:t>
            </a:r>
            <a:endParaRPr lang="en-US" sz="1200" dirty="0"/>
          </a:p>
        </p:txBody>
      </p:sp>
      <p:sp>
        <p:nvSpPr>
          <p:cNvPr id="17" name="Shape 15"/>
          <p:cNvSpPr/>
          <p:nvPr/>
        </p:nvSpPr>
        <p:spPr>
          <a:xfrm>
            <a:off x="548640" y="4160520"/>
            <a:ext cx="5422392" cy="1920240"/>
          </a:xfrm>
          <a:prstGeom prst="roundRect">
            <a:avLst>
              <a:gd name="adj" fmla="val 3810"/>
            </a:avLst>
          </a:prstGeom>
          <a:solidFill>
            <a:srgbClr val="F3F5F8"/>
          </a:solidFill>
          <a:ln w="12700">
            <a:solidFill>
              <a:srgbClr val="F3F5F8"/>
            </a:solidFill>
            <a:prstDash val="solid"/>
          </a:ln>
        </p:spPr>
      </p:sp>
      <p:sp>
        <p:nvSpPr>
          <p:cNvPr id="18" name="Shape 16"/>
          <p:cNvSpPr/>
          <p:nvPr/>
        </p:nvSpPr>
        <p:spPr>
          <a:xfrm>
            <a:off x="777240" y="4389120"/>
            <a:ext cx="411480" cy="411480"/>
          </a:xfrm>
          <a:prstGeom prst="ellipse">
            <a:avLst/>
          </a:prstGeom>
          <a:solidFill>
            <a:srgbClr val="B42318"/>
          </a:solidFill>
          <a:ln w="12700">
            <a:solidFill>
              <a:srgbClr val="B42318"/>
            </a:solidFill>
            <a:prstDash val="solid"/>
          </a:ln>
        </p:spPr>
      </p:sp>
      <p:sp>
        <p:nvSpPr>
          <p:cNvPr id="19" name="Text 17"/>
          <p:cNvSpPr txBox="1"/>
          <p:nvPr/>
        </p:nvSpPr>
        <p:spPr>
          <a:xfrm>
            <a:off x="777240" y="438912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371600" y="4389120"/>
            <a:ext cx="4389120" cy="411480"/>
          </a:xfrm>
          <a:prstGeom prst="rect">
            <a:avLst/>
          </a:prstGeom>
          <a:noFill/>
          <a:ln/>
        </p:spPr>
        <p:txBody>
          <a:bodyPr wrap="square" lIns="0" tIns="0" rIns="0" bIns="0" rtlCol="0" anchor="ctr"/>
          <a:lstStyle/>
          <a:p>
            <a:pPr indent="0" marL="0">
              <a:buNone/>
            </a:pPr>
            <a:r>
              <a:rPr lang="en-US" sz="1600" b="1" dirty="0">
                <a:solidFill>
                  <a:srgbClr val="13223A"/>
                </a:solidFill>
                <a:latin typeface="Cambria" pitchFamily="34" charset="0"/>
                <a:ea typeface="Cambria" pitchFamily="34" charset="-122"/>
                <a:cs typeface="Cambria" pitchFamily="34" charset="-120"/>
              </a:rPr>
              <a:t>CQR calibration leakage</a:t>
            </a:r>
            <a:endParaRPr lang="en-US" sz="1600" dirty="0"/>
          </a:p>
        </p:txBody>
      </p:sp>
      <p:sp>
        <p:nvSpPr>
          <p:cNvPr id="21" name="Text 19"/>
          <p:cNvSpPr txBox="1"/>
          <p:nvPr/>
        </p:nvSpPr>
        <p:spPr>
          <a:xfrm>
            <a:off x="1371600" y="4892040"/>
            <a:ext cx="4389120" cy="548640"/>
          </a:xfrm>
          <a:prstGeom prst="rect">
            <a:avLst/>
          </a:prstGeom>
          <a:noFill/>
          <a:ln/>
        </p:spPr>
        <p:txBody>
          <a:bodyPr wrap="square" lIns="0" tIns="0" rIns="0" bIns="0" rtlCol="0" anchor="t"/>
          <a:lstStyle/>
          <a:p>
            <a:pPr indent="0" marL="0">
              <a:buNone/>
            </a:pPr>
            <a:r>
              <a:rPr lang="en-US" sz="1200" b="1" dirty="0">
                <a:solidFill>
                  <a:srgbClr val="B42318"/>
                </a:solidFill>
                <a:latin typeface="Calibri" pitchFamily="34" charset="0"/>
                <a:ea typeface="Calibri" pitchFamily="34" charset="-122"/>
                <a:cs typeface="Calibri" pitchFamily="34" charset="-120"/>
              </a:rPr>
              <a:t>Defect  </a:t>
            </a:r>
            <a:pPr indent="0" marL="0">
              <a:buNone/>
            </a:pPr>
            <a:r>
              <a:rPr lang="en-US" sz="1200" dirty="0">
                <a:solidFill>
                  <a:srgbClr val="1F2937"/>
                </a:solidFill>
                <a:latin typeface="Calibri" pitchFamily="34" charset="0"/>
                <a:ea typeface="Calibri" pitchFamily="34" charset="-122"/>
                <a:cs typeface="Calibri" pitchFamily="34" charset="-120"/>
              </a:rPr>
              <a:t>The conformal calibration window overlapped the test window, inflating coverage above 98 %.</a:t>
            </a:r>
            <a:endParaRPr lang="en-US" sz="1200" dirty="0"/>
          </a:p>
        </p:txBody>
      </p:sp>
      <p:sp>
        <p:nvSpPr>
          <p:cNvPr id="22" name="Text 20"/>
          <p:cNvSpPr txBox="1"/>
          <p:nvPr/>
        </p:nvSpPr>
        <p:spPr>
          <a:xfrm>
            <a:off x="1371600" y="5458968"/>
            <a:ext cx="4389120" cy="5029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Fix  </a:t>
            </a:r>
            <a:pPr indent="0" marL="0">
              <a:buNone/>
            </a:pPr>
            <a:r>
              <a:rPr lang="en-US" sz="1200" dirty="0">
                <a:solidFill>
                  <a:srgbClr val="1F2937"/>
                </a:solidFill>
                <a:latin typeface="Calibri" pitchFamily="34" charset="0"/>
                <a:ea typeface="Calibri" pitchFamily="34" charset="-122"/>
                <a:cs typeface="Calibri" pitchFamily="34" charset="-120"/>
              </a:rPr>
              <a:t>Strict disjoint partitions: train 10–50, calibrate 50–70, test 70–100 min.</a:t>
            </a:r>
            <a:endParaRPr lang="en-US" sz="1200" dirty="0"/>
          </a:p>
        </p:txBody>
      </p:sp>
      <p:sp>
        <p:nvSpPr>
          <p:cNvPr id="23" name="Shape 21"/>
          <p:cNvSpPr/>
          <p:nvPr/>
        </p:nvSpPr>
        <p:spPr>
          <a:xfrm>
            <a:off x="6217920" y="4160520"/>
            <a:ext cx="5422392" cy="1920240"/>
          </a:xfrm>
          <a:prstGeom prst="roundRect">
            <a:avLst>
              <a:gd name="adj" fmla="val 3810"/>
            </a:avLst>
          </a:prstGeom>
          <a:solidFill>
            <a:srgbClr val="F3F5F8"/>
          </a:solidFill>
          <a:ln w="12700">
            <a:solidFill>
              <a:srgbClr val="F3F5F8"/>
            </a:solidFill>
            <a:prstDash val="solid"/>
          </a:ln>
        </p:spPr>
      </p:sp>
      <p:sp>
        <p:nvSpPr>
          <p:cNvPr id="24" name="Shape 22"/>
          <p:cNvSpPr/>
          <p:nvPr/>
        </p:nvSpPr>
        <p:spPr>
          <a:xfrm>
            <a:off x="6446520" y="4389120"/>
            <a:ext cx="411480" cy="411480"/>
          </a:xfrm>
          <a:prstGeom prst="ellipse">
            <a:avLst/>
          </a:prstGeom>
          <a:solidFill>
            <a:srgbClr val="B42318"/>
          </a:solidFill>
          <a:ln w="12700">
            <a:solidFill>
              <a:srgbClr val="B42318"/>
            </a:solidFill>
            <a:prstDash val="solid"/>
          </a:ln>
        </p:spPr>
      </p:sp>
      <p:sp>
        <p:nvSpPr>
          <p:cNvPr id="25" name="Text 23"/>
          <p:cNvSpPr txBox="1"/>
          <p:nvPr/>
        </p:nvSpPr>
        <p:spPr>
          <a:xfrm>
            <a:off x="6446520" y="438912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txBox="1"/>
          <p:nvPr/>
        </p:nvSpPr>
        <p:spPr>
          <a:xfrm>
            <a:off x="7040880" y="4389120"/>
            <a:ext cx="4389120" cy="411480"/>
          </a:xfrm>
          <a:prstGeom prst="rect">
            <a:avLst/>
          </a:prstGeom>
          <a:noFill/>
          <a:ln/>
        </p:spPr>
        <p:txBody>
          <a:bodyPr wrap="square" lIns="0" tIns="0" rIns="0" bIns="0" rtlCol="0" anchor="ctr"/>
          <a:lstStyle/>
          <a:p>
            <a:pPr indent="0" marL="0">
              <a:buNone/>
            </a:pPr>
            <a:r>
              <a:rPr lang="en-US" sz="1600" b="1" dirty="0">
                <a:solidFill>
                  <a:srgbClr val="13223A"/>
                </a:solidFill>
                <a:latin typeface="Cambria" pitchFamily="34" charset="0"/>
                <a:ea typeface="Cambria" pitchFamily="34" charset="-122"/>
                <a:cs typeface="Cambria" pitchFamily="34" charset="-120"/>
              </a:rPr>
              <a:t>DARE solver crash</a:t>
            </a:r>
            <a:endParaRPr lang="en-US" sz="1600" dirty="0"/>
          </a:p>
        </p:txBody>
      </p:sp>
      <p:sp>
        <p:nvSpPr>
          <p:cNvPr id="27" name="Text 25"/>
          <p:cNvSpPr txBox="1"/>
          <p:nvPr/>
        </p:nvSpPr>
        <p:spPr>
          <a:xfrm>
            <a:off x="7040880" y="4892040"/>
            <a:ext cx="4389120" cy="548640"/>
          </a:xfrm>
          <a:prstGeom prst="rect">
            <a:avLst/>
          </a:prstGeom>
          <a:noFill/>
          <a:ln/>
        </p:spPr>
        <p:txBody>
          <a:bodyPr wrap="square" lIns="0" tIns="0" rIns="0" bIns="0" rtlCol="0" anchor="t"/>
          <a:lstStyle/>
          <a:p>
            <a:pPr indent="0" marL="0">
              <a:buNone/>
            </a:pPr>
            <a:r>
              <a:rPr lang="en-US" sz="1200" b="1" dirty="0">
                <a:solidFill>
                  <a:srgbClr val="B42318"/>
                </a:solidFill>
                <a:latin typeface="Calibri" pitchFamily="34" charset="0"/>
                <a:ea typeface="Calibri" pitchFamily="34" charset="-122"/>
                <a:cs typeface="Calibri" pitchFamily="34" charset="-120"/>
              </a:rPr>
              <a:t>Defect  </a:t>
            </a:r>
            <a:pPr indent="0" marL="0">
              <a:buNone/>
            </a:pPr>
            <a:r>
              <a:rPr lang="en-US" sz="1200" dirty="0">
                <a:solidFill>
                  <a:srgbClr val="1F2937"/>
                </a:solidFill>
                <a:latin typeface="Calibri" pitchFamily="34" charset="0"/>
                <a:ea typeface="Calibri" pitchFamily="34" charset="-122"/>
                <a:cs typeface="Calibri" pitchFamily="34" charset="-120"/>
              </a:rPr>
              <a:t>scipy's Riccati solver threw on extreme parameter sweeps and killed the whole run.</a:t>
            </a:r>
            <a:endParaRPr lang="en-US" sz="1200" dirty="0"/>
          </a:p>
        </p:txBody>
      </p:sp>
      <p:sp>
        <p:nvSpPr>
          <p:cNvPr id="28" name="Text 26"/>
          <p:cNvSpPr txBox="1"/>
          <p:nvPr/>
        </p:nvSpPr>
        <p:spPr>
          <a:xfrm>
            <a:off x="7040880" y="5458968"/>
            <a:ext cx="4389120" cy="5029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Fix  </a:t>
            </a:r>
            <a:pPr indent="0" marL="0">
              <a:buNone/>
            </a:pPr>
            <a:r>
              <a:rPr lang="en-US" sz="1200" dirty="0">
                <a:solidFill>
                  <a:srgbClr val="1F2937"/>
                </a:solidFill>
                <a:latin typeface="Calibri" pitchFamily="34" charset="0"/>
                <a:ea typeface="Calibri" pitchFamily="34" charset="-122"/>
                <a:cs typeface="Calibri" pitchFamily="34" charset="-120"/>
              </a:rPr>
              <a:t>Falls back to analytical gains; 720 consecutive runs with no crash.</a:t>
            </a:r>
            <a:endParaRPr lang="en-US" sz="1200" dirty="0"/>
          </a:p>
        </p:txBody>
      </p:sp>
      <p:sp>
        <p:nvSpPr>
          <p:cNvPr id="29" name="Text 27"/>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30" name="Text 28"/>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14 / 21</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KUBERNETES INTEGRATION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From simulator to cluster</a:t>
            </a:r>
            <a:endParaRPr lang="en-US" sz="3000" dirty="0"/>
          </a:p>
        </p:txBody>
      </p:sp>
      <p:sp>
        <p:nvSpPr>
          <p:cNvPr id="4" name="Shape 2"/>
          <p:cNvSpPr/>
          <p:nvPr/>
        </p:nvSpPr>
        <p:spPr>
          <a:xfrm>
            <a:off x="548640" y="1554480"/>
            <a:ext cx="3502152" cy="2103120"/>
          </a:xfrm>
          <a:prstGeom prst="roundRect">
            <a:avLst>
              <a:gd name="adj" fmla="val 3478"/>
            </a:avLst>
          </a:prstGeom>
          <a:solidFill>
            <a:srgbClr val="F3F5F8"/>
          </a:solidFill>
          <a:ln w="12700">
            <a:solidFill>
              <a:srgbClr val="F3F5F8"/>
            </a:solidFill>
            <a:prstDash val="solid"/>
          </a:ln>
        </p:spPr>
      </p:sp>
      <p:sp>
        <p:nvSpPr>
          <p:cNvPr id="5" name="Shape 3"/>
          <p:cNvSpPr/>
          <p:nvPr/>
        </p:nvSpPr>
        <p:spPr>
          <a:xfrm>
            <a:off x="777240" y="1783080"/>
            <a:ext cx="1188720" cy="274320"/>
          </a:xfrm>
          <a:prstGeom prst="roundRect">
            <a:avLst>
              <a:gd name="adj" fmla="val 50000"/>
            </a:avLst>
          </a:prstGeom>
          <a:solidFill>
            <a:srgbClr val="0F766E"/>
          </a:solidFill>
          <a:ln w="12700">
            <a:solidFill>
              <a:srgbClr val="0F766E"/>
            </a:solidFill>
            <a:prstDash val="solid"/>
          </a:ln>
        </p:spPr>
      </p:sp>
      <p:sp>
        <p:nvSpPr>
          <p:cNvPr id="6" name="Text 4"/>
          <p:cNvSpPr txBox="1"/>
          <p:nvPr/>
        </p:nvSpPr>
        <p:spPr>
          <a:xfrm>
            <a:off x="777240" y="178308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7" name="Text 5"/>
          <p:cNvSpPr txBox="1"/>
          <p:nvPr/>
        </p:nvSpPr>
        <p:spPr>
          <a:xfrm>
            <a:off x="777240" y="219456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CustomResourceDefinition</a:t>
            </a:r>
            <a:endParaRPr lang="en-US" sz="1550" dirty="0"/>
          </a:p>
        </p:txBody>
      </p:sp>
      <p:sp>
        <p:nvSpPr>
          <p:cNvPr id="8" name="Text 6"/>
          <p:cNvSpPr txBox="1"/>
          <p:nvPr/>
        </p:nvSpPr>
        <p:spPr>
          <a:xfrm>
            <a:off x="777240" y="260604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chimeraautoscalers.autoscaling.k8s.io declares bounds, target utilisation, pod start-up time and resize mode as a first-class cluster object, with a status subresource.</a:t>
            </a:r>
            <a:endParaRPr lang="en-US" sz="1200" dirty="0"/>
          </a:p>
        </p:txBody>
      </p:sp>
      <p:sp>
        <p:nvSpPr>
          <p:cNvPr id="9" name="Shape 7"/>
          <p:cNvSpPr/>
          <p:nvPr/>
        </p:nvSpPr>
        <p:spPr>
          <a:xfrm>
            <a:off x="4297680" y="1554480"/>
            <a:ext cx="3502152" cy="2103120"/>
          </a:xfrm>
          <a:prstGeom prst="roundRect">
            <a:avLst>
              <a:gd name="adj" fmla="val 3478"/>
            </a:avLst>
          </a:prstGeom>
          <a:solidFill>
            <a:srgbClr val="F3F5F8"/>
          </a:solidFill>
          <a:ln w="12700">
            <a:solidFill>
              <a:srgbClr val="F3F5F8"/>
            </a:solidFill>
            <a:prstDash val="solid"/>
          </a:ln>
        </p:spPr>
      </p:sp>
      <p:sp>
        <p:nvSpPr>
          <p:cNvPr id="10" name="Shape 8"/>
          <p:cNvSpPr/>
          <p:nvPr/>
        </p:nvSpPr>
        <p:spPr>
          <a:xfrm>
            <a:off x="4526280" y="1783080"/>
            <a:ext cx="1188720" cy="274320"/>
          </a:xfrm>
          <a:prstGeom prst="roundRect">
            <a:avLst>
              <a:gd name="adj" fmla="val 50000"/>
            </a:avLst>
          </a:prstGeom>
          <a:solidFill>
            <a:srgbClr val="0F766E"/>
          </a:solidFill>
          <a:ln w="12700">
            <a:solidFill>
              <a:srgbClr val="0F766E"/>
            </a:solidFill>
            <a:prstDash val="solid"/>
          </a:ln>
        </p:spPr>
      </p:sp>
      <p:sp>
        <p:nvSpPr>
          <p:cNvPr id="11" name="Text 9"/>
          <p:cNvSpPr txBox="1"/>
          <p:nvPr/>
        </p:nvSpPr>
        <p:spPr>
          <a:xfrm>
            <a:off x="4526280" y="178308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12" name="Text 10"/>
          <p:cNvSpPr txBox="1"/>
          <p:nvPr/>
        </p:nvSpPr>
        <p:spPr>
          <a:xfrm>
            <a:off x="4526280" y="219456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RBAC + controller manifest</a:t>
            </a:r>
            <a:endParaRPr lang="en-US" sz="1550" dirty="0"/>
          </a:p>
        </p:txBody>
      </p:sp>
      <p:sp>
        <p:nvSpPr>
          <p:cNvPr id="13" name="Text 11"/>
          <p:cNvSpPr txBox="1"/>
          <p:nvPr/>
        </p:nvSpPr>
        <p:spPr>
          <a:xfrm>
            <a:off x="4526280" y="260604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Patch rights on deployments, deployments/scale and pods/resize.</a:t>
            </a:r>
            <a:endParaRPr lang="en-US" sz="1200" dirty="0"/>
          </a:p>
        </p:txBody>
      </p:sp>
      <p:sp>
        <p:nvSpPr>
          <p:cNvPr id="14" name="Shape 12"/>
          <p:cNvSpPr/>
          <p:nvPr/>
        </p:nvSpPr>
        <p:spPr>
          <a:xfrm>
            <a:off x="8046720" y="1554480"/>
            <a:ext cx="3502152" cy="2103120"/>
          </a:xfrm>
          <a:prstGeom prst="roundRect">
            <a:avLst>
              <a:gd name="adj" fmla="val 3478"/>
            </a:avLst>
          </a:prstGeom>
          <a:solidFill>
            <a:srgbClr val="F3F5F8"/>
          </a:solidFill>
          <a:ln w="12700">
            <a:solidFill>
              <a:srgbClr val="F3F5F8"/>
            </a:solidFill>
            <a:prstDash val="solid"/>
          </a:ln>
        </p:spPr>
      </p:sp>
      <p:sp>
        <p:nvSpPr>
          <p:cNvPr id="15" name="Shape 13"/>
          <p:cNvSpPr/>
          <p:nvPr/>
        </p:nvSpPr>
        <p:spPr>
          <a:xfrm>
            <a:off x="8275320" y="1783080"/>
            <a:ext cx="1188720" cy="274320"/>
          </a:xfrm>
          <a:prstGeom prst="roundRect">
            <a:avLst>
              <a:gd name="adj" fmla="val 50000"/>
            </a:avLst>
          </a:prstGeom>
          <a:solidFill>
            <a:srgbClr val="0F766E"/>
          </a:solidFill>
          <a:ln w="12700">
            <a:solidFill>
              <a:srgbClr val="0F766E"/>
            </a:solidFill>
            <a:prstDash val="solid"/>
          </a:ln>
        </p:spPr>
      </p:sp>
      <p:sp>
        <p:nvSpPr>
          <p:cNvPr id="16" name="Text 14"/>
          <p:cNvSpPr txBox="1"/>
          <p:nvPr/>
        </p:nvSpPr>
        <p:spPr>
          <a:xfrm>
            <a:off x="8275320" y="178308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17" name="Text 15"/>
          <p:cNvSpPr txBox="1"/>
          <p:nvPr/>
        </p:nvSpPr>
        <p:spPr>
          <a:xfrm>
            <a:off x="8275320" y="219456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Container image</a:t>
            </a:r>
            <a:endParaRPr lang="en-US" sz="1550" dirty="0"/>
          </a:p>
        </p:txBody>
      </p:sp>
      <p:sp>
        <p:nvSpPr>
          <p:cNvPr id="18" name="Text 16"/>
          <p:cNvSpPr txBox="1"/>
          <p:nvPr/>
        </p:nvSpPr>
        <p:spPr>
          <a:xfrm>
            <a:off x="8275320" y="260604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Slim image: the operator and control core only (numpy, scipy, kubernetes client).</a:t>
            </a:r>
            <a:endParaRPr lang="en-US" sz="1200" dirty="0"/>
          </a:p>
        </p:txBody>
      </p:sp>
      <p:sp>
        <p:nvSpPr>
          <p:cNvPr id="19" name="Shape 17"/>
          <p:cNvSpPr/>
          <p:nvPr/>
        </p:nvSpPr>
        <p:spPr>
          <a:xfrm>
            <a:off x="548640" y="3886200"/>
            <a:ext cx="3502152" cy="2103120"/>
          </a:xfrm>
          <a:prstGeom prst="roundRect">
            <a:avLst>
              <a:gd name="adj" fmla="val 3478"/>
            </a:avLst>
          </a:prstGeom>
          <a:solidFill>
            <a:srgbClr val="F3F5F8"/>
          </a:solidFill>
          <a:ln w="12700">
            <a:solidFill>
              <a:srgbClr val="F3F5F8"/>
            </a:solidFill>
            <a:prstDash val="solid"/>
          </a:ln>
        </p:spPr>
      </p:sp>
      <p:sp>
        <p:nvSpPr>
          <p:cNvPr id="20" name="Shape 18"/>
          <p:cNvSpPr/>
          <p:nvPr/>
        </p:nvSpPr>
        <p:spPr>
          <a:xfrm>
            <a:off x="777240" y="4114800"/>
            <a:ext cx="1188720" cy="274320"/>
          </a:xfrm>
          <a:prstGeom prst="roundRect">
            <a:avLst>
              <a:gd name="adj" fmla="val 50000"/>
            </a:avLst>
          </a:prstGeom>
          <a:solidFill>
            <a:srgbClr val="0F766E"/>
          </a:solidFill>
          <a:ln w="12700">
            <a:solidFill>
              <a:srgbClr val="0F766E"/>
            </a:solidFill>
            <a:prstDash val="solid"/>
          </a:ln>
        </p:spPr>
      </p:sp>
      <p:sp>
        <p:nvSpPr>
          <p:cNvPr id="21" name="Text 19"/>
          <p:cNvSpPr txBox="1"/>
          <p:nvPr/>
        </p:nvSpPr>
        <p:spPr>
          <a:xfrm>
            <a:off x="777240" y="411480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22" name="Text 20"/>
          <p:cNvSpPr txBox="1"/>
          <p:nvPr/>
        </p:nvSpPr>
        <p:spPr>
          <a:xfrm>
            <a:off x="777240" y="452628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Reconciler loop</a:t>
            </a:r>
            <a:endParaRPr lang="en-US" sz="1550" dirty="0"/>
          </a:p>
        </p:txBody>
      </p:sp>
      <p:sp>
        <p:nvSpPr>
          <p:cNvPr id="23" name="Text 21"/>
          <p:cNvSpPr txBox="1"/>
          <p:nvPr/>
        </p:nvSpPr>
        <p:spPr>
          <a:xfrm>
            <a:off x="777240" y="493776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Every 15 s: reads pods and Ready count, runs the control step, resizes CPU in place, scales replicas, writes status. Tested end to end against a simulated API.</a:t>
            </a:r>
            <a:endParaRPr lang="en-US" sz="1200" dirty="0"/>
          </a:p>
        </p:txBody>
      </p:sp>
      <p:sp>
        <p:nvSpPr>
          <p:cNvPr id="24" name="Shape 22"/>
          <p:cNvSpPr/>
          <p:nvPr/>
        </p:nvSpPr>
        <p:spPr>
          <a:xfrm>
            <a:off x="4297680" y="3886200"/>
            <a:ext cx="3502152" cy="2103120"/>
          </a:xfrm>
          <a:prstGeom prst="roundRect">
            <a:avLst>
              <a:gd name="adj" fmla="val 3478"/>
            </a:avLst>
          </a:prstGeom>
          <a:solidFill>
            <a:srgbClr val="F3F5F8"/>
          </a:solidFill>
          <a:ln w="12700">
            <a:solidFill>
              <a:srgbClr val="F3F5F8"/>
            </a:solidFill>
            <a:prstDash val="solid"/>
          </a:ln>
        </p:spPr>
      </p:sp>
      <p:sp>
        <p:nvSpPr>
          <p:cNvPr id="25" name="Shape 23"/>
          <p:cNvSpPr/>
          <p:nvPr/>
        </p:nvSpPr>
        <p:spPr>
          <a:xfrm>
            <a:off x="4526280" y="4114800"/>
            <a:ext cx="1188720" cy="274320"/>
          </a:xfrm>
          <a:prstGeom prst="roundRect">
            <a:avLst>
              <a:gd name="adj" fmla="val 50000"/>
            </a:avLst>
          </a:prstGeom>
          <a:solidFill>
            <a:srgbClr val="0F766E"/>
          </a:solidFill>
          <a:ln w="12700">
            <a:solidFill>
              <a:srgbClr val="0F766E"/>
            </a:solidFill>
            <a:prstDash val="solid"/>
          </a:ln>
        </p:spPr>
      </p:sp>
      <p:sp>
        <p:nvSpPr>
          <p:cNvPr id="26" name="Text 24"/>
          <p:cNvSpPr txBox="1"/>
          <p:nvPr/>
        </p:nvSpPr>
        <p:spPr>
          <a:xfrm>
            <a:off x="4526280" y="411480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27" name="Text 25"/>
          <p:cNvSpPr txBox="1"/>
          <p:nvPr/>
        </p:nvSpPr>
        <p:spPr>
          <a:xfrm>
            <a:off x="4526280" y="452628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Prometheus adapter</a:t>
            </a:r>
            <a:endParaRPr lang="en-US" sz="1550" dirty="0"/>
          </a:p>
        </p:txBody>
      </p:sp>
      <p:sp>
        <p:nvSpPr>
          <p:cNvPr id="28" name="Text 26"/>
          <p:cNvSpPr txBox="1"/>
          <p:nvPr/>
        </p:nvSpPr>
        <p:spPr>
          <a:xfrm>
            <a:off x="4526280" y="493776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Real PromQL client over HTTP, tested against a live HTTP server; default query reads cAdvisor CPU usage.</a:t>
            </a:r>
            <a:endParaRPr lang="en-US" sz="1200" dirty="0"/>
          </a:p>
        </p:txBody>
      </p:sp>
      <p:sp>
        <p:nvSpPr>
          <p:cNvPr id="29" name="Shape 27"/>
          <p:cNvSpPr/>
          <p:nvPr/>
        </p:nvSpPr>
        <p:spPr>
          <a:xfrm>
            <a:off x="8046720" y="3886200"/>
            <a:ext cx="3502152" cy="2103120"/>
          </a:xfrm>
          <a:prstGeom prst="roundRect">
            <a:avLst>
              <a:gd name="adj" fmla="val 3478"/>
            </a:avLst>
          </a:prstGeom>
          <a:solidFill>
            <a:srgbClr val="F3F5F8"/>
          </a:solidFill>
          <a:ln w="12700">
            <a:solidFill>
              <a:srgbClr val="F3F5F8"/>
            </a:solidFill>
            <a:prstDash val="solid"/>
          </a:ln>
        </p:spPr>
      </p:sp>
      <p:sp>
        <p:nvSpPr>
          <p:cNvPr id="30" name="Shape 28"/>
          <p:cNvSpPr/>
          <p:nvPr/>
        </p:nvSpPr>
        <p:spPr>
          <a:xfrm>
            <a:off x="8275320" y="4114800"/>
            <a:ext cx="1188720" cy="274320"/>
          </a:xfrm>
          <a:prstGeom prst="roundRect">
            <a:avLst>
              <a:gd name="adj" fmla="val 50000"/>
            </a:avLst>
          </a:prstGeom>
          <a:solidFill>
            <a:srgbClr val="6B7280"/>
          </a:solidFill>
          <a:ln w="12700">
            <a:solidFill>
              <a:srgbClr val="6B7280"/>
            </a:solidFill>
            <a:prstDash val="solid"/>
          </a:ln>
        </p:spPr>
      </p:sp>
      <p:sp>
        <p:nvSpPr>
          <p:cNvPr id="31" name="Text 29"/>
          <p:cNvSpPr txBox="1"/>
          <p:nvPr/>
        </p:nvSpPr>
        <p:spPr>
          <a:xfrm>
            <a:off x="8275320" y="411480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Ready to run</a:t>
            </a:r>
            <a:endParaRPr lang="en-US" sz="1000" dirty="0"/>
          </a:p>
        </p:txBody>
      </p:sp>
      <p:sp>
        <p:nvSpPr>
          <p:cNvPr id="32" name="Text 30"/>
          <p:cNvSpPr txBox="1"/>
          <p:nvPr/>
        </p:nvSpPr>
        <p:spPr>
          <a:xfrm>
            <a:off x="8275320" y="452628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In-place resize on a live cluster</a:t>
            </a:r>
            <a:endParaRPr lang="en-US" sz="1550" dirty="0"/>
          </a:p>
        </p:txBody>
      </p:sp>
      <p:sp>
        <p:nvSpPr>
          <p:cNvPr id="33" name="Text 31"/>
          <p:cNvSpPr txBox="1"/>
          <p:nvPr/>
        </p:nvSpPr>
        <p:spPr>
          <a:xfrm>
            <a:off x="8275320" y="493776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Quickstart pins kind on Kubernetes 1.33 (in-place resize on by default). Not yet run on a live cluster.</a:t>
            </a:r>
            <a:endParaRPr lang="en-US" sz="1200" dirty="0"/>
          </a:p>
        </p:txBody>
      </p:sp>
      <p:sp>
        <p:nvSpPr>
          <p:cNvPr id="34" name="Text 32"/>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35" name="Text 33"/>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15 / 21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OUTPUTS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Test suite and the live demonstration run</a:t>
            </a:r>
            <a:endParaRPr lang="en-US" sz="3000" dirty="0"/>
          </a:p>
        </p:txBody>
      </p:sp>
      <p:pic>
        <p:nvPicPr>
          <p:cNvPr id="4" name="Image 0" descr="img/image-13-1.png">    </p:cNvPr>
          <p:cNvPicPr>
            <a:picLocks noChangeAspect="1"/>
          </p:cNvPicPr>
          <p:nvPr/>
        </p:nvPicPr>
        <p:blipFill>
          <a:blip r:embed="rId1"/>
          <a:stretch>
            <a:fillRect/>
          </a:stretch>
        </p:blipFill>
        <p:spPr>
          <a:xfrm>
            <a:off x="548640" y="1600200"/>
            <a:ext cx="5440680" cy="2540229"/>
          </a:xfrm>
          <a:prstGeom prst="rect">
            <a:avLst/>
          </a:prstGeom>
        </p:spPr>
      </p:pic>
      <p:pic>
        <p:nvPicPr>
          <p:cNvPr id="5" name="Image 1" descr="img/demo_run.png">    </p:cNvPr>
          <p:cNvPicPr>
            <a:picLocks noChangeAspect="1"/>
          </p:cNvPicPr>
          <p:nvPr/>
        </p:nvPicPr>
        <p:blipFill>
          <a:blip r:embed="rId2"/>
          <a:stretch>
            <a:fillRect/>
          </a:stretch>
        </p:blipFill>
        <p:spPr>
          <a:xfrm>
            <a:off x="6199632" y="1600200"/>
            <a:ext cx="5440680" cy="2824968"/>
          </a:xfrm>
          <a:prstGeom prst="rect">
            <a:avLst/>
          </a:prstGeom>
        </p:spPr>
      </p:pic>
      <p:sp>
        <p:nvSpPr>
          <p:cNvPr id="6" name="Text 2"/>
          <p:cNvSpPr txBox="1"/>
          <p:nvPr/>
        </p:nvSpPr>
        <p:spPr>
          <a:xfrm>
            <a:off x="548640" y="4323309"/>
            <a:ext cx="5440680" cy="640080"/>
          </a:xfrm>
          <a:prstGeom prst="rect">
            <a:avLst/>
          </a:prstGeom>
          <a:noFill/>
          <a:ln/>
        </p:spPr>
        <p:txBody>
          <a:bodyPr wrap="square" lIns="0" tIns="0" rIns="0" bIns="0" rtlCol="0" anchor="t"/>
          <a:lstStyle/>
          <a:p>
            <a:pPr indent="0" marL="0">
              <a:buNone/>
            </a:pPr>
            <a:r>
              <a:rPr lang="en-US" sz="1250" b="1" dirty="0">
                <a:solidFill>
                  <a:srgbClr val="13223A"/>
                </a:solidFill>
                <a:latin typeface="Calibri" pitchFamily="34" charset="0"/>
                <a:ea typeface="Calibri" pitchFamily="34" charset="-122"/>
                <a:cs typeface="Calibri" pitchFamily="34" charset="-120"/>
              </a:rPr>
              <a:t>Unit tests  </a:t>
            </a:r>
            <a:pPr indent="0" marL="0">
              <a:buNone/>
            </a:pPr>
            <a:r>
              <a:rPr lang="en-US" sz="1250" dirty="0">
                <a:solidFill>
                  <a:srgbClr val="1F2937"/>
                </a:solidFill>
                <a:latin typeface="Calibri" pitchFamily="34" charset="0"/>
                <a:ea typeface="Calibri" pitchFamily="34" charset="-122"/>
                <a:cs typeface="Calibri" pitchFamily="34" charset="-120"/>
              </a:rPr>
              <a:t>All 41 pass: controller maths, delay model, coupling, sensor and target-split fixes, Prometheus client over HTTP, operator reconcile loop.</a:t>
            </a:r>
            <a:endParaRPr lang="en-US" sz="1250" dirty="0"/>
          </a:p>
        </p:txBody>
      </p:sp>
      <p:sp>
        <p:nvSpPr>
          <p:cNvPr id="7" name="Text 3"/>
          <p:cNvSpPr txBox="1"/>
          <p:nvPr/>
        </p:nvSpPr>
        <p:spPr>
          <a:xfrm>
            <a:off x="6199632" y="4608048"/>
            <a:ext cx="5440680" cy="914400"/>
          </a:xfrm>
          <a:prstGeom prst="rect">
            <a:avLst/>
          </a:prstGeom>
          <a:noFill/>
          <a:ln/>
        </p:spPr>
        <p:txBody>
          <a:bodyPr wrap="square" lIns="0" tIns="0" rIns="0" bIns="0" rtlCol="0" anchor="t"/>
          <a:lstStyle/>
          <a:p>
            <a:pPr indent="0" marL="0">
              <a:buNone/>
            </a:pPr>
            <a:r>
              <a:rPr lang="en-US" sz="1250" b="1" dirty="0">
                <a:solidFill>
                  <a:srgbClr val="13223A"/>
                </a:solidFill>
                <a:latin typeface="Calibri" pitchFamily="34" charset="0"/>
                <a:ea typeface="Calibri" pitchFamily="34" charset="-122"/>
                <a:cs typeface="Calibri" pitchFamily="34" charset="-120"/>
              </a:rPr>
              <a:t>demo_run.py  </a:t>
            </a:r>
            <a:pPr indent="0" marL="0">
              <a:buNone/>
            </a:pPr>
            <a:r>
              <a:rPr lang="en-US" sz="1250" dirty="0">
                <a:solidFill>
                  <a:srgbClr val="1F2937"/>
                </a:solidFill>
                <a:latin typeface="Calibri" pitchFamily="34" charset="0"/>
                <a:ea typeface="Calibri" pitchFamily="34" charset="-122"/>
                <a:cs typeface="Calibri" pitchFamily="34" charset="-120"/>
              </a:rPr>
              <a:t>Real trace w_0004, seed 42: 7.23 % SLO violations vs AAPA 8.62 % and HPA 17.25 %, at 179 CPU-min (AAPA 179, HPA 145). Without delay augmentation: +2 % CPU.</a:t>
            </a:r>
            <a:endParaRPr lang="en-US" sz="1250" dirty="0"/>
          </a:p>
        </p:txBody>
      </p:sp>
      <p:sp>
        <p:nvSpPr>
          <p:cNvPr id="8" name="Text 4"/>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9" name="Text 5"/>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16 / 21</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OUTPUTS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Results database and cluster objects</a:t>
            </a:r>
            <a:endParaRPr lang="en-US" sz="3000" dirty="0"/>
          </a:p>
        </p:txBody>
      </p:sp>
      <p:pic>
        <p:nvPicPr>
          <p:cNvPr id="4" name="Image 0" descr="img/image-14-1.png">    </p:cNvPr>
          <p:cNvPicPr>
            <a:picLocks noChangeAspect="1"/>
          </p:cNvPicPr>
          <p:nvPr/>
        </p:nvPicPr>
        <p:blipFill>
          <a:blip r:embed="rId1"/>
          <a:stretch>
            <a:fillRect/>
          </a:stretch>
        </p:blipFill>
        <p:spPr>
          <a:xfrm>
            <a:off x="548640" y="1600200"/>
            <a:ext cx="6309360" cy="2239823"/>
          </a:xfrm>
          <a:prstGeom prst="rect">
            <a:avLst/>
          </a:prstGeom>
        </p:spPr>
      </p:pic>
      <p:pic>
        <p:nvPicPr>
          <p:cNvPr id="5" name="Image 1" descr="img/image-14-2.png">    </p:cNvPr>
          <p:cNvPicPr>
            <a:picLocks noChangeAspect="1"/>
          </p:cNvPicPr>
          <p:nvPr/>
        </p:nvPicPr>
        <p:blipFill>
          <a:blip r:embed="rId2"/>
          <a:stretch>
            <a:fillRect/>
          </a:stretch>
        </p:blipFill>
        <p:spPr>
          <a:xfrm>
            <a:off x="7114032" y="1600200"/>
            <a:ext cx="4526280" cy="3223771"/>
          </a:xfrm>
          <a:prstGeom prst="rect">
            <a:avLst/>
          </a:prstGeom>
        </p:spPr>
      </p:pic>
      <p:sp>
        <p:nvSpPr>
          <p:cNvPr id="6" name="Text 2"/>
          <p:cNvSpPr txBox="1"/>
          <p:nvPr/>
        </p:nvSpPr>
        <p:spPr>
          <a:xfrm>
            <a:off x="548640" y="4022903"/>
            <a:ext cx="6309360" cy="731520"/>
          </a:xfrm>
          <a:prstGeom prst="rect">
            <a:avLst/>
          </a:prstGeom>
          <a:noFill/>
          <a:ln/>
        </p:spPr>
        <p:txBody>
          <a:bodyPr wrap="square" lIns="0" tIns="0" rIns="0" bIns="0" rtlCol="0" anchor="t"/>
          <a:lstStyle/>
          <a:p>
            <a:pPr indent="0" marL="0">
              <a:buNone/>
            </a:pPr>
            <a:r>
              <a:rPr lang="en-US" sz="1250" b="1" dirty="0">
                <a:solidFill>
                  <a:srgbClr val="13223A"/>
                </a:solidFill>
                <a:latin typeface="Calibri" pitchFamily="34" charset="0"/>
                <a:ea typeface="Calibri" pitchFamily="34" charset="-122"/>
                <a:cs typeface="Calibri" pitchFamily="34" charset="-120"/>
              </a:rPr>
              <a:t>results_v4.csv   </a:t>
            </a:r>
            <a:pPr indent="0" marL="0">
              <a:buNone/>
            </a:pPr>
            <a:r>
              <a:rPr lang="en-US" sz="1250" dirty="0">
                <a:solidFill>
                  <a:srgbClr val="1F2937"/>
                </a:solidFill>
                <a:latin typeface="Calibri" pitchFamily="34" charset="0"/>
                <a:ea typeface="Calibri" pitchFamily="34" charset="-122"/>
                <a:cs typeface="Calibri" pitchFamily="34" charset="-120"/>
              </a:rPr>
              <a:t>Every run of the 3,330-run evaluation; src/scripts/analyze_v2.py turns it into the report, statistics and frontier. Review-2 data is kept unmodified.</a:t>
            </a:r>
            <a:endParaRPr lang="en-US" sz="1250" dirty="0"/>
          </a:p>
        </p:txBody>
      </p:sp>
      <p:sp>
        <p:nvSpPr>
          <p:cNvPr id="7" name="Text 3"/>
          <p:cNvSpPr txBox="1"/>
          <p:nvPr/>
        </p:nvSpPr>
        <p:spPr>
          <a:xfrm>
            <a:off x="7114032" y="5006851"/>
            <a:ext cx="4526280" cy="731520"/>
          </a:xfrm>
          <a:prstGeom prst="rect">
            <a:avLst/>
          </a:prstGeom>
          <a:noFill/>
          <a:ln/>
        </p:spPr>
        <p:txBody>
          <a:bodyPr wrap="square" lIns="0" tIns="0" rIns="0" bIns="0" rtlCol="0" anchor="t"/>
          <a:lstStyle/>
          <a:p>
            <a:pPr indent="0" marL="0">
              <a:buNone/>
            </a:pPr>
            <a:r>
              <a:rPr lang="en-US" sz="1250" b="1" dirty="0">
                <a:solidFill>
                  <a:srgbClr val="13223A"/>
                </a:solidFill>
                <a:latin typeface="Calibri" pitchFamily="34" charset="0"/>
                <a:ea typeface="Calibri" pitchFamily="34" charset="-122"/>
                <a:cs typeface="Calibri" pitchFamily="34" charset="-120"/>
              </a:rPr>
              <a:t>Example custom resource   </a:t>
            </a:r>
            <a:pPr indent="0" marL="0">
              <a:buNone/>
            </a:pPr>
            <a:r>
              <a:rPr lang="en-US" sz="1250" dirty="0">
                <a:solidFill>
                  <a:srgbClr val="1F2937"/>
                </a:solidFill>
                <a:latin typeface="Calibri" pitchFamily="34" charset="0"/>
                <a:ea typeface="Calibri" pitchFamily="34" charset="-122"/>
                <a:cs typeface="Calibri" pitchFamily="34" charset="-120"/>
              </a:rPr>
              <a:t>k8s/example-autoscaler.yaml, applied by the quickstart; the decision log below it is from the reconcile-loop test.</a:t>
            </a:r>
            <a:endParaRPr lang="en-US" sz="1250" dirty="0"/>
          </a:p>
        </p:txBody>
      </p:sp>
      <p:sp>
        <p:nvSpPr>
          <p:cNvPr id="8" name="Shape 4"/>
          <p:cNvSpPr/>
          <p:nvPr/>
        </p:nvSpPr>
        <p:spPr>
          <a:xfrm>
            <a:off x="548640" y="4663440"/>
            <a:ext cx="1463040" cy="1280160"/>
          </a:xfrm>
          <a:prstGeom prst="roundRect">
            <a:avLst>
              <a:gd name="adj" fmla="val 5714"/>
            </a:avLst>
          </a:prstGeom>
          <a:solidFill>
            <a:srgbClr val="F3F5F8"/>
          </a:solidFill>
          <a:ln w="12700">
            <a:solidFill>
              <a:srgbClr val="F3F5F8"/>
            </a:solidFill>
            <a:prstDash val="solid"/>
          </a:ln>
        </p:spPr>
      </p:sp>
      <p:sp>
        <p:nvSpPr>
          <p:cNvPr id="9" name="Text 5"/>
          <p:cNvSpPr txBox="1"/>
          <p:nvPr/>
        </p:nvSpPr>
        <p:spPr>
          <a:xfrm>
            <a:off x="731520" y="4800600"/>
            <a:ext cx="1188720" cy="594360"/>
          </a:xfrm>
          <a:prstGeom prst="rect">
            <a:avLst/>
          </a:prstGeom>
          <a:noFill/>
          <a:ln/>
        </p:spPr>
        <p:txBody>
          <a:bodyPr wrap="square" lIns="0" tIns="0" rIns="0" bIns="0" rtlCol="0" anchor="t"/>
          <a:lstStyle/>
          <a:p>
            <a:pPr indent="0" marL="0">
              <a:buNone/>
            </a:pPr>
            <a:r>
              <a:rPr lang="en-US" sz="2800" b="1" dirty="0">
                <a:solidFill>
                  <a:srgbClr val="13223A"/>
                </a:solidFill>
                <a:latin typeface="Cambria" pitchFamily="34" charset="0"/>
                <a:ea typeface="Cambria" pitchFamily="34" charset="-122"/>
                <a:cs typeface="Cambria" pitchFamily="34" charset="-120"/>
              </a:rPr>
              <a:t>3,330</a:t>
            </a:r>
            <a:endParaRPr lang="en-US" sz="2800" dirty="0"/>
          </a:p>
        </p:txBody>
      </p:sp>
      <p:sp>
        <p:nvSpPr>
          <p:cNvPr id="10" name="Text 6"/>
          <p:cNvSpPr txBox="1"/>
          <p:nvPr/>
        </p:nvSpPr>
        <p:spPr>
          <a:xfrm>
            <a:off x="731520" y="5394960"/>
            <a:ext cx="1188720" cy="32004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rows</a:t>
            </a:r>
            <a:endParaRPr lang="en-US" sz="1200" dirty="0"/>
          </a:p>
        </p:txBody>
      </p:sp>
      <p:sp>
        <p:nvSpPr>
          <p:cNvPr id="11" name="Shape 7"/>
          <p:cNvSpPr/>
          <p:nvPr/>
        </p:nvSpPr>
        <p:spPr>
          <a:xfrm>
            <a:off x="2167128" y="4663440"/>
            <a:ext cx="1463040" cy="1280160"/>
          </a:xfrm>
          <a:prstGeom prst="roundRect">
            <a:avLst>
              <a:gd name="adj" fmla="val 5714"/>
            </a:avLst>
          </a:prstGeom>
          <a:solidFill>
            <a:srgbClr val="F3F5F8"/>
          </a:solidFill>
          <a:ln w="12700">
            <a:solidFill>
              <a:srgbClr val="F3F5F8"/>
            </a:solidFill>
            <a:prstDash val="solid"/>
          </a:ln>
        </p:spPr>
      </p:sp>
      <p:sp>
        <p:nvSpPr>
          <p:cNvPr id="12" name="Text 8"/>
          <p:cNvSpPr txBox="1"/>
          <p:nvPr/>
        </p:nvSpPr>
        <p:spPr>
          <a:xfrm>
            <a:off x="2350008" y="4800600"/>
            <a:ext cx="1188720" cy="594360"/>
          </a:xfrm>
          <a:prstGeom prst="rect">
            <a:avLst/>
          </a:prstGeom>
          <a:noFill/>
          <a:ln/>
        </p:spPr>
        <p:txBody>
          <a:bodyPr wrap="square" lIns="0" tIns="0" rIns="0" bIns="0" rtlCol="0" anchor="t"/>
          <a:lstStyle/>
          <a:p>
            <a:pPr indent="0" marL="0">
              <a:buNone/>
            </a:pPr>
            <a:r>
              <a:rPr lang="en-US" sz="2800" b="1" dirty="0">
                <a:solidFill>
                  <a:srgbClr val="13223A"/>
                </a:solidFill>
                <a:latin typeface="Cambria" pitchFamily="34" charset="0"/>
                <a:ea typeface="Cambria" pitchFamily="34" charset="-122"/>
                <a:cs typeface="Cambria" pitchFamily="34" charset="-120"/>
              </a:rPr>
              <a:t>37</a:t>
            </a:r>
            <a:endParaRPr lang="en-US" sz="2800" dirty="0"/>
          </a:p>
        </p:txBody>
      </p:sp>
      <p:sp>
        <p:nvSpPr>
          <p:cNvPr id="13" name="Text 9"/>
          <p:cNvSpPr txBox="1"/>
          <p:nvPr/>
        </p:nvSpPr>
        <p:spPr>
          <a:xfrm>
            <a:off x="2350008" y="5394960"/>
            <a:ext cx="1188720" cy="32004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configurations</a:t>
            </a:r>
            <a:endParaRPr lang="en-US" sz="1200" dirty="0"/>
          </a:p>
        </p:txBody>
      </p:sp>
      <p:sp>
        <p:nvSpPr>
          <p:cNvPr id="14" name="Shape 10"/>
          <p:cNvSpPr/>
          <p:nvPr/>
        </p:nvSpPr>
        <p:spPr>
          <a:xfrm>
            <a:off x="3785616" y="4663440"/>
            <a:ext cx="1463040" cy="1280160"/>
          </a:xfrm>
          <a:prstGeom prst="roundRect">
            <a:avLst>
              <a:gd name="adj" fmla="val 5714"/>
            </a:avLst>
          </a:prstGeom>
          <a:solidFill>
            <a:srgbClr val="F3F5F8"/>
          </a:solidFill>
          <a:ln w="12700">
            <a:solidFill>
              <a:srgbClr val="F3F5F8"/>
            </a:solidFill>
            <a:prstDash val="solid"/>
          </a:ln>
        </p:spPr>
      </p:sp>
      <p:sp>
        <p:nvSpPr>
          <p:cNvPr id="15" name="Text 11"/>
          <p:cNvSpPr txBox="1"/>
          <p:nvPr/>
        </p:nvSpPr>
        <p:spPr>
          <a:xfrm>
            <a:off x="3968496" y="4800600"/>
            <a:ext cx="1188720" cy="594360"/>
          </a:xfrm>
          <a:prstGeom prst="rect">
            <a:avLst/>
          </a:prstGeom>
          <a:noFill/>
          <a:ln/>
        </p:spPr>
        <p:txBody>
          <a:bodyPr wrap="square" lIns="0" tIns="0" rIns="0" bIns="0" rtlCol="0" anchor="t"/>
          <a:lstStyle/>
          <a:p>
            <a:pPr indent="0" marL="0">
              <a:buNone/>
            </a:pPr>
            <a:r>
              <a:rPr lang="en-US" sz="2800" b="1" dirty="0">
                <a:solidFill>
                  <a:srgbClr val="13223A"/>
                </a:solidFill>
                <a:latin typeface="Cambria" pitchFamily="34" charset="0"/>
                <a:ea typeface="Cambria" pitchFamily="34" charset="-122"/>
                <a:cs typeface="Cambria" pitchFamily="34" charset="-120"/>
              </a:rPr>
              <a:t>9</a:t>
            </a:r>
            <a:endParaRPr lang="en-US" sz="2800" dirty="0"/>
          </a:p>
        </p:txBody>
      </p:sp>
      <p:sp>
        <p:nvSpPr>
          <p:cNvPr id="16" name="Text 12"/>
          <p:cNvSpPr txBox="1"/>
          <p:nvPr/>
        </p:nvSpPr>
        <p:spPr>
          <a:xfrm>
            <a:off x="3968496" y="5394960"/>
            <a:ext cx="1188720" cy="32004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workloads</a:t>
            </a:r>
            <a:endParaRPr lang="en-US" sz="1200" dirty="0"/>
          </a:p>
        </p:txBody>
      </p:sp>
      <p:sp>
        <p:nvSpPr>
          <p:cNvPr id="17" name="Shape 13"/>
          <p:cNvSpPr/>
          <p:nvPr/>
        </p:nvSpPr>
        <p:spPr>
          <a:xfrm>
            <a:off x="5404104" y="4663440"/>
            <a:ext cx="1463040" cy="1280160"/>
          </a:xfrm>
          <a:prstGeom prst="roundRect">
            <a:avLst>
              <a:gd name="adj" fmla="val 5714"/>
            </a:avLst>
          </a:prstGeom>
          <a:solidFill>
            <a:srgbClr val="F3F5F8"/>
          </a:solidFill>
          <a:ln w="12700">
            <a:solidFill>
              <a:srgbClr val="F3F5F8"/>
            </a:solidFill>
            <a:prstDash val="solid"/>
          </a:ln>
        </p:spPr>
      </p:sp>
      <p:sp>
        <p:nvSpPr>
          <p:cNvPr id="18" name="Text 14"/>
          <p:cNvSpPr txBox="1"/>
          <p:nvPr/>
        </p:nvSpPr>
        <p:spPr>
          <a:xfrm>
            <a:off x="5586984" y="4800600"/>
            <a:ext cx="1188720" cy="594360"/>
          </a:xfrm>
          <a:prstGeom prst="rect">
            <a:avLst/>
          </a:prstGeom>
          <a:noFill/>
          <a:ln/>
        </p:spPr>
        <p:txBody>
          <a:bodyPr wrap="square" lIns="0" tIns="0" rIns="0" bIns="0" rtlCol="0" anchor="t"/>
          <a:lstStyle/>
          <a:p>
            <a:pPr indent="0" marL="0">
              <a:buNone/>
            </a:pPr>
            <a:r>
              <a:rPr lang="en-US" sz="2800" b="1" dirty="0">
                <a:solidFill>
                  <a:srgbClr val="13223A"/>
                </a:solidFill>
                <a:latin typeface="Cambria" pitchFamily="34" charset="0"/>
                <a:ea typeface="Cambria" pitchFamily="34" charset="-122"/>
                <a:cs typeface="Cambria" pitchFamily="34" charset="-120"/>
              </a:rPr>
              <a:t>10</a:t>
            </a:r>
            <a:endParaRPr lang="en-US" sz="2800" dirty="0"/>
          </a:p>
        </p:txBody>
      </p:sp>
      <p:sp>
        <p:nvSpPr>
          <p:cNvPr id="19" name="Text 15"/>
          <p:cNvSpPr txBox="1"/>
          <p:nvPr/>
        </p:nvSpPr>
        <p:spPr>
          <a:xfrm>
            <a:off x="5586984" y="5394960"/>
            <a:ext cx="1188720" cy="32004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seeds</a:t>
            </a:r>
            <a:endParaRPr lang="en-US" sz="1200" dirty="0"/>
          </a:p>
        </p:txBody>
      </p:sp>
      <p:sp>
        <p:nvSpPr>
          <p:cNvPr id="20" name="Text 16"/>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21" name="Text 17"/>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17 / 21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LIVE DEMONSTRATION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One command, about ten seconds</a:t>
            </a:r>
            <a:endParaRPr lang="en-US" sz="3000" dirty="0"/>
          </a:p>
        </p:txBody>
      </p:sp>
      <p:sp>
        <p:nvSpPr>
          <p:cNvPr id="4" name="Shape 2"/>
          <p:cNvSpPr/>
          <p:nvPr/>
        </p:nvSpPr>
        <p:spPr>
          <a:xfrm>
            <a:off x="548640" y="1554480"/>
            <a:ext cx="5120640" cy="1051560"/>
          </a:xfrm>
          <a:prstGeom prst="roundRect">
            <a:avLst>
              <a:gd name="adj" fmla="val 6957"/>
            </a:avLst>
          </a:prstGeom>
          <a:solidFill>
            <a:srgbClr val="13223A"/>
          </a:solidFill>
          <a:ln w="12700">
            <a:solidFill>
              <a:srgbClr val="13223A"/>
            </a:solidFill>
            <a:prstDash val="solid"/>
          </a:ln>
        </p:spPr>
      </p:sp>
      <p:sp>
        <p:nvSpPr>
          <p:cNvPr id="5" name="Text 3"/>
          <p:cNvSpPr txBox="1"/>
          <p:nvPr/>
        </p:nvSpPr>
        <p:spPr>
          <a:xfrm>
            <a:off x="822960" y="1664208"/>
            <a:ext cx="4572000" cy="274320"/>
          </a:xfrm>
          <a:prstGeom prst="rect">
            <a:avLst/>
          </a:prstGeom>
          <a:noFill/>
          <a:ln/>
        </p:spPr>
        <p:txBody>
          <a:bodyPr wrap="square" lIns="0" tIns="0" rIns="0" bIns="0" rtlCol="0" anchor="t"/>
          <a:lstStyle/>
          <a:p>
            <a:pPr indent="0" marL="0">
              <a:buNone/>
            </a:pPr>
            <a:r>
              <a:rPr lang="en-US" sz="1100" dirty="0">
                <a:solidFill>
                  <a:srgbClr val="AFC0D8"/>
                </a:solidFill>
                <a:latin typeface="Calibri" pitchFamily="34" charset="0"/>
                <a:ea typeface="Calibri" pitchFamily="34" charset="-122"/>
                <a:cs typeface="Calibri" pitchFamily="34" charset="-120"/>
              </a:rPr>
              <a:t>PowerShell, from the project folder</a:t>
            </a:r>
            <a:endParaRPr lang="en-US" sz="1100" dirty="0"/>
          </a:p>
        </p:txBody>
      </p:sp>
      <p:sp>
        <p:nvSpPr>
          <p:cNvPr id="6" name="Text 4"/>
          <p:cNvSpPr txBox="1"/>
          <p:nvPr/>
        </p:nvSpPr>
        <p:spPr>
          <a:xfrm>
            <a:off x="822960" y="1984248"/>
            <a:ext cx="4754880" cy="411480"/>
          </a:xfrm>
          <a:prstGeom prst="rect">
            <a:avLst/>
          </a:prstGeom>
          <a:noFill/>
          <a:ln/>
        </p:spPr>
        <p:txBody>
          <a:bodyPr wrap="square" lIns="0" tIns="0" rIns="0" bIns="0" rtlCol="0" anchor="t"/>
          <a:lstStyle/>
          <a:p>
            <a:pPr indent="0" marL="0">
              <a:buNone/>
            </a:pPr>
            <a:r>
              <a:rPr lang="en-US" sz="1500" b="1" dirty="0">
                <a:solidFill>
                  <a:srgbClr val="E8A840"/>
                </a:solidFill>
                <a:latin typeface="Courier New" pitchFamily="34" charset="0"/>
                <a:ea typeface="Courier New" pitchFamily="34" charset="-122"/>
                <a:cs typeface="Courier New" pitchFamily="34" charset="-120"/>
              </a:rPr>
              <a:t>$env:PYTHONPATH="."; python demo_run.py</a:t>
            </a:r>
            <a:endParaRPr lang="en-US" sz="1500" dirty="0"/>
          </a:p>
        </p:txBody>
      </p:sp>
      <p:sp>
        <p:nvSpPr>
          <p:cNvPr id="7" name="Text 5"/>
          <p:cNvSpPr txBox="1"/>
          <p:nvPr/>
        </p:nvSpPr>
        <p:spPr>
          <a:xfrm>
            <a:off x="548640" y="2788920"/>
            <a:ext cx="5120640" cy="13716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Same code as the full evaluation — the demo calls the harness's own run_simulation on one workload. The full evaluation takes ~30 minutes on 12 cores and writes results_v4.csv.</a:t>
            </a:r>
            <a:endParaRPr lang="en-US" sz="1300" dirty="0"/>
          </a:p>
        </p:txBody>
      </p:sp>
      <p:sp>
        <p:nvSpPr>
          <p:cNvPr id="8" name="Text 6"/>
          <p:cNvSpPr txBox="1"/>
          <p:nvPr/>
        </p:nvSpPr>
        <p:spPr>
          <a:xfrm>
            <a:off x="548640" y="4251960"/>
            <a:ext cx="4572000" cy="274320"/>
          </a:xfrm>
          <a:prstGeom prst="rect">
            <a:avLst/>
          </a:prstGeom>
          <a:noFill/>
          <a:ln/>
        </p:spPr>
        <p:txBody>
          <a:bodyPr wrap="square" lIns="0" tIns="0" rIns="0" bIns="0" rtlCol="0" anchor="t"/>
          <a:lstStyle/>
          <a:p>
            <a:pPr indent="0" marL="0">
              <a:buNone/>
            </a:pPr>
            <a:r>
              <a:rPr lang="en-US" sz="1050" b="1" spc="200" kern="0" dirty="0">
                <a:solidFill>
                  <a:srgbClr val="C7811A"/>
                </a:solidFill>
                <a:latin typeface="Calibri" pitchFamily="34" charset="0"/>
                <a:ea typeface="Calibri" pitchFamily="34" charset="-122"/>
                <a:cs typeface="Calibri" pitchFamily="34" charset="-120"/>
              </a:rPr>
              <a:t>BEFORE THE REVIEW</a:t>
            </a:r>
            <a:endParaRPr lang="en-US" sz="1050" dirty="0"/>
          </a:p>
        </p:txBody>
      </p:sp>
      <p:sp>
        <p:nvSpPr>
          <p:cNvPr id="9" name="Text 7"/>
          <p:cNvSpPr txBox="1"/>
          <p:nvPr/>
        </p:nvSpPr>
        <p:spPr>
          <a:xfrm>
            <a:off x="548640" y="4572000"/>
            <a:ext cx="5120640" cy="118872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Run the demo once to warm Python imports</a:t>
            </a:r>
            <a:endParaRPr lang="en-US" sz="1300" dirty="0"/>
          </a:p>
          <a:p>
            <a:pPr marL="342900" indent="-3429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Clear the terminal with cls</a:t>
            </a:r>
            <a:endParaRPr lang="en-US" sz="1300" dirty="0"/>
          </a:p>
          <a:p>
            <a:pPr marL="342900" indent="-3429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Have the command pre-typed; only press Enter</a:t>
            </a:r>
            <a:endParaRPr lang="en-US" sz="1300" dirty="0"/>
          </a:p>
        </p:txBody>
      </p:sp>
      <p:sp>
        <p:nvSpPr>
          <p:cNvPr id="10" name="Shape 8"/>
          <p:cNvSpPr/>
          <p:nvPr/>
        </p:nvSpPr>
        <p:spPr>
          <a:xfrm>
            <a:off x="6035040" y="1554480"/>
            <a:ext cx="5605272" cy="777240"/>
          </a:xfrm>
          <a:prstGeom prst="roundRect">
            <a:avLst>
              <a:gd name="adj" fmla="val 9412"/>
            </a:avLst>
          </a:prstGeom>
          <a:solidFill>
            <a:srgbClr val="F3F5F8"/>
          </a:solidFill>
          <a:ln w="12700">
            <a:solidFill>
              <a:srgbClr val="F3F5F8"/>
            </a:solidFill>
            <a:prstDash val="solid"/>
          </a:ln>
        </p:spPr>
      </p:sp>
      <p:sp>
        <p:nvSpPr>
          <p:cNvPr id="11" name="Shape 9"/>
          <p:cNvSpPr/>
          <p:nvPr/>
        </p:nvSpPr>
        <p:spPr>
          <a:xfrm>
            <a:off x="6217920" y="1719072"/>
            <a:ext cx="457200" cy="457200"/>
          </a:xfrm>
          <a:prstGeom prst="ellipse">
            <a:avLst/>
          </a:prstGeom>
          <a:solidFill>
            <a:srgbClr val="13223A"/>
          </a:solidFill>
          <a:ln w="12700">
            <a:solidFill>
              <a:srgbClr val="13223A"/>
            </a:solidFill>
            <a:prstDash val="solid"/>
          </a:ln>
        </p:spPr>
      </p:sp>
      <p:sp>
        <p:nvSpPr>
          <p:cNvPr id="12" name="Text 10"/>
          <p:cNvSpPr txBox="1"/>
          <p:nvPr/>
        </p:nvSpPr>
        <p:spPr>
          <a:xfrm>
            <a:off x="6217920" y="1719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txBox="1"/>
          <p:nvPr/>
        </p:nvSpPr>
        <p:spPr>
          <a:xfrm>
            <a:off x="6858000" y="16276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Setup</a:t>
            </a:r>
            <a:endParaRPr lang="en-US" sz="1300" dirty="0"/>
          </a:p>
        </p:txBody>
      </p:sp>
      <p:sp>
        <p:nvSpPr>
          <p:cNvPr id="14" name="Text 12"/>
          <p:cNvSpPr txBox="1"/>
          <p:nvPr/>
        </p:nvSpPr>
        <p:spPr>
          <a:xfrm>
            <a:off x="6858000" y="19019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Trace w_0004 (ramp), 500 ms SLO, 20 s vs 0.1 s delays, seed 42 for all controllers.</a:t>
            </a:r>
            <a:endParaRPr lang="en-US" sz="1100" dirty="0"/>
          </a:p>
        </p:txBody>
      </p:sp>
      <p:sp>
        <p:nvSpPr>
          <p:cNvPr id="15" name="Shape 13"/>
          <p:cNvSpPr/>
          <p:nvPr/>
        </p:nvSpPr>
        <p:spPr>
          <a:xfrm>
            <a:off x="6035040" y="2468880"/>
            <a:ext cx="5605272" cy="777240"/>
          </a:xfrm>
          <a:prstGeom prst="roundRect">
            <a:avLst>
              <a:gd name="adj" fmla="val 9412"/>
            </a:avLst>
          </a:prstGeom>
          <a:solidFill>
            <a:srgbClr val="F3F5F8"/>
          </a:solidFill>
          <a:ln w="12700">
            <a:solidFill>
              <a:srgbClr val="F3F5F8"/>
            </a:solidFill>
            <a:prstDash val="solid"/>
          </a:ln>
        </p:spPr>
      </p:sp>
      <p:sp>
        <p:nvSpPr>
          <p:cNvPr id="16" name="Shape 14"/>
          <p:cNvSpPr/>
          <p:nvPr/>
        </p:nvSpPr>
        <p:spPr>
          <a:xfrm>
            <a:off x="6217920" y="2633472"/>
            <a:ext cx="457200" cy="457200"/>
          </a:xfrm>
          <a:prstGeom prst="ellipse">
            <a:avLst/>
          </a:prstGeom>
          <a:solidFill>
            <a:srgbClr val="13223A"/>
          </a:solidFill>
          <a:ln w="12700">
            <a:solidFill>
              <a:srgbClr val="13223A"/>
            </a:solidFill>
            <a:prstDash val="solid"/>
          </a:ln>
        </p:spPr>
      </p:sp>
      <p:sp>
        <p:nvSpPr>
          <p:cNvPr id="17" name="Text 15"/>
          <p:cNvSpPr txBox="1"/>
          <p:nvPr/>
        </p:nvSpPr>
        <p:spPr>
          <a:xfrm>
            <a:off x="6217920" y="26334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txBox="1"/>
          <p:nvPr/>
        </p:nvSpPr>
        <p:spPr>
          <a:xfrm>
            <a:off x="6858000" y="25420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Control law</a:t>
            </a:r>
            <a:endParaRPr lang="en-US" sz="1300" dirty="0"/>
          </a:p>
        </p:txBody>
      </p:sp>
      <p:sp>
        <p:nvSpPr>
          <p:cNvPr id="19" name="Text 17"/>
          <p:cNvSpPr txBox="1"/>
          <p:nvPr/>
        </p:nvSpPr>
        <p:spPr>
          <a:xfrm>
            <a:off x="6858000" y="28163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3×3 augmented A matrix (one in-flight slot); all Riccati eigenvalues positive — V = eᵀPe is a valid Lyapunov function.</a:t>
            </a:r>
            <a:endParaRPr lang="en-US" sz="1100" dirty="0"/>
          </a:p>
        </p:txBody>
      </p:sp>
      <p:sp>
        <p:nvSpPr>
          <p:cNvPr id="20" name="Shape 18"/>
          <p:cNvSpPr/>
          <p:nvPr/>
        </p:nvSpPr>
        <p:spPr>
          <a:xfrm>
            <a:off x="6035040" y="3383280"/>
            <a:ext cx="5605272" cy="777240"/>
          </a:xfrm>
          <a:prstGeom prst="roundRect">
            <a:avLst>
              <a:gd name="adj" fmla="val 9412"/>
            </a:avLst>
          </a:prstGeom>
          <a:solidFill>
            <a:srgbClr val="F3F5F8"/>
          </a:solidFill>
          <a:ln w="12700">
            <a:solidFill>
              <a:srgbClr val="F3F5F8"/>
            </a:solidFill>
            <a:prstDash val="solid"/>
          </a:ln>
        </p:spPr>
      </p:sp>
      <p:sp>
        <p:nvSpPr>
          <p:cNvPr id="21" name="Shape 19"/>
          <p:cNvSpPr/>
          <p:nvPr/>
        </p:nvSpPr>
        <p:spPr>
          <a:xfrm>
            <a:off x="6217920" y="3547872"/>
            <a:ext cx="457200" cy="457200"/>
          </a:xfrm>
          <a:prstGeom prst="ellipse">
            <a:avLst/>
          </a:prstGeom>
          <a:solidFill>
            <a:srgbClr val="13223A"/>
          </a:solidFill>
          <a:ln w="12700">
            <a:solidFill>
              <a:srgbClr val="13223A"/>
            </a:solidFill>
            <a:prstDash val="solid"/>
          </a:ln>
        </p:spPr>
      </p:sp>
      <p:sp>
        <p:nvSpPr>
          <p:cNvPr id="22" name="Text 20"/>
          <p:cNvSpPr txBox="1"/>
          <p:nvPr/>
        </p:nvSpPr>
        <p:spPr>
          <a:xfrm>
            <a:off x="6217920" y="35478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txBox="1"/>
          <p:nvPr/>
        </p:nvSpPr>
        <p:spPr>
          <a:xfrm>
            <a:off x="6858000" y="34564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Results</a:t>
            </a:r>
            <a:endParaRPr lang="en-US" sz="1300" dirty="0"/>
          </a:p>
        </p:txBody>
      </p:sp>
      <p:sp>
        <p:nvSpPr>
          <p:cNvPr id="24" name="Text 22"/>
          <p:cNvSpPr txBox="1"/>
          <p:nvPr/>
        </p:nvSpPr>
        <p:spPr>
          <a:xfrm>
            <a:off x="6858000" y="37307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CHIMERA 7.23 % vs AAPA 8.62 % vs HPA 17.25 %; without delay augmentation it spends +2 % CPU.</a:t>
            </a:r>
            <a:endParaRPr lang="en-US" sz="1100" dirty="0"/>
          </a:p>
        </p:txBody>
      </p:sp>
      <p:sp>
        <p:nvSpPr>
          <p:cNvPr id="25" name="Shape 23"/>
          <p:cNvSpPr/>
          <p:nvPr/>
        </p:nvSpPr>
        <p:spPr>
          <a:xfrm>
            <a:off x="6035040" y="4297680"/>
            <a:ext cx="5605272" cy="777240"/>
          </a:xfrm>
          <a:prstGeom prst="roundRect">
            <a:avLst>
              <a:gd name="adj" fmla="val 9412"/>
            </a:avLst>
          </a:prstGeom>
          <a:solidFill>
            <a:srgbClr val="F3F5F8"/>
          </a:solidFill>
          <a:ln w="12700">
            <a:solidFill>
              <a:srgbClr val="F3F5F8"/>
            </a:solidFill>
            <a:prstDash val="solid"/>
          </a:ln>
        </p:spPr>
      </p:sp>
      <p:sp>
        <p:nvSpPr>
          <p:cNvPr id="26" name="Shape 24"/>
          <p:cNvSpPr/>
          <p:nvPr/>
        </p:nvSpPr>
        <p:spPr>
          <a:xfrm>
            <a:off x="6217920" y="4462272"/>
            <a:ext cx="457200" cy="457200"/>
          </a:xfrm>
          <a:prstGeom prst="ellipse">
            <a:avLst/>
          </a:prstGeom>
          <a:solidFill>
            <a:srgbClr val="13223A"/>
          </a:solidFill>
          <a:ln w="12700">
            <a:solidFill>
              <a:srgbClr val="13223A"/>
            </a:solidFill>
            <a:prstDash val="solid"/>
          </a:ln>
        </p:spPr>
      </p:sp>
      <p:sp>
        <p:nvSpPr>
          <p:cNvPr id="27" name="Text 25"/>
          <p:cNvSpPr txBox="1"/>
          <p:nvPr/>
        </p:nvSpPr>
        <p:spPr>
          <a:xfrm>
            <a:off x="6217920" y="44622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txBox="1"/>
          <p:nvPr/>
        </p:nvSpPr>
        <p:spPr>
          <a:xfrm>
            <a:off x="6858000" y="43708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Cluster behaviour</a:t>
            </a:r>
            <a:endParaRPr lang="en-US" sz="1300" dirty="0"/>
          </a:p>
        </p:txBody>
      </p:sp>
      <p:sp>
        <p:nvSpPr>
          <p:cNvPr id="29" name="Text 27"/>
          <p:cNvSpPr txBox="1"/>
          <p:nvPr/>
        </p:nvSpPr>
        <p:spPr>
          <a:xfrm>
            <a:off x="6858000" y="46451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HPA’s CPU line is flat — one lever, so it swings between 2 and 12 pods. CHIMERA holds 2–4 and moves CPU instead.</a:t>
            </a:r>
            <a:endParaRPr lang="en-US" sz="1100" dirty="0"/>
          </a:p>
        </p:txBody>
      </p:sp>
      <p:sp>
        <p:nvSpPr>
          <p:cNvPr id="30" name="Shape 28"/>
          <p:cNvSpPr/>
          <p:nvPr/>
        </p:nvSpPr>
        <p:spPr>
          <a:xfrm>
            <a:off x="6035040" y="5212080"/>
            <a:ext cx="5605272" cy="777240"/>
          </a:xfrm>
          <a:prstGeom prst="roundRect">
            <a:avLst>
              <a:gd name="adj" fmla="val 9412"/>
            </a:avLst>
          </a:prstGeom>
          <a:solidFill>
            <a:srgbClr val="F3F5F8"/>
          </a:solidFill>
          <a:ln w="12700">
            <a:solidFill>
              <a:srgbClr val="F3F5F8"/>
            </a:solidFill>
            <a:prstDash val="solid"/>
          </a:ln>
        </p:spPr>
      </p:sp>
      <p:sp>
        <p:nvSpPr>
          <p:cNvPr id="31" name="Shape 29"/>
          <p:cNvSpPr/>
          <p:nvPr/>
        </p:nvSpPr>
        <p:spPr>
          <a:xfrm>
            <a:off x="6217920" y="5376672"/>
            <a:ext cx="457200" cy="457200"/>
          </a:xfrm>
          <a:prstGeom prst="ellipse">
            <a:avLst/>
          </a:prstGeom>
          <a:solidFill>
            <a:srgbClr val="13223A"/>
          </a:solidFill>
          <a:ln w="12700">
            <a:solidFill>
              <a:srgbClr val="13223A"/>
            </a:solidFill>
            <a:prstDash val="solid"/>
          </a:ln>
        </p:spPr>
      </p:sp>
      <p:sp>
        <p:nvSpPr>
          <p:cNvPr id="32" name="Text 30"/>
          <p:cNvSpPr txBox="1"/>
          <p:nvPr/>
        </p:nvSpPr>
        <p:spPr>
          <a:xfrm>
            <a:off x="6217920" y="53766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3" name="Text 31"/>
          <p:cNvSpPr txBox="1"/>
          <p:nvPr/>
        </p:nvSpPr>
        <p:spPr>
          <a:xfrm>
            <a:off x="6858000" y="52852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Contribution, step by step</a:t>
            </a:r>
            <a:endParaRPr lang="en-US" sz="1300" dirty="0"/>
          </a:p>
        </p:txBody>
      </p:sp>
      <p:sp>
        <p:nvSpPr>
          <p:cNvPr id="34" name="Text 32"/>
          <p:cNvSpPr txBox="1"/>
          <p:nvPr/>
        </p:nvSpPr>
        <p:spPr>
          <a:xfrm>
            <a:off x="6858000" y="55595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At t = 270 s: +2 pods ordered one tick earlier are still booting, so the controller holds instead of re-ordering them.</a:t>
            </a:r>
            <a:endParaRPr lang="en-US" sz="1100" dirty="0"/>
          </a:p>
        </p:txBody>
      </p:sp>
      <p:sp>
        <p:nvSpPr>
          <p:cNvPr id="35" name="Text 33"/>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36" name="Text 34"/>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18 / 21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CRITICAL EVALUATION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Known limitations and what comes next</a:t>
            </a:r>
            <a:endParaRPr lang="en-US" sz="3000" dirty="0"/>
          </a:p>
        </p:txBody>
      </p:sp>
      <p:sp>
        <p:nvSpPr>
          <p:cNvPr id="4" name="Shape 2"/>
          <p:cNvSpPr/>
          <p:nvPr/>
        </p:nvSpPr>
        <p:spPr>
          <a:xfrm>
            <a:off x="548640" y="1554480"/>
            <a:ext cx="5422392" cy="4572000"/>
          </a:xfrm>
          <a:prstGeom prst="roundRect">
            <a:avLst>
              <a:gd name="adj" fmla="val 1600"/>
            </a:avLst>
          </a:prstGeom>
          <a:solidFill>
            <a:srgbClr val="F3F5F8"/>
          </a:solidFill>
          <a:ln w="12700">
            <a:solidFill>
              <a:srgbClr val="F3F5F8"/>
            </a:solidFill>
            <a:prstDash val="solid"/>
          </a:ln>
        </p:spPr>
      </p:sp>
      <p:sp>
        <p:nvSpPr>
          <p:cNvPr id="5" name="Shape 3"/>
          <p:cNvSpPr/>
          <p:nvPr/>
        </p:nvSpPr>
        <p:spPr>
          <a:xfrm>
            <a:off x="6217920" y="1554480"/>
            <a:ext cx="5422392" cy="4572000"/>
          </a:xfrm>
          <a:prstGeom prst="roundRect">
            <a:avLst>
              <a:gd name="adj" fmla="val 1600"/>
            </a:avLst>
          </a:prstGeom>
          <a:solidFill>
            <a:srgbClr val="13223A"/>
          </a:solidFill>
          <a:ln w="12700">
            <a:solidFill>
              <a:srgbClr val="13223A"/>
            </a:solidFill>
            <a:prstDash val="solid"/>
          </a:ln>
        </p:spPr>
      </p:sp>
      <p:sp>
        <p:nvSpPr>
          <p:cNvPr id="6" name="Text 4"/>
          <p:cNvSpPr txBox="1"/>
          <p:nvPr/>
        </p:nvSpPr>
        <p:spPr>
          <a:xfrm>
            <a:off x="822960" y="1783080"/>
            <a:ext cx="4846320" cy="411480"/>
          </a:xfrm>
          <a:prstGeom prst="rect">
            <a:avLst/>
          </a:prstGeom>
          <a:noFill/>
          <a:ln/>
        </p:spPr>
        <p:txBody>
          <a:bodyPr wrap="square" lIns="0" tIns="0" rIns="0" bIns="0" rtlCol="0" anchor="t"/>
          <a:lstStyle/>
          <a:p>
            <a:pPr indent="0" marL="0">
              <a:buNone/>
            </a:pPr>
            <a:r>
              <a:rPr lang="en-US" sz="1800" b="1" dirty="0">
                <a:solidFill>
                  <a:srgbClr val="B42318"/>
                </a:solidFill>
                <a:latin typeface="Cambria" pitchFamily="34" charset="0"/>
                <a:ea typeface="Cambria" pitchFamily="34" charset="-122"/>
                <a:cs typeface="Cambria" pitchFamily="34" charset="-120"/>
              </a:rPr>
              <a:t>Current limitations</a:t>
            </a:r>
            <a:endParaRPr lang="en-US" sz="1800" dirty="0"/>
          </a:p>
        </p:txBody>
      </p:sp>
      <p:sp>
        <p:nvSpPr>
          <p:cNvPr id="7" name="Text 5"/>
          <p:cNvSpPr txBox="1"/>
          <p:nvPr/>
        </p:nvSpPr>
        <p:spPr>
          <a:xfrm>
            <a:off x="6492240" y="1783080"/>
            <a:ext cx="4846320" cy="411480"/>
          </a:xfrm>
          <a:prstGeom prst="rect">
            <a:avLst/>
          </a:prstGeom>
          <a:noFill/>
          <a:ln/>
        </p:spPr>
        <p:txBody>
          <a:bodyPr wrap="square" lIns="0" tIns="0" rIns="0" bIns="0" rtlCol="0" anchor="t"/>
          <a:lstStyle/>
          <a:p>
            <a:pPr indent="0" marL="0">
              <a:buNone/>
            </a:pPr>
            <a:r>
              <a:rPr lang="en-US" sz="1800" b="1" dirty="0">
                <a:solidFill>
                  <a:srgbClr val="E3A646"/>
                </a:solidFill>
                <a:latin typeface="Cambria" pitchFamily="34" charset="0"/>
                <a:ea typeface="Cambria" pitchFamily="34" charset="-122"/>
                <a:cs typeface="Cambria" pitchFamily="34" charset="-120"/>
              </a:rPr>
              <a:t>Next milestones</a:t>
            </a:r>
            <a:endParaRPr lang="en-US" sz="1800" dirty="0"/>
          </a:p>
        </p:txBody>
      </p:sp>
      <p:sp>
        <p:nvSpPr>
          <p:cNvPr id="8" name="Text 6"/>
          <p:cNvSpPr txBox="1"/>
          <p:nvPr/>
        </p:nvSpPr>
        <p:spPr>
          <a:xfrm>
            <a:off x="822960" y="2286000"/>
            <a:ext cx="4937760" cy="3657600"/>
          </a:xfrm>
          <a:prstGeom prst="rect">
            <a:avLst/>
          </a:prstGeom>
          <a:noFill/>
          <a:ln/>
        </p:spPr>
        <p:txBody>
          <a:bodyPr wrap="square" lIns="0" tIns="0" rIns="0" bIns="0" rtlCol="0" anchor="t"/>
          <a:lstStyle/>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Evaluation uses 100-minute excerpts of five real traces — too narrow to claim general performance.</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The operator has not yet run on a live Kubernetes cluster (code and tests are complete).</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Coupling penalty, anti-chattering guardrail and bridging flag are inert in the v4 cascade.</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At equal CPU CHIMERA loses on one real trace (w_0002, periodic) by 0.5–1.6 pp.</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v4 makes 57 in-place resizes per run: down from 103 (v3), still above v2's 40.</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The reactive margin was tuned after seeing the synthetic traces (the cascade on a dev split).</a:t>
            </a:r>
            <a:endParaRPr lang="en-US" sz="1450" dirty="0"/>
          </a:p>
        </p:txBody>
      </p:sp>
      <p:sp>
        <p:nvSpPr>
          <p:cNvPr id="9" name="Text 7"/>
          <p:cNvSpPr txBox="1"/>
          <p:nvPr/>
        </p:nvSpPr>
        <p:spPr>
          <a:xfrm>
            <a:off x="6492240" y="2286000"/>
            <a:ext cx="4937760" cy="3657600"/>
          </a:xfrm>
          <a:prstGeom prst="rect">
            <a:avLst/>
          </a:prstGeom>
          <a:noFill/>
          <a:ln/>
        </p:spPr>
        <p:txBody>
          <a:bodyPr wrap="square" lIns="0" tIns="0" rIns="0" bIns="0" rtlCol="0" anchor="t"/>
          <a:lstStyle/>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Convert the full Azure Functions 2019 dataset — 10,000+ workloads.</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Run the quickstart on kind 1.33 and record a live trace.</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Delete the mechanisms the cascade made inert.</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Add a periodic-aware forecaster for traces like w_0002.</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Sweep horizontal delay from 5 s to 80 s.</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Rate-limit the inner loop to cut resize churn further.</a:t>
            </a:r>
            <a:endParaRPr lang="en-US" sz="1450" dirty="0"/>
          </a:p>
        </p:txBody>
      </p:sp>
      <p:sp>
        <p:nvSpPr>
          <p:cNvPr id="10" name="Text 8"/>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1" name="Text 9"/>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19 / 21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References</a:t>
            </a:r>
            <a:endParaRPr lang="en-US" sz="3000" dirty="0"/>
          </a:p>
        </p:txBody>
      </p:sp>
      <p:sp>
        <p:nvSpPr>
          <p:cNvPr id="4" name="Text 2"/>
          <p:cNvSpPr txBox="1"/>
          <p:nvPr/>
        </p:nvSpPr>
        <p:spPr>
          <a:xfrm>
            <a:off x="548640" y="1600200"/>
            <a:ext cx="11064240" cy="448056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M. Shahrad et al., "Serverless in the Wild: Characterizing and Optimizing the Serverless Workload at a Large Cloud Provider," USENIX ATC, 2020. (Azure Functions 2019 trace)</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Y. Romano, E. Patterson, E. Candès, "Conformalized Quantile Regression," NeurIPS, 2019.</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A. Bifet, R. Gavaldà, "Learning from Time-Changing Data with Adaptive Windowing," SIAM SDM, 2007. (ADWIN)</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Kubernetes Enhancement Proposal KEP-1287, "In-Place Update of Pod Resources."</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Kubernetes documentation, "Horizontal Pod Autoscaling" and "Vertical Pod Autoscaler."</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Google Cloud documentation, "Multidimensional Pod Autoscaling" (GKE).</a:t>
            </a:r>
            <a:endParaRPr lang="en-US" sz="1400" dirty="0"/>
          </a:p>
        </p:txBody>
      </p:sp>
      <p:sp>
        <p:nvSpPr>
          <p:cNvPr id="5" name="Text 3"/>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6" name="Text 4"/>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20 / 21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3223A"/>
        </a:solidFill>
      </p:bgPr>
    </p:bg>
    <p:spTree>
      <p:nvGrpSpPr>
        <p:cNvPr id="1" name=""/>
        <p:cNvGrpSpPr/>
        <p:nvPr/>
      </p:nvGrpSpPr>
      <p:grpSpPr>
        <a:xfrm>
          <a:off x="0" y="0"/>
          <a:ext cx="0" cy="0"/>
          <a:chOff x="0" y="0"/>
          <a:chExt cx="0" cy="0"/>
        </a:xfrm>
      </p:grpSpPr>
      <p:sp>
        <p:nvSpPr>
          <p:cNvPr id="2" name="Text 0"/>
          <p:cNvSpPr txBox="1"/>
          <p:nvPr/>
        </p:nvSpPr>
        <p:spPr>
          <a:xfrm>
            <a:off x="731520" y="640080"/>
            <a:ext cx="5486400" cy="274320"/>
          </a:xfrm>
          <a:prstGeom prst="rect">
            <a:avLst/>
          </a:prstGeom>
          <a:noFill/>
          <a:ln/>
        </p:spPr>
        <p:txBody>
          <a:bodyPr wrap="square" lIns="0" tIns="0" rIns="0" bIns="0" rtlCol="0" anchor="t"/>
          <a:lstStyle/>
          <a:p>
            <a:pPr indent="0" marL="0">
              <a:buNone/>
            </a:pPr>
            <a:r>
              <a:rPr lang="en-US" sz="1100" b="1" spc="300" kern="0" dirty="0">
                <a:solidFill>
                  <a:srgbClr val="E3A646"/>
                </a:solidFill>
                <a:latin typeface="Calibri" pitchFamily="34" charset="0"/>
                <a:ea typeface="Calibri" pitchFamily="34" charset="-122"/>
                <a:cs typeface="Calibri" pitchFamily="34" charset="-120"/>
              </a:rPr>
              <a:t>CONCLUSION</a:t>
            </a:r>
            <a:endParaRPr lang="en-US" sz="1100" dirty="0"/>
          </a:p>
        </p:txBody>
      </p:sp>
      <p:sp>
        <p:nvSpPr>
          <p:cNvPr id="3" name="Text 1"/>
          <p:cNvSpPr txBox="1"/>
          <p:nvPr/>
        </p:nvSpPr>
        <p:spPr>
          <a:xfrm>
            <a:off x="731520" y="1005840"/>
            <a:ext cx="960120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A single control law for two actuators with very different delays.</a:t>
            </a:r>
            <a:endParaRPr lang="en-US" sz="3400" dirty="0"/>
          </a:p>
        </p:txBody>
      </p:sp>
      <p:sp>
        <p:nvSpPr>
          <p:cNvPr id="4" name="Text 2"/>
          <p:cNvSpPr txBox="1"/>
          <p:nvPr/>
        </p:nvSpPr>
        <p:spPr>
          <a:xfrm>
            <a:off x="731520" y="2606040"/>
            <a:ext cx="2560320" cy="822960"/>
          </a:xfrm>
          <a:prstGeom prst="rect">
            <a:avLst/>
          </a:prstGeom>
          <a:noFill/>
          <a:ln/>
        </p:spPr>
        <p:txBody>
          <a:bodyPr wrap="square" lIns="0" tIns="0" rIns="0" bIns="0" rtlCol="0" anchor="t"/>
          <a:lstStyle/>
          <a:p>
            <a:pPr indent="0" marL="0">
              <a:buNone/>
            </a:pPr>
            <a:r>
              <a:rPr lang="en-US" sz="4400" b="1" dirty="0">
                <a:solidFill>
                  <a:srgbClr val="E3A646"/>
                </a:solidFill>
                <a:latin typeface="Cambria" pitchFamily="34" charset="0"/>
                <a:ea typeface="Cambria" pitchFamily="34" charset="-122"/>
                <a:cs typeface="Cambria" pitchFamily="34" charset="-120"/>
              </a:rPr>
              <a:t>7.2 %</a:t>
            </a:r>
            <a:endParaRPr lang="en-US" sz="4400" dirty="0"/>
          </a:p>
        </p:txBody>
      </p:sp>
      <p:sp>
        <p:nvSpPr>
          <p:cNvPr id="5" name="Text 3"/>
          <p:cNvSpPr txBox="1"/>
          <p:nvPr/>
        </p:nvSpPr>
        <p:spPr>
          <a:xfrm>
            <a:off x="731520" y="3429000"/>
            <a:ext cx="256032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SLO violations, real traces (next best 8.3 %)</a:t>
            </a:r>
            <a:endParaRPr lang="en-US" sz="1400" dirty="0"/>
          </a:p>
        </p:txBody>
      </p:sp>
      <p:sp>
        <p:nvSpPr>
          <p:cNvPr id="6" name="Text 4"/>
          <p:cNvSpPr txBox="1"/>
          <p:nvPr/>
        </p:nvSpPr>
        <p:spPr>
          <a:xfrm>
            <a:off x="3474720" y="2606040"/>
            <a:ext cx="2560320" cy="822960"/>
          </a:xfrm>
          <a:prstGeom prst="rect">
            <a:avLst/>
          </a:prstGeom>
          <a:noFill/>
          <a:ln/>
        </p:spPr>
        <p:txBody>
          <a:bodyPr wrap="square" lIns="0" tIns="0" rIns="0" bIns="0" rtlCol="0" anchor="t"/>
          <a:lstStyle/>
          <a:p>
            <a:pPr indent="0" marL="0">
              <a:buNone/>
            </a:pPr>
            <a:r>
              <a:rPr lang="en-US" sz="4400" b="1" dirty="0">
                <a:solidFill>
                  <a:srgbClr val="E3A646"/>
                </a:solidFill>
                <a:latin typeface="Cambria" pitchFamily="34" charset="0"/>
                <a:ea typeface="Cambria" pitchFamily="34" charset="-122"/>
                <a:cs typeface="Cambria" pitchFamily="34" charset="-120"/>
              </a:rPr>
              <a:t>6,795</a:t>
            </a:r>
            <a:endParaRPr lang="en-US" sz="4400" dirty="0"/>
          </a:p>
        </p:txBody>
      </p:sp>
      <p:sp>
        <p:nvSpPr>
          <p:cNvPr id="7" name="Text 5"/>
          <p:cNvSpPr txBox="1"/>
          <p:nvPr/>
        </p:nvSpPr>
        <p:spPr>
          <a:xfrm>
            <a:off x="3474720" y="3429000"/>
            <a:ext cx="256032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simulation runs, 10 seeds</a:t>
            </a:r>
            <a:endParaRPr lang="en-US" sz="1400" dirty="0"/>
          </a:p>
        </p:txBody>
      </p:sp>
      <p:sp>
        <p:nvSpPr>
          <p:cNvPr id="8" name="Text 6"/>
          <p:cNvSpPr txBox="1"/>
          <p:nvPr/>
        </p:nvSpPr>
        <p:spPr>
          <a:xfrm>
            <a:off x="6217920" y="2606040"/>
            <a:ext cx="2560320" cy="822960"/>
          </a:xfrm>
          <a:prstGeom prst="rect">
            <a:avLst/>
          </a:prstGeom>
          <a:noFill/>
          <a:ln/>
        </p:spPr>
        <p:txBody>
          <a:bodyPr wrap="square" lIns="0" tIns="0" rIns="0" bIns="0" rtlCol="0" anchor="t"/>
          <a:lstStyle/>
          <a:p>
            <a:pPr indent="0" marL="0">
              <a:buNone/>
            </a:pPr>
            <a:r>
              <a:rPr lang="en-US" sz="4400" b="1" dirty="0">
                <a:solidFill>
                  <a:srgbClr val="E3A646"/>
                </a:solidFill>
                <a:latin typeface="Cambria" pitchFamily="34" charset="0"/>
                <a:ea typeface="Cambria" pitchFamily="34" charset="-122"/>
                <a:cs typeface="Cambria" pitchFamily="34" charset="-120"/>
              </a:rPr>
              <a:t>19×</a:t>
            </a:r>
            <a:endParaRPr lang="en-US" sz="4400" dirty="0"/>
          </a:p>
        </p:txBody>
      </p:sp>
      <p:sp>
        <p:nvSpPr>
          <p:cNvPr id="9" name="Text 7"/>
          <p:cNvSpPr txBox="1"/>
          <p:nvPr/>
        </p:nvSpPr>
        <p:spPr>
          <a:xfrm>
            <a:off x="6217920" y="3429000"/>
            <a:ext cx="256032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better p99 than AAPA</a:t>
            </a:r>
            <a:endParaRPr lang="en-US" sz="1400" dirty="0"/>
          </a:p>
        </p:txBody>
      </p:sp>
      <p:sp>
        <p:nvSpPr>
          <p:cNvPr id="10" name="Text 8"/>
          <p:cNvSpPr txBox="1"/>
          <p:nvPr/>
        </p:nvSpPr>
        <p:spPr>
          <a:xfrm>
            <a:off x="8961120" y="2606040"/>
            <a:ext cx="2560320" cy="822960"/>
          </a:xfrm>
          <a:prstGeom prst="rect">
            <a:avLst/>
          </a:prstGeom>
          <a:noFill/>
          <a:ln/>
        </p:spPr>
        <p:txBody>
          <a:bodyPr wrap="square" lIns="0" tIns="0" rIns="0" bIns="0" rtlCol="0" anchor="t"/>
          <a:lstStyle/>
          <a:p>
            <a:pPr indent="0" marL="0">
              <a:buNone/>
            </a:pPr>
            <a:r>
              <a:rPr lang="en-US" sz="4400" b="1" dirty="0">
                <a:solidFill>
                  <a:srgbClr val="E3A646"/>
                </a:solidFill>
                <a:latin typeface="Cambria" pitchFamily="34" charset="0"/>
                <a:ea typeface="Cambria" pitchFamily="34" charset="-122"/>
                <a:cs typeface="Cambria" pitchFamily="34" charset="-120"/>
              </a:rPr>
              <a:t>39 / 43</a:t>
            </a:r>
            <a:endParaRPr lang="en-US" sz="4400" dirty="0"/>
          </a:p>
        </p:txBody>
      </p:sp>
      <p:sp>
        <p:nvSpPr>
          <p:cNvPr id="11" name="Text 9"/>
          <p:cNvSpPr txBox="1"/>
          <p:nvPr/>
        </p:nvSpPr>
        <p:spPr>
          <a:xfrm>
            <a:off x="8961120" y="3429000"/>
            <a:ext cx="256032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equal-CPU comparisons won, trace by trace</a:t>
            </a:r>
            <a:endParaRPr lang="en-US" sz="1400" dirty="0"/>
          </a:p>
        </p:txBody>
      </p:sp>
      <p:sp>
        <p:nvSpPr>
          <p:cNvPr id="12" name="Shape 10"/>
          <p:cNvSpPr/>
          <p:nvPr/>
        </p:nvSpPr>
        <p:spPr>
          <a:xfrm>
            <a:off x="731520" y="4114800"/>
            <a:ext cx="10725912" cy="0"/>
          </a:xfrm>
          <a:prstGeom prst="line">
            <a:avLst/>
          </a:prstGeom>
          <a:noFill/>
          <a:ln w="12700">
            <a:solidFill>
              <a:srgbClr val="2E4263"/>
            </a:solidFill>
            <a:prstDash val="solid"/>
          </a:ln>
        </p:spPr>
      </p:sp>
      <p:sp>
        <p:nvSpPr>
          <p:cNvPr id="13" name="Text 11"/>
          <p:cNvSpPr txBox="1"/>
          <p:nvPr/>
        </p:nvSpPr>
        <p:spPr>
          <a:xfrm>
            <a:off x="731520" y="4343400"/>
            <a:ext cx="9601200" cy="7315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CHIMERA has the fewest violations of every controller, by far the best tail, and wins 39 of 43 equal-CPU comparisons — all 16 on the synthetic stress traces. Next milestone: a live cluster.</a:t>
            </a:r>
            <a:endParaRPr lang="en-US" sz="1600" dirty="0"/>
          </a:p>
        </p:txBody>
      </p:sp>
      <p:sp>
        <p:nvSpPr>
          <p:cNvPr id="14" name="Text 12"/>
          <p:cNvSpPr txBox="1"/>
          <p:nvPr/>
        </p:nvSpPr>
        <p:spPr>
          <a:xfrm>
            <a:off x="731520" y="5394960"/>
            <a:ext cx="7315200" cy="54864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Thank you  ·  Questions</a:t>
            </a:r>
            <a:endParaRPr lang="en-US" sz="2400" dirty="0"/>
          </a:p>
        </p:txBody>
      </p:sp>
      <p:sp>
        <p:nvSpPr>
          <p:cNvPr id="15" name="Text 13"/>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FA3BF"/>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6" name="Text 14"/>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FA3BF"/>
                </a:solidFill>
                <a:latin typeface="Calibri" pitchFamily="34" charset="0"/>
                <a:ea typeface="Calibri" pitchFamily="34" charset="-122"/>
                <a:cs typeface="Calibri" pitchFamily="34" charset="-120"/>
              </a:rPr>
              <a:t>21 / 21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CHIMERA — Review 2</dc:title>
  <dc:subject>PptxGenJS Presentation</dc:subject>
  <dc:creator>Adithyan C S S, Vishal B S, Madhan A</dc:creator>
  <cp:lastModifiedBy>Adithyan C S S, Vishal B S, Madhan A</cp:lastModifiedBy>
  <cp:revision>1</cp:revision>
  <dcterms:created xsi:type="dcterms:W3CDTF">2026-09-28T10:34:39Z</dcterms:created>
  <dcterms:modified xsi:type="dcterms:W3CDTF">2026-09-28T10:34:39Z</dcterms:modified>
</cp:coreProperties>
</file>